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fc876c04934524" /><Relationship Type="http://schemas.openxmlformats.org/officeDocument/2006/relationships/extended-properties" Target="/docProps/app.xml" Id="R6c15db2f5fcf4b3f" /><Relationship Type="http://schemas.openxmlformats.org/officeDocument/2006/relationships/officeDocument" Target="/ppt/presentation.xml" Id="Rd556de65f55a48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ca2458ce794941"/>
  </p:sldMasterIdLst>
  <p:notesMasterIdLst>
    <p:notesMasterId xmlns:r="http://schemas.openxmlformats.org/officeDocument/2006/relationships" r:id="Rd772345d9f2446c1"/>
  </p:notesMasterIdLst>
  <p:sldIdLst>
    <p:sldId xmlns:r="http://schemas.openxmlformats.org/officeDocument/2006/relationships" id="256" r:id="R6463ea99a05c4e4c"/>
    <p:sldId xmlns:r="http://schemas.openxmlformats.org/officeDocument/2006/relationships" id="257" r:id="R0964bc063c904b43"/>
    <p:sldId xmlns:r="http://schemas.openxmlformats.org/officeDocument/2006/relationships" id="258" r:id="Ref1f2d2bb9bc4725"/>
    <p:sldId xmlns:r="http://schemas.openxmlformats.org/officeDocument/2006/relationships" id="259" r:id="R03d1c9713f8a48ff"/>
    <p:sldId xmlns:r="http://schemas.openxmlformats.org/officeDocument/2006/relationships" id="260" r:id="R82466c59ed0d47ca"/>
    <p:sldId xmlns:r="http://schemas.openxmlformats.org/officeDocument/2006/relationships" id="261" r:id="Rb9306da1a28043ad"/>
    <p:sldId xmlns:r="http://schemas.openxmlformats.org/officeDocument/2006/relationships" id="262" r:id="Rf08433a980c3456c"/>
    <p:sldId xmlns:r="http://schemas.openxmlformats.org/officeDocument/2006/relationships" id="263" r:id="Rba28c1e09ad44056"/>
    <p:sldId xmlns:r="http://schemas.openxmlformats.org/officeDocument/2006/relationships" id="264" r:id="R19e850bedfe440cd"/>
    <p:sldId xmlns:r="http://schemas.openxmlformats.org/officeDocument/2006/relationships" id="265" r:id="R2540675fffbe4a79"/>
    <p:sldId xmlns:r="http://schemas.openxmlformats.org/officeDocument/2006/relationships" id="266" r:id="R43ab2b4fea9e4073"/>
    <p:sldId xmlns:r="http://schemas.openxmlformats.org/officeDocument/2006/relationships" id="267" r:id="R06cdcaf8f1504320"/>
    <p:sldId xmlns:r="http://schemas.openxmlformats.org/officeDocument/2006/relationships" id="268" r:id="Rdc6ab13349e44b14"/>
    <p:sldId xmlns:r="http://schemas.openxmlformats.org/officeDocument/2006/relationships" id="269" r:id="R61cef4086e1a4c43"/>
    <p:sldId xmlns:r="http://schemas.openxmlformats.org/officeDocument/2006/relationships" id="270" r:id="R244e9631a10146f7"/>
    <p:sldId xmlns:r="http://schemas.openxmlformats.org/officeDocument/2006/relationships" id="271" r:id="Racc6f83b4f6c410b"/>
    <p:sldId xmlns:r="http://schemas.openxmlformats.org/officeDocument/2006/relationships" id="272" r:id="R229eb3109ba34c01"/>
    <p:sldId xmlns:r="http://schemas.openxmlformats.org/officeDocument/2006/relationships" id="273" r:id="R24b2d98e6c8741a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b9e782cab24e8a" /><Relationship Type="http://schemas.openxmlformats.org/officeDocument/2006/relationships/slideMaster" Target="/ppt/slideMasters/slideMaster1.xml" Id="R56ca2458ce794941" /><Relationship Type="http://schemas.openxmlformats.org/officeDocument/2006/relationships/notesMaster" Target="/ppt/notesMasters/notesMaster1.xml" Id="Rd772345d9f2446c1" /><Relationship Type="http://schemas.openxmlformats.org/officeDocument/2006/relationships/presProps" Target="/ppt/presProps.xml" Id="R8cdc2cc2ffc9407f" /><Relationship Type="http://schemas.openxmlformats.org/officeDocument/2006/relationships/tableStyles" Target="/ppt/tableStyles.xml" Id="Re3e18e9a6ac04a0f" /><Relationship Type="http://schemas.openxmlformats.org/officeDocument/2006/relationships/slide" Target="/ppt/slides/slide1.xml" Id="R6463ea99a05c4e4c" /><Relationship Type="http://schemas.openxmlformats.org/officeDocument/2006/relationships/slide" Target="/ppt/slides/slide2.xml" Id="R0964bc063c904b43" /><Relationship Type="http://schemas.openxmlformats.org/officeDocument/2006/relationships/slide" Target="/ppt/slides/slide3.xml" Id="Ref1f2d2bb9bc4725" /><Relationship Type="http://schemas.openxmlformats.org/officeDocument/2006/relationships/slide" Target="/ppt/slides/slide4.xml" Id="R03d1c9713f8a48ff" /><Relationship Type="http://schemas.openxmlformats.org/officeDocument/2006/relationships/slide" Target="/ppt/slides/slide5.xml" Id="R82466c59ed0d47ca" /><Relationship Type="http://schemas.openxmlformats.org/officeDocument/2006/relationships/slide" Target="/ppt/slides/slide6.xml" Id="Rb9306da1a28043ad" /><Relationship Type="http://schemas.openxmlformats.org/officeDocument/2006/relationships/slide" Target="/ppt/slides/slide7.xml" Id="Rf08433a980c3456c" /><Relationship Type="http://schemas.openxmlformats.org/officeDocument/2006/relationships/slide" Target="/ppt/slides/slide8.xml" Id="Rba28c1e09ad44056" /><Relationship Type="http://schemas.openxmlformats.org/officeDocument/2006/relationships/slide" Target="/ppt/slides/slide9.xml" Id="R19e850bedfe440cd" /><Relationship Type="http://schemas.openxmlformats.org/officeDocument/2006/relationships/slide" Target="/ppt/slides/slide10.xml" Id="R2540675fffbe4a79" /><Relationship Type="http://schemas.openxmlformats.org/officeDocument/2006/relationships/slide" Target="/ppt/slides/slide11.xml" Id="R43ab2b4fea9e4073" /><Relationship Type="http://schemas.openxmlformats.org/officeDocument/2006/relationships/slide" Target="/ppt/slides/slide12.xml" Id="R06cdcaf8f1504320" /><Relationship Type="http://schemas.openxmlformats.org/officeDocument/2006/relationships/slide" Target="/ppt/slides/slide13.xml" Id="Rdc6ab13349e44b14" /><Relationship Type="http://schemas.openxmlformats.org/officeDocument/2006/relationships/slide" Target="/ppt/slides/slide14.xml" Id="R61cef4086e1a4c43" /><Relationship Type="http://schemas.openxmlformats.org/officeDocument/2006/relationships/slide" Target="/ppt/slides/slide15.xml" Id="R244e9631a10146f7" /><Relationship Type="http://schemas.openxmlformats.org/officeDocument/2006/relationships/slide" Target="/ppt/slides/slide16.xml" Id="Racc6f83b4f6c410b" /><Relationship Type="http://schemas.openxmlformats.org/officeDocument/2006/relationships/slide" Target="/ppt/slides/slide17.xml" Id="R229eb3109ba34c01" /><Relationship Type="http://schemas.openxmlformats.org/officeDocument/2006/relationships/slide" Target="/ppt/slides/slide18.xml" Id="R24b2d98e6c8741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e2fdbbd73245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307c47e8714e44" /><Relationship Type="http://schemas.openxmlformats.org/officeDocument/2006/relationships/notesMaster" Target="/ppt/notesMasters/notesMaster1.xml" Id="R8362f2b506db4e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73ca94944046fe" /><Relationship Type="http://schemas.openxmlformats.org/officeDocument/2006/relationships/notesMaster" Target="/ppt/notesMasters/notesMaster1.xml" Id="R786b41052f0545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d0062a835d4fe3" /><Relationship Type="http://schemas.openxmlformats.org/officeDocument/2006/relationships/notesMaster" Target="/ppt/notesMasters/notesMaster1.xml" Id="Rf91510d9c2224c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7412f53eac47c2" /><Relationship Type="http://schemas.openxmlformats.org/officeDocument/2006/relationships/notesMaster" Target="/ppt/notesMasters/notesMaster1.xml" Id="Rfb0a6fb93d774b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d799370f9b43d8" /><Relationship Type="http://schemas.openxmlformats.org/officeDocument/2006/relationships/notesMaster" Target="/ppt/notesMasters/notesMaster1.xml" Id="R8f950fe731004a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a0fd2022894eba" /><Relationship Type="http://schemas.openxmlformats.org/officeDocument/2006/relationships/notesMaster" Target="/ppt/notesMasters/notesMaster1.xml" Id="R37803198efa34e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9679a71e384511" /><Relationship Type="http://schemas.openxmlformats.org/officeDocument/2006/relationships/notesMaster" Target="/ppt/notesMasters/notesMaster1.xml" Id="R4344b5b7163a40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a6be58adc4423a" /><Relationship Type="http://schemas.openxmlformats.org/officeDocument/2006/relationships/notesMaster" Target="/ppt/notesMasters/notesMaster1.xml" Id="R6ab1353e262d44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647330520841b6" /><Relationship Type="http://schemas.openxmlformats.org/officeDocument/2006/relationships/notesMaster" Target="/ppt/notesMasters/notesMaster1.xml" Id="Rda02ddf683924a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548b16b554441c" /><Relationship Type="http://schemas.openxmlformats.org/officeDocument/2006/relationships/notesMaster" Target="/ppt/notesMasters/notesMaster1.xml" Id="Rec39eddc7ce24e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d39a7e7c9a4df2" /><Relationship Type="http://schemas.openxmlformats.org/officeDocument/2006/relationships/notesMaster" Target="/ppt/notesMasters/notesMaster1.xml" Id="R4dd35e2eb08c44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dc9afbe8c84b4d" /><Relationship Type="http://schemas.openxmlformats.org/officeDocument/2006/relationships/notesMaster" Target="/ppt/notesMasters/notesMaster1.xml" Id="R38e7135b67ab4b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6c79ed89c04ab3" /><Relationship Type="http://schemas.openxmlformats.org/officeDocument/2006/relationships/notesMaster" Target="/ppt/notesMasters/notesMaster1.xml" Id="R8b4461eac77341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6608b125c614240" /><Relationship Type="http://schemas.openxmlformats.org/officeDocument/2006/relationships/notesMaster" Target="/ppt/notesMasters/notesMaster1.xml" Id="Rfb2d55b6dd424c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cf423a86844a44" /><Relationship Type="http://schemas.openxmlformats.org/officeDocument/2006/relationships/notesMaster" Target="/ppt/notesMasters/notesMaster1.xml" Id="R5f67fefecd494c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924c7f02f84a46" /><Relationship Type="http://schemas.openxmlformats.org/officeDocument/2006/relationships/notesMaster" Target="/ppt/notesMasters/notesMaster1.xml" Id="R1a24e95276b94c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54cdf8413354510" /><Relationship Type="http://schemas.openxmlformats.org/officeDocument/2006/relationships/notesMaster" Target="/ppt/notesMasters/notesMaster1.xml" Id="R7e0fb504d1fa4a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1271d57d4649aa" /><Relationship Type="http://schemas.openxmlformats.org/officeDocument/2006/relationships/notesMaster" Target="/ppt/notesMasters/notesMaster1.xml" Id="Rcb829a0d255143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energy. Tell participants: keep laptops closed for 90 seconds. Then immediately run the finished voice-agent demo.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script: ask for a room; interrupt halfway through the agent’s clarification; let the fake booking tool complete. Point out the three beats: ask, interrupt, tool completes.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expectations: this is guided hands-on, with optional stretch work. Point out that each checkpoint is runnable.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repository link through the event page or attendee chat. Ask helpers to resolve keys, microphones, and browser permissions. Target: 4–6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Prerequisites in the repo README: modern Chromium browser, headphones, working mic, prepared Python environment, workshop credential path, and checkpoint folders.</a:t>
            </a:r>
          </a:p>
          <a:p xmlns:a="http://schemas.openxmlformats.org/drawingml/2006/main">
            <a:r>
              <a:t>
[Sources]
- https://github.com/aswincsekar/adk-voice-workshop (repository link and QR target; accessed 2026-08-21)
- https://api.qrserver.com/v1/create-qr-code/ (QR raster generator; accessed 2026-08-21)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pacing. For a 45-minute slot, compress setup, narrate the architecture diagram, and make the mini challenge one modification rather than a full build.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Live-code only the Agent constructor. Participants copy the starter or uncomment the prepared block, run it, and ask one text question. Target: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3-minute timer. After 2 minutes, ask one person to read their instruction aloud. If participants are behind, direct them to checkpoint 01. Target: 4 minutes including debrief.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once with a vague docstring, then improve it. Ask participants to change one returned room or argument, run checkpoint 02, and verify the tool call in the trace. Target: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Participants run the prepared voice checkpoint and speak to their agent. Keep headphones on to avoid feedback. If a mic fails, pair participants—do not debug on the main stage.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https://github.com/google/adk-docs/blob/main/docs/live/get-started/streaming-python.md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4 minutes. Ask participants to capture one awkward moment, not solve it yet. Use responses to transition into VAD and barge-in. Target: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Replay the interruption demo slowly. Point at the moment the user starts speaking. Explain VAD as activity detection and barge-in as the combined product behavior: detect, stop output, preserve the correction.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Stress that WebSocket is the app transport, LiveRequestQueue is the ordered per-session input channel, and run_live() produces downstream Events. Upstream and downstream run concurrently.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event log next to the live UI. Point out partial versus final transcripts and explain why the client should update rather than append every fragment.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checkpoint 04. The agent acknowledges the check before calling the tool. The tool waits five seconds, then either returns normal room data or a structured error for 13:00 / ROOM_TOOL_FAIL=1. The agent apologizes and offers another time without retrying automatically. Target: 4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actual checkpoint behavior: acknowledge before the call, wait five seconds, inspect the structured result, then apologize and offer another time. Emphasize that retryable is data for a future policy; this demo does not retry automatically.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practical: identify one metric and one guardrail for the room-booking agent. Mention that each streaming session needs isolated queue/config/state and that large media should not be treated like ordinary event payloads.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https://developers.googleblog.com/beyond-request-response-architecting-real-time-bidirectional-streaming-multi-agent-system/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6-minute timer. Invite two fast demos: 30 seconds each. If the slot is 45 minutes, reduce to 3 minutes and ask participants to choose option A only. Target: 7–8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demo: participants can now name what was happening under the hood. End with one concrete action—replace the fake tool with a safe, observable workflow. Leave the repo and QR on screen after the deck if possible.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76f6af4b14a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e1fea0856c4d1f" /><Relationship Type="http://schemas.openxmlformats.org/officeDocument/2006/relationships/slideLayout" Target="/ppt/slideLayouts/slideLayout1.xml" Id="Re9a47de645ab42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a47de645ab42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d9cd058774dc2" /><Relationship Type="http://schemas.openxmlformats.org/officeDocument/2006/relationships/notesSlide" Target="/ppt/notesSlides/notesSlide1.xml" Id="Rec2de85f3a0448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2ed96600f4fbe" /><Relationship Type="http://schemas.openxmlformats.org/officeDocument/2006/relationships/notesSlide" Target="/ppt/notesSlides/notesSlide2.xml" Id="R7fa41e75e6af4b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d9b1b4c744bcf" /><Relationship Type="http://schemas.openxmlformats.org/officeDocument/2006/relationships/notesSlide" Target="/ppt/notesSlides/notesSlide3.xml" Id="R42934d57c5414d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021fc92874efa" /><Relationship Type="http://schemas.openxmlformats.org/officeDocument/2006/relationships/image" Target="/ppt/media/image.png" Id="Ra3fde7d295294840" /><Relationship Type="http://schemas.openxmlformats.org/officeDocument/2006/relationships/hyperlink" Target="https://github.com/aswincsekar/adk-voice-workshop" TargetMode="External" Id="R2bc4222718734fab" /><Relationship Type="http://schemas.openxmlformats.org/officeDocument/2006/relationships/notesSlide" Target="/ppt/notesSlides/notesSlide4.xml" Id="Rbf2227e6f9844e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2591d82b04ae1" /><Relationship Type="http://schemas.openxmlformats.org/officeDocument/2006/relationships/notesSlide" Target="/ppt/notesSlides/notesSlide5.xml" Id="Re8eda90ee87848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c1c3c155c4f97" /><Relationship Type="http://schemas.openxmlformats.org/officeDocument/2006/relationships/notesSlide" Target="/ppt/notesSlides/notesSlide6.xml" Id="Ra58ca74d38d44f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848e1f1004e43" /><Relationship Type="http://schemas.openxmlformats.org/officeDocument/2006/relationships/notesSlide" Target="/ppt/notesSlides/notesSlide7.xml" Id="Rd0e7ff89d07b40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355f612374522" /><Relationship Type="http://schemas.openxmlformats.org/officeDocument/2006/relationships/notesSlide" Target="/ppt/notesSlides/notesSlide8.xml" Id="R476fb52e422a4c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5be628a2441ad" /><Relationship Type="http://schemas.openxmlformats.org/officeDocument/2006/relationships/notesSlide" Target="/ppt/notesSlides/notesSlide9.xml" Id="R57e651be68314e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fcf3dc5ad4465" /><Relationship Type="http://schemas.openxmlformats.org/officeDocument/2006/relationships/notesSlide" Target="/ppt/notesSlides/notesSlide10.xml" Id="R7d825685c65647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818ce0f0f423b" /><Relationship Type="http://schemas.openxmlformats.org/officeDocument/2006/relationships/notesSlide" Target="/ppt/notesSlides/notesSlide11.xml" Id="Rc755d945ca0b49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c19ae7f314fa8" /><Relationship Type="http://schemas.openxmlformats.org/officeDocument/2006/relationships/notesSlide" Target="/ppt/notesSlides/notesSlide12.xml" Id="R4b3a4c59e70541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ccb37d6234ce9" /><Relationship Type="http://schemas.openxmlformats.org/officeDocument/2006/relationships/notesSlide" Target="/ppt/notesSlides/notesSlide13.xml" Id="Rb45ca48b11d944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11aa5092444f3" /><Relationship Type="http://schemas.openxmlformats.org/officeDocument/2006/relationships/notesSlide" Target="/ppt/notesSlides/notesSlide14.xml" Id="R395ab4b994ab4ed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db2640c084db5" /><Relationship Type="http://schemas.openxmlformats.org/officeDocument/2006/relationships/notesSlide" Target="/ppt/notesSlides/notesSlide15.xml" Id="Rc31b0b52e4504c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fdf2453894e0f" /><Relationship Type="http://schemas.openxmlformats.org/officeDocument/2006/relationships/notesSlide" Target="/ppt/notesSlides/notesSlide16.xml" Id="Rda985e32148243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5e945a45a4530" /><Relationship Type="http://schemas.openxmlformats.org/officeDocument/2006/relationships/notesSlide" Target="/ppt/notesSlides/notesSlide17.xml" Id="R0afaa96aec7a479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bce04ce94451d" /><Relationship Type="http://schemas.openxmlformats.org/officeDocument/2006/relationships/notesSlide" Target="/ppt/notesSlides/notesSlide18.xml" Id="R7ca58cc1bf4447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DDCA53-BE89-4F97-9DE0-61364DE0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220A8-D5D1-4611-AC01-D3FCC9D2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Guided hands-on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AD088-A00E-40BF-A08B-BFEFC2DE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7810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Building Voice Agents</a:t>
            </a:r>
          </a:p>
          <a:p xmlns:a="http://schemas.openxmlformats.org/drawingml/2006/main">
            <a:pPr algn="l">
              <a:buNone/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with Google ADK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9BB43-A731-462D-8BAE-A49A634B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48B985"/>
                </a:solidFill>
              </a:defRPr>
            </a:pPr>
            <a:r>
              <a:rPr sz="1950" b="1" i="0">
                <a:solidFill>
                  <a:srgbClr val="48B985"/>
                </a:solidFill>
              </a:rPr>
              <a:t>From 10 lines of Python to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61B14-2BE7-47FA-B15D-5DAD4BD9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Saturday session  •  45–60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26F33-0A2A-4032-9C08-BD6C0CEB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781050"/>
            <a:ext cx="2857500" cy="4762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95AC9-DE47-400E-9D27-6E0DFAF2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907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AAC9B-7B13-442E-8510-6B6E0F94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F7C15-F1A8-4B82-865D-702B04A8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EFF98F-7DB8-456D-BE1A-A5533D7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41BE7-522B-44B8-AE59-E4FE1944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02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3418B-01E9-44F4-97ED-1DE47FA0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9335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592E05-05B0-498A-B7DD-09EDF3E2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573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E5E00-20A8-435D-BEAC-E20964EA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4668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0E8EB-E963-472F-A8D8-2B323813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6859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A63F0-00AD-45DF-BB75-374496D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8478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9AFC2-F48F-4147-AD7D-877DFFE5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812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664E9-9CAE-4D7D-86C0-5441C51A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7811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11234A-45C8-45B9-A004-0C887ED2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5621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A243E7-F754-4EDF-97D6-24B0BE49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8AC2CE-5FBD-44FC-A99A-02B4D777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9240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36E15-C01F-4E1E-B8FD-FFDACA52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0002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9179A-B039-4513-ADDD-B7CF8B45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4C4A7-1241-451D-8EF3-6273A148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19475"/>
            <a:ext cx="1181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7FBF8"/>
                </a:solidFill>
              </a:defRPr>
            </a:pPr>
            <a:r>
              <a:rPr sz="1800" b="1" i="0">
                <a:solidFill>
                  <a:srgbClr val="F7FBF8"/>
                </a:solidFill>
              </a:rPr>
              <a:t>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9A03DA-65BC-442D-8806-BD8120B1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0"/>
            <a:ext cx="230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speak  •  interrupt  •  call tools</a:t>
            </a:r>
          </a:p>
        </p:txBody>
      </p:sp>
    </p:spTree>
    <p:extLst>
      <p:ext uri="{BB962C8B-B14F-4D97-AF65-F5344CB8AC3E}">
        <p14:creationId xmlns:p14="http://schemas.microsoft.com/office/powerpoint/2010/main" val="2058062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7192D3-DA7C-42AA-BC92-7DCE1DB2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E5907-4276-4720-B745-6759C049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Start with a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EECCA-208D-4244-A970-7A7A7209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Watch three things happen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46F74-9794-443C-B128-0CD35FD1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Ask. Interrupt. See the tool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6C29B-96D4-439B-98CC-FDD2DEDF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83487-0543-4CDA-B903-D5A9AB6B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E2977B-9FFC-4DAC-ABEA-E2B49F6A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E3C37-D78D-466C-BE0B-070D671D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63C2C"/>
                </a:solidFill>
              </a:defRPr>
            </a:pPr>
            <a:r>
              <a:rPr sz="2550" b="1" i="0">
                <a:solidFill>
                  <a:srgbClr val="163C2C"/>
                </a:solidFill>
              </a:rPr>
              <a:t>1  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FC697-FFA0-4D8B-872B-94A808BC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61786E"/>
                </a:solidFill>
              </a:defRPr>
            </a:pPr>
            <a:r>
              <a:rPr sz="1575" b="0" i="0">
                <a:solidFill>
                  <a:srgbClr val="61786E"/>
                </a:solidFill>
              </a:rPr>
              <a:t>2  INTERRUPT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1DC04-9369-4660-808E-9EA9FCD0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48B985"/>
                </a:solidFill>
              </a:defRPr>
            </a:pPr>
            <a:r>
              <a:rPr sz="2550" b="1" i="0">
                <a:solidFill>
                  <a:srgbClr val="48B985"/>
                </a:solidFill>
              </a:rPr>
              <a:t>3  TOOL COMPLETES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9A2BD-5331-4AF7-8FB0-D5D000F7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800350" cy="24193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B539D-69CD-43CE-A322-CE8ECCE0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765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17673-C810-45CB-B996-BA361906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81325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55AE5-E62C-44EF-A608-643F1F63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4D294-FD23-474B-9829-1FEE63FB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600325"/>
            <a:ext cx="381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7B87A0-25EA-47A8-AC69-14084369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575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072184-8965-4022-96B5-AD679C8A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CEAFFD-164F-4517-ABBA-A8A771FB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381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24F81C-599D-4D12-AC2A-BFE6B9BE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95550"/>
            <a:ext cx="381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B77467-3480-4675-90F8-B1680466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1462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53965D-9B9C-476F-A121-F3D44BA0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9432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134B6-4899-4729-B439-D8D4E0C3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670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FB38EE-FAB7-4893-9C97-B307F8CE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895600"/>
            <a:ext cx="381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BD24D-A117-44FB-8A8B-02B6626D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81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3C0DE1-C75A-46A0-8A0A-7511DAFF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8289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9C5DBD-FCC9-4616-80FB-B3227DC1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C9CC5-C9E9-4DAE-B00C-97C13504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38600"/>
            <a:ext cx="2190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4571C0-8B34-4894-A16F-85FEFAE5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10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interrupt here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901380-79CF-452E-9514-FE7B3920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The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0B8C47-8B0D-4CA1-A24E-522BC175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63C2C"/>
                </a:solidFill>
              </a:defRPr>
            </a:pPr>
            <a:r>
              <a:rPr sz="1575" b="0" i="0">
                <a:solidFill>
                  <a:srgbClr val="163C2C"/>
                </a:solidFill>
              </a:rPr>
              <a:t>The agent stops speaking and keeps your correction.</a:t>
            </a:r>
          </a:p>
        </p:txBody>
      </p:sp>
    </p:spTree>
    <p:extLst>
      <p:ext uri="{BB962C8B-B14F-4D97-AF65-F5344CB8AC3E}">
        <p14:creationId xmlns:p14="http://schemas.microsoft.com/office/powerpoint/2010/main" val="6160496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55EABE-C564-4A67-A170-35655DE6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6CB4C-D00F-4B1E-A921-FC91A91A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What you’ll 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DF47C-DFAD-4550-9B84-C18DFE4F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By the end, your agent will talk 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AA606-104C-4719-BF07-3DB5D091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We will build in checkpoints, so nobody gets stranded.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E9E68-4696-4A6F-AEFD-7E72AC21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9E348-15FC-41F1-B849-F9FB1FC0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EE8CE-821A-4E7B-9674-99C4278C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71C13-62F9-468D-841D-AD33A3A3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0325"/>
            <a:ext cx="885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15DF3-BE29-4FE2-9212-C6B43C7E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9525">
            <a:solidFill>
              <a:srgbClr val="159A6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453D8-F219-4732-B7B5-AD81F8BC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490BD-D123-4292-AFCC-3E0D13AF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C932F-9023-44F2-B53C-6427C507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9525">
            <a:solidFill>
              <a:srgbClr val="48B9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C4BAA6-4F12-45BA-ADC7-7E5061FB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BE5E6C-5BDF-4A72-A8F4-4C9DB241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90775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1378E-8554-4DFF-9F38-C4554E31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9525">
            <a:solidFill>
              <a:srgbClr val="6FAF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21A319-DD53-4172-8325-A387F4DB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2B1C8E-8CD1-4385-8FBD-1E7817B4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90775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9E88CE-B45B-4CE9-AFB3-2A02F46F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9525">
            <a:solidFill>
              <a:srgbClr val="7FA8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0DB0E-068D-4C20-AEE4-4FDD5587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D27CD-B2EA-45B3-9A10-2F02EDF5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90775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E8AD32-9155-4069-B324-730310B0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Basic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72F585-326F-42CF-9D85-B999B897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2CC8A8-5B93-4B54-AF42-9D5DCF68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Live audio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EB682-2519-4FB5-8B77-5519EBF9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Latency +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CE31F8-FF5A-4387-9130-C446DD72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62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You type only the pieces that teach the idea. Checkpoints carry the rest.</a:t>
            </a:r>
          </a:p>
        </p:txBody>
      </p:sp>
    </p:spTree>
    <p:extLst>
      <p:ext uri="{BB962C8B-B14F-4D97-AF65-F5344CB8AC3E}">
        <p14:creationId xmlns:p14="http://schemas.microsoft.com/office/powerpoint/2010/main" val="1317279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44A03-E8E5-4057-8756-8949742F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B429B-D04B-4903-BFF7-D4640A1E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Set up your workspace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FE062-A467-47D1-88CC-CB3BBF70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Get to a green check before we start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FEC78-AF70-4091-9D2C-C09F8492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Scan the repo, open the starter, and run the preflight.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F7181-353B-4CC3-8FB6-040166DA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6A7AD-6927-4D66-8C9B-2FF94949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91B42-2BDF-4808-8B06-E2AEB086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8004E-7BCF-4F13-BCFF-0CE7F8EA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28900" cy="30480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258DC-4BFB-420E-B86C-F7188499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79670-4B9D-4CF9-A96F-455966B1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622EC-85C2-4F30-A2CA-1BEEA80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FC8A8-BA67-4FC8-BA99-15CEA175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F5998-4B70-4C7F-825A-793A76BB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526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sync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run python scripts/preflight.py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# Expected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✓ READY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54FA81-5D5A-4892-BA75-7ED60020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823F33-1905-4B44-9161-DD7033C1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Open the workshop repository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59E4E-5728-4C01-8292-59FA1EB7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86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27A96-3662-478E-AC1F-BAB6BA7D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242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Add your AI Studio API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DB6A2-133A-46FC-BC5A-DAB85D3C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5FF09-6139-46EE-AD0D-E666561F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43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Run the preflight → see ✓ 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A22BA3-7960-4F51-8E0C-D3BE1B7A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62500"/>
            <a:ext cx="6629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D6463F-5AB9-4897-8168-6CDBBB0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611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Stuck? Jump to the next checkpoint folder and keep moving.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de7d295294840"/>
          <a:stretch xmlns:a="http://schemas.openxmlformats.org/drawingml/2006/main"/>
        </p:blipFill>
        <p:spPr>
          <a:xfrm xmlns:a="http://schemas.openxmlformats.org/drawingml/2006/main">
            <a:off x="9067800" y="2209800"/>
            <a:ext cx="1600200" cy="1600200"/>
          </a:xfrm>
          <a:prstGeom xmlns:a="http://schemas.openxmlformats.org/drawingml/2006/main" prst="rect">
            <a:avLst/>
          </a:prstGeom>
        </p:spPr>
      </p:pic>
      <p:sp>
        <p:nvSpPr>
          <p:cNvPr id="24" name="workshop-repository-link">
            <a:extLst xmlns:a="http://schemas.openxmlformats.org/drawingml/2006/main">
              <a:ext uri="{FF2B5EF4-FFF2-40B4-BE49-F238E27FC236}">
                <a16:creationId xmlns:a16="http://schemas.microsoft.com/office/drawing/2014/main" id="{9287FA24-3A39-4CD5-8357-28D46DE8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895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9A64"/>
                </a:solidFill>
              </a:defRPr>
            </a:pPr>
            <a:r>
              <a:rPr sz="900" b="1">
                <a:solidFill>
                  <a:srgbClr val="159A64"/>
                </a:solidFill>
              </a:rPr>
              <a:t>SCAN TO OPEN</a:t>
            </a:r>
          </a:p>
          <a:p xmlns:a="http://schemas.openxmlformats.org/drawingml/2006/main">
            <a:pPr algn="ctr">
              <a:defRPr sz="900" b="1">
                <a:solidFill>
                  <a:srgbClr val="159A64"/>
                </a:solidFill>
              </a:defRPr>
            </a:pPr>
            <a:r>
              <a:rPr sz="900" b="1">
                <a:solidFill>
                  <a:srgbClr val="159A64"/>
                </a:solidFill>
                <a:hlinkClick xmlns:r="http://schemas.openxmlformats.org/officeDocument/2006/relationships" r:id="R2bc4222718734fab"/>
              </a:rPr>
              <a:t>github.com/aswincsekar/adk-voice-workshop</a:t>
            </a:r>
          </a:p>
        </p:txBody>
      </p:sp>
    </p:spTree>
    <p:extLst>
      <p:ext uri="{BB962C8B-B14F-4D97-AF65-F5344CB8AC3E}">
        <p14:creationId xmlns:p14="http://schemas.microsoft.com/office/powerpoint/2010/main" val="551141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CA7D11-7EA1-4C5E-926F-CF99153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5BCCA-8C10-4B0F-977C-1F6BC439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How the workshop 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A6DF-5596-49E7-ACA4-22583246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Build first. Explain the machinery second.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63941-A01C-4D80-BB09-0B8DC687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workshop alternates short demos with immediate practice.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6B14C-5069-4162-B65C-67B46607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150F7-17F1-4384-98DE-D764C2CE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C3002-C1B1-4024-9CCE-0C4F52BF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0D1B5-FFFA-4CE9-B1E9-10E17553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9382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DC6A2-ECE5-46A0-B409-79FE33A4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E49EA-D78C-461E-8430-9A8AF199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CE5B1-3743-4D7E-B5DC-BB1F64A1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HOOK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ED2EB-6111-4A66-9DF5-84D2572B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0–5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43456-C8A2-4BAB-BCD4-637E6E3A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E63CD-5FAE-4D46-B764-A99A4307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3B634-E144-4A9C-8E6F-C85D9E79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55F5F-AE9B-4D3E-85F8-4386D7DA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5–15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A10B5C-21DE-46D0-8243-65790AE3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C7D61-48F6-4CFB-A2B3-137B40F7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3B691-1DFA-44D5-8ED7-67153C1A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E38318-9423-47D6-B13E-CE8D8503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15–24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04FF32-18F9-4C0C-A092-719619C6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1373D5-680B-4C51-8177-0075EAF0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8AEE22-6180-4782-AA92-69BF9DEB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C76D21-830B-46BD-BF1D-353C43D6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24–35 min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F9D97E-13A7-4436-B70D-2250CF7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A307DC-8764-41CC-9378-8ED55285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1A9DA3-D594-4CBF-9731-383046D2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BREAK 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B5ABB6-13CD-4AC0-AF5D-AA8F9D7C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35–46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BF1BAD-818F-49BB-A5BC-FD2D1517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B48C8-1271-47CF-90EB-517EE920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8C612C-770C-467D-8AAA-BACBBB03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SHIP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AFF7B9-1EDC-4BE9-B602-6FEE33A9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46–58 min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71BA3-47E2-49A9-BB07-AC1B476A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149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48B985"/>
                </a:solidFill>
              </a:defRPr>
            </a:pPr>
            <a:r>
              <a:rPr sz="1800" b="1" i="0">
                <a:solidFill>
                  <a:srgbClr val="48B985"/>
                </a:solidFill>
              </a:rPr>
              <a:t>If time is tight: skip the custom WebSocket code walkthrough, not the hands-on voice test.</a:t>
            </a:r>
          </a:p>
        </p:txBody>
      </p:sp>
    </p:spTree>
    <p:extLst>
      <p:ext uri="{BB962C8B-B14F-4D97-AF65-F5344CB8AC3E}">
        <p14:creationId xmlns:p14="http://schemas.microsoft.com/office/powerpoint/2010/main" val="20101215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0CBBD-E69A-42DF-AA5A-31571779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D0DAC-A1B5-41BF-B7FC-49D7CB8D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Build along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61157-34B8-4793-8960-E5E4B42F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An agent is a model with a job and tools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130CA-419F-4E6B-AC19-17F2F441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Start with the smallest thing that can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4AEE2-AEFD-4444-A3F0-3BEE20CB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985FF-9F5B-4453-A382-031774D3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D70A2-15D1-4666-AD3E-F49D1ED4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28BDC0-315D-4685-8E3E-059F7576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5341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03E21-42FB-40A3-AF75-CDC4734D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D25DD-CF1C-4EAB-A746-F83D6A9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FB9054-E74A-4315-B082-41D1D819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9606A6-D6CC-495A-8C68-6AB9336E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276AB-EA3C-412B-9E48-CA43CFD7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60579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google.adk.agents import Agent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adk_voice_workshop.config import text_model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root_agent = Agent(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name="room_agent",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model=text_model(),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instruction="Help people find a room.",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60DEF-D9BA-4E8B-9C34-4EB81F5E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59A64"/>
                </a:solidFill>
              </a:defRPr>
            </a:pPr>
            <a:r>
              <a:rPr sz="1800" b="1" i="0">
                <a:solidFill>
                  <a:srgbClr val="159A64"/>
                </a:solidFill>
              </a:rPr>
              <a:t>Three decisions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5E13D-628D-4E71-8D75-1E53E194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765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name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3DEC1E-9205-41F9-9C4D-EB5978BE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identity in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32B624-F226-4F35-A513-33DE460C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97D09-5874-469A-A079-314E092F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05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text model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9952C-2C4E-49BE-BE11-D0295CAB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1786E"/>
                </a:solidFill>
              </a:defRPr>
            </a:pPr>
            <a:r>
              <a:rPr sz="1275" b="0" i="0">
                <a:solidFill>
                  <a:srgbClr val="61786E"/>
                </a:solidFill>
              </a:rPr>
              <a:t>instruction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BB9C4E-D86B-408E-AFEB-CD37EC29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63C2C"/>
                </a:solidFill>
              </a:defRPr>
            </a:pPr>
            <a:r>
              <a:rPr sz="1425" b="0" i="0">
                <a:solidFill>
                  <a:srgbClr val="163C2C"/>
                </a:solidFill>
              </a:rPr>
              <a:t>behavior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EE8B4-249B-4B76-97DB-785EB437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8E6557-BF9D-42C8-B26B-0122012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05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Run checkpoint 01. Ask one question.</a:t>
            </a:r>
          </a:p>
        </p:txBody>
      </p:sp>
    </p:spTree>
    <p:extLst>
      <p:ext uri="{BB962C8B-B14F-4D97-AF65-F5344CB8AC3E}">
        <p14:creationId xmlns:p14="http://schemas.microsoft.com/office/powerpoint/2010/main" val="2839888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7BD47-2CF7-43D3-ADC0-9DB8FDFC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5C8C5-1E7F-4F4D-83E8-696FD119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Try it yourself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B9BC7-A479-43E7-BED2-5AB89857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Make the instruction observable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ECDF4-34C3-47BD-8A4C-EF286F65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Change one behavior, then prove it 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E1432-D999-4BB7-8EF5-52EC9A8C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32AAE-B6D2-4481-822B-C8589169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2C90F-9492-4836-8EB3-1B35A312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3A52B-5FC1-4B96-88D3-D071446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40C1B-A826-480C-80F0-F8BAE8DB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63C2C"/>
                </a:solidFill>
              </a:defRPr>
            </a:pPr>
            <a:r>
              <a:rPr sz="2250" b="1" i="0">
                <a:solidFill>
                  <a:srgbClr val="163C2C"/>
                </a:solidFill>
              </a:rPr>
              <a:t>Ask exactly one follow-up before recommending a room.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2B411-1A09-4012-9CC5-FACB1B51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B7297-ACB5-4B28-ABC0-1A58E426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1">
                <a:solidFill>
                  <a:srgbClr val="159A64"/>
                </a:solidFill>
              </a:defRPr>
            </a:pPr>
            <a:r>
              <a:rPr sz="2025" b="0" i="1">
                <a:solidFill>
                  <a:srgbClr val="159A64"/>
                </a:solidFill>
              </a:rPr>
              <a:t>“Find me a room tomorrow.”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3F148-36A0-4C26-A97B-74DADB45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3147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CC029-D9E1-478A-B796-B429DE05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7FA847"/>
                </a:solidFill>
              </a:defRPr>
            </a:pPr>
            <a:r>
              <a:rPr sz="1200" b="1" i="0">
                <a:solidFill>
                  <a:srgbClr val="7FA847"/>
                </a:solidFill>
              </a:rPr>
              <a:t>DONE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BEC29-F760-41D1-910E-67F863A2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63230-F489-49CE-947A-722140FC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194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It asks before acting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96C6DE-2F27-4D32-930F-22CB4DB2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7BEB5-567F-4F0D-A8FC-0E332651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862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The response stays short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D7583-AFD1-45E9-AA88-A136CEB7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61786E"/>
                </a:solidFill>
              </a:defRPr>
            </a:pPr>
            <a:r>
              <a:rPr sz="1500" b="1" i="0">
                <a:solidFill>
                  <a:srgbClr val="61786E"/>
                </a:solidFill>
              </a:rPr>
              <a:t>3 minutes</a:t>
            </a:r>
          </a:p>
        </p:txBody>
      </p:sp>
    </p:spTree>
    <p:extLst>
      <p:ext uri="{BB962C8B-B14F-4D97-AF65-F5344CB8AC3E}">
        <p14:creationId xmlns:p14="http://schemas.microsoft.com/office/powerpoint/2010/main" val="252935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CDA0A2-09BF-404E-AF17-09659D38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704BE-6F2D-4206-AD69-F02CF074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Build along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645F1-03D1-492C-B85E-2AF439B9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 clear function becomes a capability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B336DB-ED20-42CB-BCCB-39F6DD75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signature constrains inputs; the docstring teaches intent.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89AB6-D6DE-4AC7-928A-00680A89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31746-C1D4-4E26-843A-7DDFC468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F2B3D-59AE-4539-B20B-8350D9E0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2AE47-4360-45C9-9014-3014FA2F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38C99-86F7-490A-8FD8-04AAA5C1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C4AA5-4F2E-4BA2-AA99-5FF09425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632BC-7BA8-4308-A239-172B7306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DDF89-BC6D-4242-A639-7505D908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29A97-00CE-401A-9EC0-BEA5FC40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54292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def find_rooms(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after_hour: int,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minimum_capacity: int = 1,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 -&gt; dict: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...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return {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"status": "success",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"rooms": matches,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C6E0A-E00F-48A8-8CEF-040EC6CC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52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STRUCTURED RESULT · find_rooms(16, 10)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B1286-0DB5-4147-9805-8D2DDF6C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40005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F8665-1D8E-47CD-BFDD-33AC2908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66675" cy="2686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02D98-FEAC-401A-8E09-A599B11C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F0208-C829-49BB-8A50-93FA480C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07E751-0501-486C-A097-7CB3DFCD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3D013-B9D6-441D-9B3E-60B30676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{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"status": "success",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"rooms": [{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"name": "Cedar",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"available_from": 17,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"capacity": 12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}]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91759-59F6-42CF-8F62-9B0DD5A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477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E4230-84B0-4AA2-8228-60304135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002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63C2C"/>
                </a:solidFill>
              </a:defRPr>
            </a:pPr>
            <a:r>
              <a:rPr sz="1500" b="1" i="0">
                <a:solidFill>
                  <a:srgbClr val="163C2C"/>
                </a:solidFill>
              </a:rPr>
              <a:t>Agent(..., tools=[find_rooms])</a:t>
            </a:r>
          </a:p>
        </p:txBody>
      </p:sp>
    </p:spTree>
    <p:extLst>
      <p:ext uri="{BB962C8B-B14F-4D97-AF65-F5344CB8AC3E}">
        <p14:creationId xmlns:p14="http://schemas.microsoft.com/office/powerpoint/2010/main" val="17499089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8CD69C-DD55-4574-951F-8FAB86F3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5E0E3-42DD-4DBF-A53D-12595E27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Talk to your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757FF-6B2A-4E78-8889-2712A794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Voice is a streaming session, not a TTS toggle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A56F7-F602-4759-98C9-9D4F2B07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Use the prepared playground first; custom plumbing comes later.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1B61-009C-4723-AC1D-FD0041D1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7E267-B843-4F1D-B3F5-F8FAEBC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80F25-8625-4817-BDBF-F383FB03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59DEB-62F2-4567-8D93-27FAFBB2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49530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DAE79-F793-4A40-8E0F-FA201DD4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FAF8D"/>
                </a:solidFill>
              </a:defRPr>
            </a:pPr>
            <a:r>
              <a:rPr sz="1200" b="1" i="0">
                <a:solidFill>
                  <a:srgbClr val="6FAF8D"/>
                </a:solidFill>
              </a:rPr>
              <a:t>CHECKPOINT 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D61FA-B6B8-4402-A615-3156CFF7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1. Start the dev UI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2. Select the agent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3. Allow microphone access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4. Ask for a room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231B5-AD01-4AA2-8669-A989FA93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1B82E-E80B-4082-BE0A-EC425722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52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F7FBF8"/>
                </a:solidFill>
              </a:defRPr>
            </a:pPr>
            <a:r>
              <a:rPr sz="2250" b="1" i="0">
                <a:solidFill>
                  <a:srgbClr val="F7FBF8"/>
                </a:solidFill>
              </a:rPr>
              <a:t>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FFDEB-DE77-4DC1-BB3F-B185BD95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A00BEF-9C3F-41CC-802D-76C5434C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17E763-E508-40E3-96EF-117FB21A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B8E17F-C00F-41D4-9D70-694097C2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78B3F-D3FB-493A-8DD3-901B815E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815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B3F350-3078-409F-AB6C-67B23BF7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148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2C054-94C3-4C41-B926-40DCBC0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386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8C385-5224-400E-B43F-45DA0FAC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0D101-5D84-4D77-ABC2-2F8ABDE6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672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986B9-A0BF-4086-9E2E-9DBBC8D5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1D015A-BFA9-478F-868A-D1AF43AA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481A84-E4BC-45AB-A3AC-124F723B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624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CCF517-79C1-4D0C-A254-B46CC5F7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434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AC31CF-27CE-4194-A968-78357836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320E6-2F2A-44E4-AC70-76AF7DAD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053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9EAC7-ACD6-4746-84EA-97ADB208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7D9C47-6CEF-4997-8B3E-70E79A10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EF028C-3D1A-45E1-BECE-DCB6FAB8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4817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3AA33F-39B0-4445-B14E-6D3597E8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3E03F0-6654-4188-9CFD-6FAD45FA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910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873A27-22F7-4066-9C36-8EB55F3B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72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Say: “Find a room after three.”</a:t>
            </a:r>
          </a:p>
        </p:txBody>
      </p:sp>
    </p:spTree>
    <p:extLst>
      <p:ext uri="{BB962C8B-B14F-4D97-AF65-F5344CB8AC3E}">
        <p14:creationId xmlns:p14="http://schemas.microsoft.com/office/powerpoint/2010/main" val="17376279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89478-BBC8-4970-90E3-C92A4F90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65E5D-CCA4-46A6-B906-7F6C457C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Test the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73838-A9E0-496D-8BA5-39DB9DF6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Test beyond the happy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2B613-1026-4B93-8A54-AC983B9C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Voice quality emerges from timing, turn-taking, and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AFC22-A213-49B6-88D0-B99384AE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68E19-B800-41A8-9F59-6BF88C69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C6444-D05A-4F8B-86FA-31E0704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C76B1-9DA8-4772-BBCE-AA1DC5F5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B7F32-3D82-47E1-9F3C-8FFB9E49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Normal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8C51A-97DD-4A07-B46F-AFB1AA77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Ask once; let it finish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0BDBA-E8E3-4B87-B18F-2F895910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527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46BE7D-EC3A-45E2-9E98-DCE4DFCD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53B05-14AC-4B26-B385-5DD2BEC7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Interrupt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3CA018-C9FE-4011-8A1E-4427589E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765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Speak over the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F9FC3-A774-4243-B841-7EEAC0F7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A8CD4-A49C-4A36-9E18-C97D3A79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C1C685-83B9-471C-A9EB-ECAD0E00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05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Pause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AF8E0-7324-4F22-82F3-B391D307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147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Stop mid-sentence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D0E34-178B-41C3-9DAB-EAE52063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0E9A2-AAF0-4993-A347-8D3E25AC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2F4BA9-83D1-40DC-80E4-014CA573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434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Correct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E61AAC-0574-4B61-9A12-3B9E62BA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529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Change ‘two’ to ‘three’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476CA4-EEF9-4B85-B47B-87847D53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C924E-FC25-4AB7-BC7F-4D296AA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Write down the first moment that feels awkward.</a:t>
            </a:r>
          </a:p>
        </p:txBody>
      </p:sp>
    </p:spTree>
    <p:extLst>
      <p:ext uri="{BB962C8B-B14F-4D97-AF65-F5344CB8AC3E}">
        <p14:creationId xmlns:p14="http://schemas.microsoft.com/office/powerpoint/2010/main" val="16971409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627550-978A-4249-A8EC-019F4BB6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B53CF-AA81-49F1-A817-9710FABE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See what happens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72B51-4A33-4641-9815-2DAF1282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Barge-in is a race between two audio streams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A4614-4288-4252-9E68-3A5E2A06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VAD decides activity; cancellation decides whether the agent yields.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3C47D-0489-4D1E-A2AA-8F50D2F8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BC384-5EE5-4660-94D0-A92E4A8B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9EF98-995C-4AEF-9E75-F2231346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51C01-2CDD-4D0F-AE89-ABFB1D8B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3528B-1F94-4C46-AD41-1FA828B4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288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3491C-3AA6-4551-89AC-4EE455D1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526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9DEF66-B8BF-4639-9F9E-C59EC2EB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193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B700E-1C11-4155-AAFB-89E54D11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3810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45AEB-D621-4873-A59B-A888E862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38375"/>
            <a:ext cx="381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13778-F496-4BFB-8145-4CBF21F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38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24067-8359-446F-BC76-4DF1E45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411DC3-B0E0-46E1-A841-235A40DB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43100"/>
            <a:ext cx="38100" cy="1143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76E4C6-2142-4DC6-B349-7B802748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14550"/>
            <a:ext cx="38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C561E-684D-445B-9E02-EAE73924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955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99C7F-54B9-4CA1-A299-EC6D297F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193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A0F705-F12D-459A-9626-E062920D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145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E1503-6047-4A6E-BD74-A6EF3C59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812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05372-EAD9-49C7-B31A-3816FFA4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C8D300-4AE7-489F-BA5B-E33389F7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A0E9B7-2F6F-4318-8609-A803425A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543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E49C0D-2C38-46A4-8B3A-5F5B9D99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81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82BD01-4DCE-4C7F-99C6-091F8682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09925"/>
            <a:ext cx="38100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030172-4246-4065-A8A7-4C706954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19475"/>
            <a:ext cx="381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56DDA0-0CCA-43D9-9F05-E4C6FA89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00450"/>
            <a:ext cx="38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CAB3AD-FF90-47B5-AE2D-BB70D8F2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24225"/>
            <a:ext cx="38100" cy="933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586DFE-7B09-4670-97FA-925C206A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381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CEE0C-5ACF-409D-B35F-C327898D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00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71BDC3-29FB-42E3-B168-B2A5D778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38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8028FB-C2AA-44B3-BB04-D66EA42E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86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F10101-8E36-4DFD-A6A4-81580EF0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33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98BDE9-D00B-41BA-BC6E-4AA148D0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52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235E6F-3DFE-4855-8326-B2323EDA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05200"/>
            <a:ext cx="381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78D47A-5A14-4FA4-BE3B-5B81DB0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2C3F57-B729-485A-BA90-FC4C8B40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05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FE1F6A-BF69-480D-A11F-8A5A559D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90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42B6CC-BEC5-48E4-A3CA-FF6D7446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A9AE71-7AB2-494B-AE6B-F708D147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33600"/>
            <a:ext cx="5715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95AB58-CCCE-4394-9ED5-AB463682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43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speech starts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B7B825-052D-4CA8-B276-06E7477A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479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7FA847"/>
                </a:solidFill>
              </a:defRPr>
            </a:pPr>
            <a:r>
              <a:rPr sz="1500" b="1" i="0">
                <a:solidFill>
                  <a:srgbClr val="7FA847"/>
                </a:solidFill>
              </a:rPr>
              <a:t>VAD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8976CF-B981-4378-A4A3-2C767446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detect activity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E9264B1-BDB9-4D89-9FDB-8AD35B33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05B65"/>
                </a:solidFill>
              </a:defRPr>
            </a:pPr>
            <a:r>
              <a:rPr sz="1500" b="1" i="0">
                <a:solidFill>
                  <a:srgbClr val="D05B65"/>
                </a:solidFill>
              </a:rPr>
              <a:t>CANCEL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440B26-A0E8-4D58-AC3C-46BA5520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stop output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FED10F-2CC4-4F52-BE80-FA40B149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RESUME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2D681-1D9D-460A-90ED-342AA074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33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keep context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1C7668-1F56-41AF-B882-15023C00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48B985"/>
                </a:solidFill>
              </a:defRPr>
            </a:pPr>
            <a:r>
              <a:rPr sz="1725" b="1" i="0">
                <a:solidFill>
                  <a:srgbClr val="48B985"/>
                </a:solidFill>
              </a:rPr>
              <a:t>Good barge-in: no overlap, no forgotten correction.</a:t>
            </a:r>
          </a:p>
        </p:txBody>
      </p:sp>
    </p:spTree>
    <p:extLst>
      <p:ext uri="{BB962C8B-B14F-4D97-AF65-F5344CB8AC3E}">
        <p14:creationId xmlns:p14="http://schemas.microsoft.com/office/powerpoint/2010/main" val="17377353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A71EC0-7CBC-4E56-80A9-3C6E1003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74632-F051-4D22-B18A-37B78478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Follow the live data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F28E8-C66F-46C6-80C2-8DFE4D3F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Two concurrent loops make the conversation feel 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92CE2-091A-43AA-97EA-7E828346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browser sends chunks while ADK yields events 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9A4F9-2EB3-48C3-ABFA-68980262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56207-97D2-4A0E-AEE3-96B44318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39CA8-83FE-4C72-A4F6-1E0CC192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BC703-8F40-4721-8DB0-49E4E0EE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6A039-F09D-4C6A-90A3-E14C850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907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audio chunks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10E9E-E86E-4ABA-A21B-F6BA10A6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9100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A2016-A7B2-43FC-BD24-DC375B20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0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←  audio · transcript · tool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DD78F-6A3A-441B-8BFE-FA3A8A65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0955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B9E20-916A-4B41-9EFA-60471A0D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DAC4D-26C1-444B-8929-ED2B002A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mic + playback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4C198-ABB9-47BE-A7B9-2F71787B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CBDDD-0CA0-44E2-BA3D-0C35798C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WEBSOCKET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16B452-68FF-496D-919B-086C41C4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session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D72EFD-40FA-4807-9DAB-B4AA800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93032D-8112-4186-BA55-B9042E6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LIVE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B820B-9C8D-4FF4-9BD6-3D3E8B94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ordered 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9BE843-291D-4882-B569-604D30DD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96215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F1229D-534C-4C57-8E35-6EC938D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59A64"/>
                </a:solidFill>
              </a:defRPr>
            </a:pPr>
            <a:r>
              <a:rPr sz="1575" b="1" i="0">
                <a:solidFill>
                  <a:srgbClr val="159A64"/>
                </a:solidFill>
              </a:rPr>
              <a:t>run_live()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E9A1C3-C59D-4C3E-8A87-53BC5BB6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5433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Event stream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E27D1-AC1D-4A5A-AFA4-E74B4A82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162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upstream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077B48-03BD-401B-B33B-0122FD69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61786E"/>
                </a:solidFill>
              </a:defRPr>
            </a:pPr>
            <a:r>
              <a:rPr sz="1650" b="1" i="0">
                <a:solidFill>
                  <a:srgbClr val="61786E"/>
                </a:solidFill>
              </a:rPr>
              <a:t>+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CF243-9B46-452C-AA86-4F223714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downstream task</a:t>
            </a:r>
          </a:p>
        </p:txBody>
      </p:sp>
    </p:spTree>
    <p:extLst>
      <p:ext uri="{BB962C8B-B14F-4D97-AF65-F5344CB8AC3E}">
        <p14:creationId xmlns:p14="http://schemas.microsoft.com/office/powerpoint/2010/main" val="15723099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0B9B3C-B3E4-41BD-8B10-C30C1B6B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2BBD1-87CD-4963-BAC1-77C83CCA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Read the event stream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69C4B-7161-47BA-AE02-E28E6B71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Treat every response as an event, not a 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713EC-CE8A-40B6-B0BC-DA20ECC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Transcription turns an audio experience into something debuggable.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46DC3-B8F3-420A-91FC-8354771D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1D442-3E57-4B23-961F-8D11D52C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AC932-9F33-4431-AA3C-E491EC1E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958AC-CE4C-431E-9AFB-2BF00AA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2674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55CCE-B8BD-4BA4-B2EA-B0CDC660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C8B04-3E68-46E6-B8BB-F916AC6A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DABFF-F804-47F3-AD9B-BADAC794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6D5D2-5E52-47EF-B6B2-A876E0C4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17D8C3-7136-49F1-A5B5-ED36625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57912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async for event in runner.run_live(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user_id=user_id,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session_id=session_id,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live_request_queue=queue,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run_config=run_config,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):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await websocket.send_json(to_client(event))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7D7A6-AB3D-4A2E-AABD-2B892B1B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47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AUDIO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C7AFB-2421-4502-B927-2886A847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47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play immediately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19F6A9-F72A-4791-9701-E335F449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05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97F60-68DF-4F7E-AE29-3363496D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TRANSCRIPT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82AFE5-889B-4EAC-8181-F227627B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render + log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6B35BC-C9F5-4C20-BFAD-0FB3CBAB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67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837C9-0A6A-49F6-8459-3E2B3DCF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419D4-CC47-4E19-9B1F-36283579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71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show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C1FB8-6C45-4D6B-8457-10E27461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35A5C0-D7A3-4F80-A06D-CF5401BB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ERROR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8D15E4-1E4C-444B-9452-10B27D9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33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recover visibly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63638C-8B74-406A-A032-B5BBC663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91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AE650-5B0F-49EC-863E-7FEE5A55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1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Partial ≠ final</a:t>
            </a:r>
          </a:p>
        </p:txBody>
      </p:sp>
    </p:spTree>
    <p:extLst>
      <p:ext uri="{BB962C8B-B14F-4D97-AF65-F5344CB8AC3E}">
        <p14:creationId xmlns:p14="http://schemas.microsoft.com/office/powerpoint/2010/main" val="10882882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2D7AFD-A5C2-41A0-965A-DCEEBAB9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5F101-67B2-448F-AA3E-9153204A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Watch the recovery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6F129-CA34-468E-95D6-FEFD57CB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The tool waits five seconds, then returns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07925-4984-443A-8952-6918C174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It returns room data or a structured error—never a raw exception.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84C31-F77B-48DC-AE50-E47A2F0E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4F5E5-E2AB-46D3-9B9E-BDB675DC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BB6B6-9D04-477D-8336-9BED9ADD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88538-C914-48BE-BC32-F563DC38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929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0ED56-07B6-47AF-8965-21FE5B75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AAD77-7983-410E-809F-83181F03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0.0s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43420-FE07-475A-AEF1-1B665A0C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2691C-14C5-4954-BCDF-98F48D1F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C8E21-0688-4625-AD69-6BA9B295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0.2s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7803B-FEEE-4CF5-980A-84552E1E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TOOL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20FCB-DDC5-4483-8D39-A9F4E758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057C9-DAC1-4806-B3A1-A705DFED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5.2s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30ABE-D79D-42C3-8E05-E952B745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AE34B-F97A-4A28-A491-6B3AA9D1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D8BF0-E535-4E3D-9CF2-1A5EDDA6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5.5s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DCAF5-4E08-480D-9CF0-191819EE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RECOVERY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743CF-0043-446B-9554-02AF1976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76500"/>
            <a:ext cx="3390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B6090-BBDB-4CA5-ABBB-48653468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76525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7FBF8"/>
                </a:solidFill>
              </a:defRPr>
            </a:pPr>
            <a:r>
              <a:rPr sz="1650" b="1" i="0">
                <a:solidFill>
                  <a:srgbClr val="F7FBF8"/>
                </a:solidFill>
              </a:rPr>
              <a:t>asyncio.sleep(5)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07E38A-4E94-45D9-B4C0-E600D2DE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67250"/>
            <a:ext cx="7429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5AE021-29F4-40B7-BD1C-4C6947AF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10125"/>
            <a:ext cx="693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status: error   •   retryable: true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B5168-2405-4BA4-8441-88138C2E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244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163C2C"/>
                </a:solidFill>
              </a:defRPr>
            </a:pPr>
            <a:r>
              <a:rPr sz="1275" b="0" i="0">
                <a:solidFill>
                  <a:srgbClr val="163C2C"/>
                </a:solidFill>
              </a:rPr>
              <a:t>“Room availability could not be checked right now.”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9415D0-D60C-4222-94AA-88DF29DE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388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61786E"/>
                </a:solidFill>
              </a:defRPr>
            </a:pPr>
            <a:r>
              <a:rPr sz="1425" b="1" i="0">
                <a:solidFill>
                  <a:srgbClr val="61786E"/>
                </a:solidFill>
              </a:rPr>
              <a:t>No timeout · no exception · no automatic retry</a:t>
            </a:r>
          </a:p>
        </p:txBody>
      </p:sp>
    </p:spTree>
    <p:extLst>
      <p:ext uri="{BB962C8B-B14F-4D97-AF65-F5344CB8AC3E}">
        <p14:creationId xmlns:p14="http://schemas.microsoft.com/office/powerpoint/2010/main" val="15007612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FDA634-8289-4E8B-AA8E-825CB7C1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1462E-B536-456A-BAEA-00E7F757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Shape the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20A57-CF04-4613-A590-6B3D602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Recovery is a result the agent can reason about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4F64B-6B59-4B1C-AFDF-74E01445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This checkpoint uses acknowledgement, a five-second delay, and a safe next move.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8345F-A029-4F48-B9E5-5FCC31E0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340E1-1338-4605-9F60-49FAA55A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14424-716F-4D27-9714-534D22EE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AC29C-8044-4DA8-820F-6D641B9B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148E9-667C-4D29-A2C9-E63B3FFA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596520-B350-4A63-A89B-64DA42F7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5D435-987B-4B8C-A06A-2EC89C69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“I’m checking that now.”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43943-B325-441C-A7DD-1720B81C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2AF6A-8F12-4DCA-A58D-69758C30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WAIT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03AB84-6C9E-49D8-AD8E-CC333F19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DA557-D2C2-47CE-84C1-0AC38EE3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five-second tool delay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9CDF4-6101-436E-B270-0B42AC57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B2305-BEC6-478B-99A8-83F56119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EF7424-438B-4A64-A13B-21E50463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F01C8-A694-4818-B42C-15CF237B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status · message · retryable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248547-033B-45D5-AF29-2B285F61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F120B-948B-445E-AA33-00FC9305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72B3AE-FD14-4569-A4F3-F2BAC358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A083D-3D86-432B-9319-0E1947AB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apologize + offer another time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8DD5B-DF38-4CC3-A2E9-DD6273DE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57750"/>
            <a:ext cx="8724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3EA45A-53AE-4E29-AC2D-0800FF9B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673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The agent does not retry unless the user asks.</a:t>
            </a:r>
          </a:p>
        </p:txBody>
      </p:sp>
    </p:spTree>
    <p:extLst>
      <p:ext uri="{BB962C8B-B14F-4D97-AF65-F5344CB8AC3E}">
        <p14:creationId xmlns:p14="http://schemas.microsoft.com/office/powerpoint/2010/main" val="18575853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A187A-C425-43D2-9406-9C46B094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BED4E-9452-430A-B409-F5A2B718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Before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FFEB3-41DB-49A6-A2A4-AEFCB94B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Production lives around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600B0-2D7D-4D68-85D2-42C5A32A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Optimize the whole conversation loop—not one API 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54FDF-8F25-4882-9D4D-0EA5F0FC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06296-4161-4690-8DA9-07278068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E773C-F13F-4F37-B8C6-80476F4C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0ED6D-C13B-4378-8976-0CC99821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D9A8D-01E8-4D65-BC5F-39665074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F2324-0D0F-4D63-879B-0BA19F4D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first audio · turn gap · tool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5F1C0-01F9-4FFE-9C77-592C23C3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A102A4-7A87-4D3E-B99E-AFB47464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813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16173-9501-490D-8112-C618B27D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one queue/session · durable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2DD99-FD69-4585-BA5E-2A2AC47D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6B00AC-C347-4F77-AB32-5FB8494C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861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7D0531-24A5-48F4-B47F-154B2A94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confirm consequential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555A2A-D833-4302-834B-8FAEABB5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MONITORING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914DD8-ABEB-4A22-B995-D30CAE57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910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546308-22BD-4758-B010-10591E2E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481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events · transcripts ·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51B99-B39E-42CD-BF2F-059783F1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RESILIENCE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5A1A1-93F0-44E7-A4E2-34005901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958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AF6077-1ACB-4128-81EB-5DCC8D01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530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timeouts · cancellation · 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E14A73-0391-4D27-996B-BD8E22DA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912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Ship only when you can replay what happened.</a:t>
            </a:r>
          </a:p>
        </p:txBody>
      </p:sp>
    </p:spTree>
    <p:extLst>
      <p:ext uri="{BB962C8B-B14F-4D97-AF65-F5344CB8AC3E}">
        <p14:creationId xmlns:p14="http://schemas.microsoft.com/office/powerpoint/2010/main" val="35964572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DD41AC-F0A5-4BC3-BEE1-00E71921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90C59-0AEE-4824-8DBE-F2ACE156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Choose your challenge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A07A0-CDDB-449F-8221-B925C3C1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Mini challenge: make the agent production-friendlier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49C590-F089-41A3-B353-F84AEB57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Choose one improvement. Prove it with one adversarial 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3595A-7837-4124-AB18-97CDF05F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2E4B9-52A2-4490-B437-3131F238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F1102-653A-41FC-A936-23A975D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DD573-63A1-450A-9EF9-EA44E79D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CBAF7-AD84-40BE-AD69-836B1BA3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1D709-ED43-407D-84D4-E9DCF343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CONFIRM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52DCB-EFB4-46F7-B83E-1983F2FE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Ask before booking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E8A215-A100-4B14-9B3F-40069F4F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B357F-5748-43F6-A396-1CA51025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95DEA-634C-464F-BC3C-8D3B486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82E086-74D3-48B8-94EB-FD699295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AB85C-9C54-4AF6-B7DE-4776A393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Handle tool timeout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9159C4-EFBC-4B36-9A6E-E085A3B5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B78A7B-0D6D-4D15-B944-F3A61E1D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44159-9DE2-45FA-9A71-8F0256B9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E03B82-C2B1-465F-81DA-0CB9C0AD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9EC992-99D6-48C5-9D8F-7A64D0AD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Log final transcript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83855-49CC-4CB7-A2C5-8A85DAE3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8DE644-80D9-4F6A-AC9B-BD1B6020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D05B65"/>
                </a:solidFill>
              </a:defRPr>
            </a:pPr>
            <a:r>
              <a:rPr sz="1200" b="1" i="0">
                <a:solidFill>
                  <a:srgbClr val="D05B65"/>
                </a:solidFill>
              </a:rPr>
              <a:t>TEST 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FA8D27-9A53-40BB-B7C8-EA6F91A9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163C2C"/>
                </a:solidFill>
              </a:defRPr>
            </a:pPr>
            <a:r>
              <a:rPr sz="2175" b="1" i="0">
                <a:solidFill>
                  <a:srgbClr val="163C2C"/>
                </a:solidFill>
              </a:rPr>
              <a:t>interrupt • change your mind • force a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A1CA09-7D2D-4DE6-A806-364CA05F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4C218E-135D-4237-BF3F-6F1F94FC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862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6 minutes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669251-3BAA-4C4E-AE54-E92C4034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then 2 demos</a:t>
            </a:r>
          </a:p>
        </p:txBody>
      </p:sp>
    </p:spTree>
    <p:extLst>
      <p:ext uri="{BB962C8B-B14F-4D97-AF65-F5344CB8AC3E}">
        <p14:creationId xmlns:p14="http://schemas.microsoft.com/office/powerpoint/2010/main" val="4982466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D9A697-D667-48D0-96DC-0573D3C5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C627C-B3F9-456D-9CB3-F60D343E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What to take with you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6C3E-DA0C-4DCA-AC7C-11F5DDAF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You now have the full conversation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9A8AD-D0F2-4100-88D3-E5CAFE9D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Agent → tool → live audio → events → production behavior.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03DD0-2389-4236-BCA8-A412A0E0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39B21-747E-44BB-A542-84417B69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C5D8A-D749-43EC-87C6-8DDBA608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096DF-EA84-40EB-AF00-63A1EA55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59A64"/>
                </a:solidFill>
              </a:defRPr>
            </a:pPr>
            <a:r>
              <a:rPr sz="1425" b="1" i="0">
                <a:solidFill>
                  <a:srgbClr val="159A64"/>
                </a:solidFill>
              </a:rPr>
              <a:t>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ADF37-7865-40D7-B51D-8882817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small checkpoints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54C3F-7C86-4381-AEC9-B62F4E4D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BB82A-80EA-45B2-85D2-0E2EEB8E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interrupt + fail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81328-AA9B-4F3D-8C29-34AF5645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7FA847"/>
                </a:solidFill>
              </a:defRPr>
            </a:pPr>
            <a:r>
              <a:rPr sz="1425" b="1" i="0">
                <a:solidFill>
                  <a:srgbClr val="7FA847"/>
                </a:solidFill>
              </a:rPr>
              <a:t>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2A009-26FC-44BB-879E-61D03F2C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measure the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1E87C-93B7-4672-9125-C5568DFC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6638B-F7BF-4CC2-AC99-A5438795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48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AEBEA-06A1-4F75-B53D-580FEF07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52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6A063-9EBE-40F0-9932-CDF54603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671716-F062-4EC7-8E6B-F4E20F5C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EEA12-2A75-4270-9383-241AC58D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5767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ACD9C-96CE-43EA-A18F-2F2BD887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EF6B1B-B308-4A00-92EF-8CAA1F14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14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0EA1B-B701-455A-A069-C5FD4461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A74F51-2D07-464E-870C-3C585B8D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43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4A66E-7763-4637-A3A2-4608C32D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977B7-278E-4C6C-AFA5-D6869820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68F2C0-E823-49E0-958B-D7A99F24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3862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07CF22-6006-456C-8F2D-59ABF9FE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1955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9E1FEF-F0BB-43E9-BBF3-AFB37915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E3331C-F71A-40E8-8F54-13FCC5CE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8150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DEFA87-DC26-49EC-8BF2-ACF424F3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5770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8CFD13-777B-458F-AF57-D113B2E0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17FE2-8209-45EB-8380-06B1B925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2432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35389F-1967-4FCA-AD85-4FFC9B0A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3E554C-E9E9-4C23-801C-69E936D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67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F1E26F-1650-4AAB-B361-C1D4BA4A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6D11A0-1AB1-41F2-AA98-A26D5563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381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A32767-C393-49E6-9304-F92844C5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0527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69AB97-6118-4D76-A369-7CAC0BA4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0DC3C9-AA55-4911-AB74-89A23A78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9E53A1-E9A6-434B-A54C-DAD11915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76750"/>
            <a:ext cx="381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127D22-8213-4858-8D60-B77193AF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AE6D66-4650-47F8-9726-34EB2E10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62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6B55D6-766B-4F68-B3A7-24E7E270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159B9E6-DCAD-43F1-98F6-2316297A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29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30909D-FACC-4101-AA0C-D18CF8DC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Next: replace the fake tool with one real workflow.</a:t>
            </a:r>
          </a:p>
        </p:txBody>
      </p:sp>
    </p:spTree>
    <p:extLst>
      <p:ext uri="{BB962C8B-B14F-4D97-AF65-F5344CB8AC3E}">
        <p14:creationId xmlns:p14="http://schemas.microsoft.com/office/powerpoint/2010/main" val="4164495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2026-08-21T17:23:22.3910000Z</dcterms:created>
  <dcterms:modified xsi:type="dcterms:W3CDTF">2026-08-21T17:23:22.3910000Z</dcterms:modified>
</coreProperties>
</file>