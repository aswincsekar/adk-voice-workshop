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f988f263c04247" /><Relationship Type="http://schemas.openxmlformats.org/officeDocument/2006/relationships/extended-properties" Target="/docProps/app.xml" Id="Rcce55a5a0f0f4480" /><Relationship Type="http://schemas.openxmlformats.org/officeDocument/2006/relationships/officeDocument" Target="/ppt/presentation.xml" Id="Rf34407aa40104c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27f456fa7049f2"/>
  </p:sldMasterIdLst>
  <p:notesMasterIdLst>
    <p:notesMasterId xmlns:r="http://schemas.openxmlformats.org/officeDocument/2006/relationships" r:id="R653a0acc738c4bd5"/>
  </p:notesMasterIdLst>
  <p:sldIdLst>
    <p:sldId xmlns:r="http://schemas.openxmlformats.org/officeDocument/2006/relationships" id="256" r:id="R8fa9e02d14954f11"/>
    <p:sldId xmlns:r="http://schemas.openxmlformats.org/officeDocument/2006/relationships" id="257" r:id="R4d061925731146d9"/>
    <p:sldId xmlns:r="http://schemas.openxmlformats.org/officeDocument/2006/relationships" id="258" r:id="R483187b41f764bd8"/>
    <p:sldId xmlns:r="http://schemas.openxmlformats.org/officeDocument/2006/relationships" id="259" r:id="Red2005487d5845cc"/>
    <p:sldId xmlns:r="http://schemas.openxmlformats.org/officeDocument/2006/relationships" id="260" r:id="Rd91716aefce14dc8"/>
    <p:sldId xmlns:r="http://schemas.openxmlformats.org/officeDocument/2006/relationships" id="261" r:id="R76d4e58c5dc24b01"/>
    <p:sldId xmlns:r="http://schemas.openxmlformats.org/officeDocument/2006/relationships" id="262" r:id="R975310531a4c4676"/>
    <p:sldId xmlns:r="http://schemas.openxmlformats.org/officeDocument/2006/relationships" id="263" r:id="R969122d25c744314"/>
    <p:sldId xmlns:r="http://schemas.openxmlformats.org/officeDocument/2006/relationships" id="264" r:id="R35379d50f49e4340"/>
    <p:sldId xmlns:r="http://schemas.openxmlformats.org/officeDocument/2006/relationships" id="265" r:id="Rd94f5f2676694ef6"/>
    <p:sldId xmlns:r="http://schemas.openxmlformats.org/officeDocument/2006/relationships" id="266" r:id="Rcd669b314bb241fc"/>
    <p:sldId xmlns:r="http://schemas.openxmlformats.org/officeDocument/2006/relationships" id="267" r:id="Rcc6bcd922dba4057"/>
    <p:sldId xmlns:r="http://schemas.openxmlformats.org/officeDocument/2006/relationships" id="268" r:id="R712c1edaf2d04008"/>
    <p:sldId xmlns:r="http://schemas.openxmlformats.org/officeDocument/2006/relationships" id="269" r:id="Rfc9c0256e56940d0"/>
    <p:sldId xmlns:r="http://schemas.openxmlformats.org/officeDocument/2006/relationships" id="270" r:id="R83693529bbcb4bb7"/>
    <p:sldId xmlns:r="http://schemas.openxmlformats.org/officeDocument/2006/relationships" id="271" r:id="R948271030c7143fe"/>
    <p:sldId xmlns:r="http://schemas.openxmlformats.org/officeDocument/2006/relationships" id="272" r:id="Rd45bcc75512e4438"/>
    <p:sldId xmlns:r="http://schemas.openxmlformats.org/officeDocument/2006/relationships" id="273" r:id="R530a51e16e4f48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8765e9a2c6480d" /><Relationship Type="http://schemas.openxmlformats.org/officeDocument/2006/relationships/slideMaster" Target="/ppt/slideMasters/slideMaster1.xml" Id="Rc027f456fa7049f2" /><Relationship Type="http://schemas.openxmlformats.org/officeDocument/2006/relationships/notesMaster" Target="/ppt/notesMasters/notesMaster1.xml" Id="R653a0acc738c4bd5" /><Relationship Type="http://schemas.openxmlformats.org/officeDocument/2006/relationships/presProps" Target="/ppt/presProps.xml" Id="R9fdb98a4434c4bd9" /><Relationship Type="http://schemas.openxmlformats.org/officeDocument/2006/relationships/tableStyles" Target="/ppt/tableStyles.xml" Id="R24dd04a6c2e54fdc" /><Relationship Type="http://schemas.openxmlformats.org/officeDocument/2006/relationships/slide" Target="/ppt/slides/slide1.xml" Id="R8fa9e02d14954f11" /><Relationship Type="http://schemas.openxmlformats.org/officeDocument/2006/relationships/slide" Target="/ppt/slides/slide2.xml" Id="R4d061925731146d9" /><Relationship Type="http://schemas.openxmlformats.org/officeDocument/2006/relationships/slide" Target="/ppt/slides/slide3.xml" Id="R483187b41f764bd8" /><Relationship Type="http://schemas.openxmlformats.org/officeDocument/2006/relationships/slide" Target="/ppt/slides/slide4.xml" Id="Red2005487d5845cc" /><Relationship Type="http://schemas.openxmlformats.org/officeDocument/2006/relationships/slide" Target="/ppt/slides/slide5.xml" Id="Rd91716aefce14dc8" /><Relationship Type="http://schemas.openxmlformats.org/officeDocument/2006/relationships/slide" Target="/ppt/slides/slide6.xml" Id="R76d4e58c5dc24b01" /><Relationship Type="http://schemas.openxmlformats.org/officeDocument/2006/relationships/slide" Target="/ppt/slides/slide7.xml" Id="R975310531a4c4676" /><Relationship Type="http://schemas.openxmlformats.org/officeDocument/2006/relationships/slide" Target="/ppt/slides/slide8.xml" Id="R969122d25c744314" /><Relationship Type="http://schemas.openxmlformats.org/officeDocument/2006/relationships/slide" Target="/ppt/slides/slide9.xml" Id="R35379d50f49e4340" /><Relationship Type="http://schemas.openxmlformats.org/officeDocument/2006/relationships/slide" Target="/ppt/slides/slide10.xml" Id="Rd94f5f2676694ef6" /><Relationship Type="http://schemas.openxmlformats.org/officeDocument/2006/relationships/slide" Target="/ppt/slides/slide11.xml" Id="Rcd669b314bb241fc" /><Relationship Type="http://schemas.openxmlformats.org/officeDocument/2006/relationships/slide" Target="/ppt/slides/slide12.xml" Id="Rcc6bcd922dba4057" /><Relationship Type="http://schemas.openxmlformats.org/officeDocument/2006/relationships/slide" Target="/ppt/slides/slide13.xml" Id="R712c1edaf2d04008" /><Relationship Type="http://schemas.openxmlformats.org/officeDocument/2006/relationships/slide" Target="/ppt/slides/slide14.xml" Id="Rfc9c0256e56940d0" /><Relationship Type="http://schemas.openxmlformats.org/officeDocument/2006/relationships/slide" Target="/ppt/slides/slide15.xml" Id="R83693529bbcb4bb7" /><Relationship Type="http://schemas.openxmlformats.org/officeDocument/2006/relationships/slide" Target="/ppt/slides/slide16.xml" Id="R948271030c7143fe" /><Relationship Type="http://schemas.openxmlformats.org/officeDocument/2006/relationships/slide" Target="/ppt/slides/slide17.xml" Id="Rd45bcc75512e4438" /><Relationship Type="http://schemas.openxmlformats.org/officeDocument/2006/relationships/slide" Target="/ppt/slides/slide18.xml" Id="R530a51e16e4f48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a59da1b54b42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bdf02d42d84aa1" /><Relationship Type="http://schemas.openxmlformats.org/officeDocument/2006/relationships/notesMaster" Target="/ppt/notesMasters/notesMaster1.xml" Id="Rb8d0e85358b447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29409c1a12487c" /><Relationship Type="http://schemas.openxmlformats.org/officeDocument/2006/relationships/notesMaster" Target="/ppt/notesMasters/notesMaster1.xml" Id="R57ec082b21b841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5289dfc4884eb3" /><Relationship Type="http://schemas.openxmlformats.org/officeDocument/2006/relationships/notesMaster" Target="/ppt/notesMasters/notesMaster1.xml" Id="Rb1a06196390d44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2ac1d6e16d4d1e" /><Relationship Type="http://schemas.openxmlformats.org/officeDocument/2006/relationships/notesMaster" Target="/ppt/notesMasters/notesMaster1.xml" Id="R755e1d2ebb4b46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2b7737dbb5497e" /><Relationship Type="http://schemas.openxmlformats.org/officeDocument/2006/relationships/notesMaster" Target="/ppt/notesMasters/notesMaster1.xml" Id="Rc318849cb43d48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1b3d5ae22c4dbf" /><Relationship Type="http://schemas.openxmlformats.org/officeDocument/2006/relationships/notesMaster" Target="/ppt/notesMasters/notesMaster1.xml" Id="R801f85154c6243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b3676955914a47" /><Relationship Type="http://schemas.openxmlformats.org/officeDocument/2006/relationships/notesMaster" Target="/ppt/notesMasters/notesMaster1.xml" Id="Ra3bd1ee219fb40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fbd2f230a24edc" /><Relationship Type="http://schemas.openxmlformats.org/officeDocument/2006/relationships/notesMaster" Target="/ppt/notesMasters/notesMaster1.xml" Id="Rf483cbd53e0e46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81ccc27d52414c" /><Relationship Type="http://schemas.openxmlformats.org/officeDocument/2006/relationships/notesMaster" Target="/ppt/notesMasters/notesMaster1.xml" Id="R6899bec6a2cb4c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2282a8dc9e42d1" /><Relationship Type="http://schemas.openxmlformats.org/officeDocument/2006/relationships/notesMaster" Target="/ppt/notesMasters/notesMaster1.xml" Id="Rf4c24365bfc149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be121a5719411b" /><Relationship Type="http://schemas.openxmlformats.org/officeDocument/2006/relationships/notesMaster" Target="/ppt/notesMasters/notesMaster1.xml" Id="R34009a4d503c40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2cb6865c911429b" /><Relationship Type="http://schemas.openxmlformats.org/officeDocument/2006/relationships/notesMaster" Target="/ppt/notesMasters/notesMaster1.xml" Id="Rae07abfd0fb24f6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1cd6458d07043e3" /><Relationship Type="http://schemas.openxmlformats.org/officeDocument/2006/relationships/notesMaster" Target="/ppt/notesMasters/notesMaster1.xml" Id="Ra357a3331a6946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97a3c0dabe84795" /><Relationship Type="http://schemas.openxmlformats.org/officeDocument/2006/relationships/notesMaster" Target="/ppt/notesMasters/notesMaster1.xml" Id="Rf6d0658ca1514f5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12223cc38046ee" /><Relationship Type="http://schemas.openxmlformats.org/officeDocument/2006/relationships/notesMaster" Target="/ppt/notesMasters/notesMaster1.xml" Id="R9952675ca9f74b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beb6c73c9f54d39" /><Relationship Type="http://schemas.openxmlformats.org/officeDocument/2006/relationships/notesMaster" Target="/ppt/notesMasters/notesMaster1.xml" Id="Rea3fbd10599d4a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fd7cf9a68a940da" /><Relationship Type="http://schemas.openxmlformats.org/officeDocument/2006/relationships/notesMaster" Target="/ppt/notesMasters/notesMaster1.xml" Id="R2dcbe05cb88e4e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5a23883da746c5" /><Relationship Type="http://schemas.openxmlformats.org/officeDocument/2006/relationships/notesMaster" Target="/ppt/notesMasters/notesMaster1.xml" Id="R1c2a681e71124a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energy. Tell participants: keep laptops closed for 90 seconds. Then immediately run the finished voice-agent demo.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script: ask for a room; interrupt halfway through the agent’s clarification; let the fake booking tool complete. Point out the three beats: ask, interrupt, tool completes.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expectations: this is guided hands-on, with optional stretch work. Point out that each checkpoint is runnable.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the repository link through the event page or attendee chat. Ask helpers to resolve keys, microphones, and browser permissions. Target: 4–6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Prerequisites in the repo README: modern Chromium browser, headphones, working mic, prepared Python environment, workshop credential path, and checkpoint folders.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frame pacing. For a 45-minute slot, compress setup, narrate the architecture diagram, and make the mini challenge one modification rather than a full build.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Live-code only the Agent constructor. Participants copy the starter or uncomment the prepared block, run it, and ask one text question. Target: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visible 3-minute timer. After 2 minutes, ask one person to read their instruction aloud. If participants are behind, direct them to checkpoint 01. Target: 4 minutes including debrief.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once with a vague docstring, then improve it. Ask participants to change one returned room or argument, run checkpoint 02, and verify the tool call in the trace. Target: 7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Participants run the prepared voice checkpoint and speak to their agent. Keep headphones on to avoid feedback. If a mic fails, pair participants—do not debug on the main stage.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https://github.com/google/adk-docs/blob/main/docs/live/get-started/streaming-python.md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4 minutes. Ask participants to capture one awkward moment, not solve it yet. Use responses to transition into VAD and barge-in. Target: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Replay the interruption demo slowly. Point at the moment the user starts speaking. Explain VAD as activity detection and barge-in as the combined product behavior: detect, stop output, preserve the correction.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Stress that WebSocket is the app transport, LiveRequestQueue is the ordered per-session input channel, and run_live() produces downstream Events. Upstream and downstream run concurrently.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event log next to the live UI. Point out partial versus final transcripts and explain why the client should update rather than append every fragment.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checkpoint 04. The agent acknowledges the check before calling the tool. The tool waits five seconds, then either returns normal room data or a structured error for 13:00 / ROOM_TOOL_FAIL=1. The agent apologizes and offers another time without retrying automatically. Target: 4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actual checkpoint behavior: acknowledge before the call, wait five seconds, inspect the structured result, then apologize and offer another time. Emphasize that retryable is data for a future policy; this demo does not retry automatically.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practical: identify one metric and one guardrail for the room-booking agent. Mention that each streaming session needs isolated queue/config/state and that large media should not be treated like ordinary event payloads.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https://developers.googleblog.com/beyond-request-response-architecting-real-time-bidirectional-streaming-multi-agent-system/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6-minute timer. Invite two fast demos: 30 seconds each. If the slot is 45 minutes, reduce to 3 minutes and ask participants to choose option A only. Target: 7–8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 demo: participants can now name what was happening under the hood. End with one concrete action—replace the fake tool with a safe, observable workflow. Leave the repo and QR on screen after the deck if possible.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c0b2b57c624f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b4ecd5b241436e" /><Relationship Type="http://schemas.openxmlformats.org/officeDocument/2006/relationships/slideLayout" Target="/ppt/slideLayouts/slideLayout1.xml" Id="R006a8736866e44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6a8736866e44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ebb2f8f1f429e" /><Relationship Type="http://schemas.openxmlformats.org/officeDocument/2006/relationships/notesSlide" Target="/ppt/notesSlides/notesSlide1.xml" Id="R3890898b81bf48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087e069114350" /><Relationship Type="http://schemas.openxmlformats.org/officeDocument/2006/relationships/notesSlide" Target="/ppt/notesSlides/notesSlide2.xml" Id="Rec9994d70ba047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fffd16bc847e4" /><Relationship Type="http://schemas.openxmlformats.org/officeDocument/2006/relationships/notesSlide" Target="/ppt/notesSlides/notesSlide3.xml" Id="Rc5263127ffe441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d4951043242ff" /><Relationship Type="http://schemas.openxmlformats.org/officeDocument/2006/relationships/notesSlide" Target="/ppt/notesSlides/notesSlide4.xml" Id="R889735aa54b247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7744d22604392" /><Relationship Type="http://schemas.openxmlformats.org/officeDocument/2006/relationships/notesSlide" Target="/ppt/notesSlides/notesSlide5.xml" Id="R47cab46930004a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c375cb9754093" /><Relationship Type="http://schemas.openxmlformats.org/officeDocument/2006/relationships/notesSlide" Target="/ppt/notesSlides/notesSlide6.xml" Id="R9b45c10ccd8d48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29fbf4cbf475a" /><Relationship Type="http://schemas.openxmlformats.org/officeDocument/2006/relationships/notesSlide" Target="/ppt/notesSlides/notesSlide7.xml" Id="R1c28214ffc534f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b5359fc3e40b0" /><Relationship Type="http://schemas.openxmlformats.org/officeDocument/2006/relationships/notesSlide" Target="/ppt/notesSlides/notesSlide8.xml" Id="R7b680226ad954b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4ca89d30945af" /><Relationship Type="http://schemas.openxmlformats.org/officeDocument/2006/relationships/notesSlide" Target="/ppt/notesSlides/notesSlide9.xml" Id="Rf517448fe76c47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f4db2129c4732" /><Relationship Type="http://schemas.openxmlformats.org/officeDocument/2006/relationships/notesSlide" Target="/ppt/notesSlides/notesSlide10.xml" Id="R30bdf8632a0245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5e28425ab4a17" /><Relationship Type="http://schemas.openxmlformats.org/officeDocument/2006/relationships/notesSlide" Target="/ppt/notesSlides/notesSlide11.xml" Id="R1a19dfec861d4c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d116cbf8f41e0" /><Relationship Type="http://schemas.openxmlformats.org/officeDocument/2006/relationships/notesSlide" Target="/ppt/notesSlides/notesSlide12.xml" Id="Re40d3127daf74b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96d6dfce3497b" /><Relationship Type="http://schemas.openxmlformats.org/officeDocument/2006/relationships/notesSlide" Target="/ppt/notesSlides/notesSlide13.xml" Id="R389c6bdbaf424f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714bde8194f5c" /><Relationship Type="http://schemas.openxmlformats.org/officeDocument/2006/relationships/notesSlide" Target="/ppt/notesSlides/notesSlide14.xml" Id="Rb16683b79e4b4e2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ab537a369452a" /><Relationship Type="http://schemas.openxmlformats.org/officeDocument/2006/relationships/notesSlide" Target="/ppt/notesSlides/notesSlide15.xml" Id="R17d80220e2444d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6085668a64e1a" /><Relationship Type="http://schemas.openxmlformats.org/officeDocument/2006/relationships/notesSlide" Target="/ppt/notesSlides/notesSlide16.xml" Id="Racf368448e18442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dcc98e37748dd" /><Relationship Type="http://schemas.openxmlformats.org/officeDocument/2006/relationships/notesSlide" Target="/ppt/notesSlides/notesSlide17.xml" Id="Re8c7cbdefda647a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b0112f5894245" /><Relationship Type="http://schemas.openxmlformats.org/officeDocument/2006/relationships/notesSlide" Target="/ppt/notesSlides/notesSlide18.xml" Id="R7b22dfbca6874d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8E7350-3552-4671-8002-B0F028E3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DDBBC-F24C-4C39-8371-C8F6EE21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8D9FF"/>
                </a:solidFill>
              </a:defRPr>
            </a:pPr>
            <a:r>
              <a:rPr sz="1200" b="1" i="0">
                <a:solidFill>
                  <a:srgbClr val="38D9FF"/>
                </a:solidFill>
              </a:rPr>
              <a:t>GUIDED HANDS-ON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FA37F-D6D6-4508-95ED-081749BC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7810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EAF2FF"/>
                </a:solidFill>
              </a:defRPr>
            </a:pPr>
            <a:r>
              <a:rPr sz="4350" b="1" i="0">
                <a:solidFill>
                  <a:srgbClr val="EAF2FF"/>
                </a:solidFill>
              </a:rPr>
              <a:t>Building Voice Agents</a:t>
            </a:r>
          </a:p>
          <a:p xmlns:a="http://schemas.openxmlformats.org/drawingml/2006/main">
            <a:pPr algn="l">
              <a:defRPr sz="4350" b="1" i="0">
                <a:solidFill>
                  <a:srgbClr val="EAF2FF"/>
                </a:solidFill>
              </a:defRPr>
            </a:pPr>
            <a:r>
              <a:rPr sz="4350" b="1" i="0">
                <a:solidFill>
                  <a:srgbClr val="EAF2FF"/>
                </a:solidFill>
              </a:rPr>
              <a:t>with Google ADK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36C58-7A0D-48D9-8B8B-55B84131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78F0B2"/>
                </a:solidFill>
              </a:defRPr>
            </a:pPr>
            <a:r>
              <a:rPr sz="1950" b="1" i="0">
                <a:solidFill>
                  <a:srgbClr val="78F0B2"/>
                </a:solidFill>
              </a:rPr>
              <a:t>From 10 lines of Python to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CC0BD-8523-4D6B-BC23-9FBF396B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Saturday session  •  45–60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D02A7-F4D3-4E46-9917-17E9D2E0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781050"/>
            <a:ext cx="2857500" cy="4762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399067-6DDC-402C-8CCB-82446BE1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907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B724E2-377F-443D-BD86-97864A2D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954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E68F4-2734-4AE2-8AB7-69DC959E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E576B-D4B8-4379-A402-843980F3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6002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92DDF-2E97-4179-9D0A-4136ED62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02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CDE619-BC55-416F-81CD-D0A0AC1C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9335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40A2A-0A79-49C1-B2EB-EDA4E293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6573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7C795D-2A3F-4455-8EFF-0CE945C4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4668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434A0-BB6D-433D-967B-BF3E9950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6859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A33F56-7B29-4A68-A88F-DD58875D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8478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CB5FF5-46CF-41E9-9E18-297CFE7F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812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C33907-E015-4560-BFC1-075A35E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17811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ECA5A8-4732-4668-A9AC-7C411EBA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5621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D747D3-988D-48E7-849A-7A2CDC93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14BA9-0610-4ADF-8B37-E20EF1D6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9240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3E03B6-ECCE-4B01-AFAE-2347F167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0002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694FF3-702C-4EBE-A3D4-9E765090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06C130-E232-414E-964D-F4C238E0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19475"/>
            <a:ext cx="1181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08111D"/>
                </a:solidFill>
              </a:defRPr>
            </a:pPr>
            <a:r>
              <a:rPr sz="1800" b="1" i="0">
                <a:solidFill>
                  <a:srgbClr val="08111D"/>
                </a:solidFill>
              </a:rPr>
              <a:t>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1018E0-8908-49AB-8972-AECF1231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0"/>
            <a:ext cx="230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speak  •  interrupt  •  call tools</a:t>
            </a:r>
          </a:p>
        </p:txBody>
      </p:sp>
    </p:spTree>
    <p:extLst>
      <p:ext uri="{BB962C8B-B14F-4D97-AF65-F5344CB8AC3E}">
        <p14:creationId xmlns:p14="http://schemas.microsoft.com/office/powerpoint/2010/main" val="8609920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01D520-23B5-4B61-A1E5-E151B245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B83694-BF27-44C2-BFCC-B1AF79B5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33BAD-5051-400D-9F85-4C0702AB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Watch three things happen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1F418-29E9-4E05-AD47-8161DB8F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Ask. Interrupt. See the tool complete.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A582B-B2F7-49F6-93DA-984CAD8A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53DEE-1CF8-4D38-A9C6-2A60675D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D5927-F2D0-4E88-B5FF-D618E2B8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430C20-B307-4009-8A69-10C29C74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EAF2FF"/>
                </a:solidFill>
              </a:defRPr>
            </a:pPr>
            <a:r>
              <a:rPr sz="2550" b="1" i="0">
                <a:solidFill>
                  <a:srgbClr val="EAF2FF"/>
                </a:solidFill>
              </a:rPr>
              <a:t>1  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D73CA-8DB3-49C5-A643-D43448FE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9AAEC4"/>
                </a:solidFill>
              </a:defRPr>
            </a:pPr>
            <a:r>
              <a:rPr sz="1575" b="0" i="0">
                <a:solidFill>
                  <a:srgbClr val="9AAEC4"/>
                </a:solidFill>
              </a:rPr>
              <a:t>2  INTERRUPT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C3741-C097-4CC5-A248-238387E3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78F0B2"/>
                </a:solidFill>
              </a:defRPr>
            </a:pPr>
            <a:r>
              <a:rPr sz="2550" b="1" i="0">
                <a:solidFill>
                  <a:srgbClr val="78F0B2"/>
                </a:solidFill>
              </a:rPr>
              <a:t>3  TOOL COMPLETES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9EBF6-C47E-4698-9A24-61F6C157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2800350" cy="24193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30044-C537-49E6-8666-438939D0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765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6FF46-8538-4811-A1FF-90379BE2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981325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9B873-2BCA-4630-A249-DA0629C6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373E9-B34D-416C-94BE-9E298813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600325"/>
            <a:ext cx="381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9445A-5C86-4398-B068-62267E8A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57500"/>
            <a:ext cx="381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51676-12BA-4B38-A5FF-6D0201C5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E72577-BABA-4609-8290-15724D8F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381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023A73-C0F2-4476-A19A-144708C5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95550"/>
            <a:ext cx="381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3713F-8509-4055-9A0B-BBF8CE49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1462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B6F751-49C3-41DD-9CE0-8A1DD145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9432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0DF0D-01EB-4962-870A-D82E8486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0670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C68991-7951-4F06-8809-BA0288D8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895600"/>
            <a:ext cx="381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BFBE33-89AA-457F-8AD4-4D491292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86050"/>
            <a:ext cx="381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C74DC2-8F34-4BBB-B91D-C3E87663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8289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969C63-8550-4188-9117-D1A4FCDC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D0DA8-B9A2-4DEA-8881-8FF1BC0F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38600"/>
            <a:ext cx="2190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5B4EE7-D5CA-4FC7-901F-A99384CF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10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6B7A"/>
                </a:solidFill>
              </a:defRPr>
            </a:pPr>
            <a:r>
              <a:rPr sz="1350" b="1" i="0">
                <a:solidFill>
                  <a:srgbClr val="FF6B7A"/>
                </a:solidFill>
              </a:rPr>
              <a:t>interrupt here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B54639-FCA8-472A-B426-CE6A0228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8D9FF"/>
                </a:solidFill>
              </a:defRPr>
            </a:pPr>
            <a:r>
              <a:rPr sz="1200" b="1" i="0">
                <a:solidFill>
                  <a:srgbClr val="38D9FF"/>
                </a:solidFill>
              </a:rPr>
              <a:t>The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3F2372-5C25-4207-B437-BEB08545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733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EAF2FF"/>
                </a:solidFill>
              </a:defRPr>
            </a:pPr>
            <a:r>
              <a:rPr sz="1575" b="0" i="0">
                <a:solidFill>
                  <a:srgbClr val="EAF2FF"/>
                </a:solidFill>
              </a:rPr>
              <a:t>The agent stops speaking and keeps your correction.</a:t>
            </a:r>
          </a:p>
        </p:txBody>
      </p:sp>
    </p:spTree>
    <p:extLst>
      <p:ext uri="{BB962C8B-B14F-4D97-AF65-F5344CB8AC3E}">
        <p14:creationId xmlns:p14="http://schemas.microsoft.com/office/powerpoint/2010/main" val="6707110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22A753-1066-40F2-AFF3-F51E60EE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BE487-EC80-4C19-84A5-2E4EBF60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C857"/>
                </a:solidFill>
              </a:defRPr>
            </a:pPr>
            <a:r>
              <a:rPr sz="1125" b="1" i="0">
                <a:solidFill>
                  <a:srgbClr val="FFC857"/>
                </a:solidFill>
              </a:rPr>
              <a:t>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DEE53-8F9A-416B-92F0-32F5FA0C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By the end, your agent will talk 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F1711-74BF-49CA-A6DF-4118BBB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We will build in checkpoints, so nobody gets stranded.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F610E-CCD7-4142-B941-17CA18CB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75933-3CB8-4B7C-8CC0-0AEC8A34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C12BDF-6B22-4E67-BEF1-9CD14B66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224D0-77D1-43C3-9A6E-8A0DC28B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0325"/>
            <a:ext cx="885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4D1AC-FC44-49AB-85AE-D8B98D75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9525">
            <a:solidFill>
              <a:srgbClr val="38D9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B79A19-DBCC-47B4-8BFA-AC47ABE6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8111D"/>
                </a:solidFill>
              </a:defRPr>
            </a:pPr>
            <a:r>
              <a:rPr sz="1350" b="1" i="0">
                <a:solidFill>
                  <a:srgbClr val="08111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9A8A8A-000B-4951-B139-771CB5F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31A80-C5A0-482B-9B0C-07190080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9525">
            <a:solidFill>
              <a:srgbClr val="78F0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BB618-0090-453E-AB6C-BCE553B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8111D"/>
                </a:solidFill>
              </a:defRPr>
            </a:pPr>
            <a:r>
              <a:rPr sz="1350" b="1" i="0">
                <a:solidFill>
                  <a:srgbClr val="08111D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C873B3-7B5E-49D5-99F8-0A91BEF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390775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56E189-A818-422A-822B-94181778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9C111-9068-4E52-8284-271AAA3E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8111D"/>
                </a:solidFill>
              </a:defRPr>
            </a:pPr>
            <a:r>
              <a:rPr sz="1350" b="1" i="0">
                <a:solidFill>
                  <a:srgbClr val="08111D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19780-21E5-4692-84AF-9EDA4C7A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90775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70AA2A-C2D3-40FA-B204-43E94E15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9525">
            <a:solidFill>
              <a:srgbClr val="FFC8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80832D-A2D5-4D3C-A73E-C0F4B4A5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8111D"/>
                </a:solidFill>
              </a:defRPr>
            </a:pPr>
            <a:r>
              <a:rPr sz="1350" b="1" i="0">
                <a:solidFill>
                  <a:srgbClr val="08111D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A6B28B-4BDA-4A29-881A-0AA42F60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390775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C80F2B-5661-4EB0-8924-058E8909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Basic 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D2DEEB-F4EF-41D3-B2CA-B5DF6066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Tool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A58527-6C28-4ECD-87AB-0A41604F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Live audio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D9F7EF-8676-4972-BED8-7C4EE61D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Latency +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2FCCF4-8DCA-42F3-8152-9944923A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62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78F0B2"/>
                </a:solidFill>
              </a:defRPr>
            </a:pPr>
            <a:r>
              <a:rPr sz="2100" b="1" i="0">
                <a:solidFill>
                  <a:srgbClr val="78F0B2"/>
                </a:solidFill>
              </a:rPr>
              <a:t>You type only the pieces that teach the idea. Checkpoints carry the rest.</a:t>
            </a:r>
          </a:p>
        </p:txBody>
      </p:sp>
    </p:spTree>
    <p:extLst>
      <p:ext uri="{BB962C8B-B14F-4D97-AF65-F5344CB8AC3E}">
        <p14:creationId xmlns:p14="http://schemas.microsoft.com/office/powerpoint/2010/main" val="18784401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1DFF24-4157-4A2E-A1B8-2222E725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AD535-4A09-4A98-9B95-16DA43D7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8F0B2"/>
                </a:solidFill>
              </a:defRPr>
            </a:pPr>
            <a:r>
              <a:rPr sz="1125" b="1" i="0">
                <a:solidFill>
                  <a:srgbClr val="78F0B2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747BC-E9AB-4594-A2CB-836E8EB0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Get to a green check before we start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785F1-9928-41D0-93DC-C68A7CF5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Scan the repo, open the starter, and run the preflight.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1766DE-0BC0-4755-8D8B-EBC74599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B6863-48C2-4B11-8C38-531524DE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2C43A-826B-438C-AE2D-B2304C24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723B7-8A21-48FE-A8DC-A2D68EDF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628900" cy="30480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050A10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62A6A-1463-477B-ADE4-2007EC15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464BD-39D9-432B-BF9F-52071DF8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F7614-A0DA-4F1B-8ADE-5DDE57EF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E6A9B-3B16-463C-B067-BB9E9D1D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357D9-5770-4712-9C4A-84AF5073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526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uv sync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uv run python scripts/preflight.py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# Expected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✓ READY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04C0F-D316-4EFA-B580-1D6899B4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66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38D9FF"/>
                </a:solidFill>
              </a:defRPr>
            </a:pPr>
            <a:r>
              <a:rPr sz="2250" b="1" i="0">
                <a:solidFill>
                  <a:srgbClr val="38D9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2B8801-660E-4C08-BD8D-3109B273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Open the workshop repo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D634B-2EB9-42FD-8919-EE59AD83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86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38D9FF"/>
                </a:solidFill>
              </a:defRPr>
            </a:pPr>
            <a:r>
              <a:rPr sz="2250" b="1" i="0">
                <a:solidFill>
                  <a:srgbClr val="38D9FF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08EB4-0111-454F-8DA9-BBAC8EF1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242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Use the prepared environment + API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DCB728-7F91-42AE-90DD-620852E4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05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38D9FF"/>
                </a:solidFill>
              </a:defRPr>
            </a:pPr>
            <a:r>
              <a:rPr sz="2250" b="1" i="0">
                <a:solidFill>
                  <a:srgbClr val="38D9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9AF7CF-E78B-48B1-A6ED-007BB18D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43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Run the preflight → see ✓ 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1D149-AB56-4294-AA28-265E9EE3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62500"/>
            <a:ext cx="6629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1A249E-FE28-4310-B388-16D8C086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72050"/>
            <a:ext cx="611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8F0B2"/>
                </a:solidFill>
              </a:defRPr>
            </a:pPr>
            <a:r>
              <a:rPr sz="1500" b="1" i="0">
                <a:solidFill>
                  <a:srgbClr val="78F0B2"/>
                </a:solidFill>
              </a:rPr>
              <a:t>Stuck? Jump to the next checkpoint folder and keep moving.</a:t>
            </a:r>
          </a:p>
        </p:txBody>
      </p:sp>
    </p:spTree>
    <p:extLst>
      <p:ext uri="{BB962C8B-B14F-4D97-AF65-F5344CB8AC3E}">
        <p14:creationId xmlns:p14="http://schemas.microsoft.com/office/powerpoint/2010/main" val="141629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F92868-306F-4D70-8380-8AE89981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209A9-4EDD-4710-941B-B31CBB76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C857"/>
                </a:solidFill>
              </a:defRPr>
            </a:pPr>
            <a:r>
              <a:rPr sz="1125" b="1" i="0">
                <a:solidFill>
                  <a:srgbClr val="FFC857"/>
                </a:solidFill>
              </a:rPr>
              <a:t>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585C3-D1F2-4005-B547-C71518DB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Build first. Explain the machinery second.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04F6A-9209-4286-9AD2-AC72A257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The workshop alternates short demos with immediate practice.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FA478-ED5A-46F3-9A6F-8E6DE452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933D40-A075-41A9-8F08-AD5675FD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21316-BF00-4165-9308-4C462163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083D2-E2BB-42CB-AB7F-431CC57B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9382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16D30-E203-41F4-AEB1-CB4D525B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394A3D-41A3-42A7-A351-2E5B29A0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111D"/>
                </a:solidFill>
              </a:defRPr>
            </a:pPr>
            <a:r>
              <a:rPr sz="1200" b="1" i="0">
                <a:solidFill>
                  <a:srgbClr val="08111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67B4F-8764-48A7-9B54-80260BC1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AF2FF"/>
                </a:solidFill>
              </a:defRPr>
            </a:pPr>
            <a:r>
              <a:rPr sz="1275" b="1" i="0">
                <a:solidFill>
                  <a:srgbClr val="EAF2FF"/>
                </a:solidFill>
              </a:rPr>
              <a:t>HOOK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D975F-024C-4152-ADE1-756FD979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AAEC4"/>
                </a:solidFill>
              </a:defRPr>
            </a:pPr>
            <a:r>
              <a:rPr sz="1125" b="0" i="0">
                <a:solidFill>
                  <a:srgbClr val="9AAEC4"/>
                </a:solidFill>
              </a:rPr>
              <a:t>0–5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BA795-11ED-49F6-BB44-19FE85CA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DCAD7-3EBD-4914-B093-B3AE6EB3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111D"/>
                </a:solidFill>
              </a:defRPr>
            </a:pPr>
            <a:r>
              <a:rPr sz="1200" b="1" i="0">
                <a:solidFill>
                  <a:srgbClr val="08111D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E98967-2937-43EB-AEE8-6F32725C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AF2FF"/>
                </a:solidFill>
              </a:defRPr>
            </a:pPr>
            <a:r>
              <a:rPr sz="1275" b="1" i="0">
                <a:solidFill>
                  <a:srgbClr val="EAF2FF"/>
                </a:solidFill>
              </a:rPr>
              <a:t>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CC8FFA-BBCB-4236-8CCB-E6C14C04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AAEC4"/>
                </a:solidFill>
              </a:defRPr>
            </a:pPr>
            <a:r>
              <a:rPr sz="1125" b="0" i="0">
                <a:solidFill>
                  <a:srgbClr val="9AAEC4"/>
                </a:solidFill>
              </a:rPr>
              <a:t>5–15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88B86-EC68-4D6F-B200-4E5EA258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701C6-D4BE-455F-99C8-C32201E8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111D"/>
                </a:solidFill>
              </a:defRPr>
            </a:pPr>
            <a:r>
              <a:rPr sz="1200" b="1" i="0">
                <a:solidFill>
                  <a:srgbClr val="08111D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752563-89A1-4D98-BA94-075AE8B7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AF2FF"/>
                </a:solidFill>
              </a:defRPr>
            </a:pPr>
            <a:r>
              <a:rPr sz="1275" b="1" i="0">
                <a:solidFill>
                  <a:srgbClr val="EAF2FF"/>
                </a:solidFill>
              </a:rPr>
              <a:t>TOOL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1D8987-27F8-4EEC-A686-998BC891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AAEC4"/>
                </a:solidFill>
              </a:defRPr>
            </a:pPr>
            <a:r>
              <a:rPr sz="1125" b="0" i="0">
                <a:solidFill>
                  <a:srgbClr val="9AAEC4"/>
                </a:solidFill>
              </a:rPr>
              <a:t>15–24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DCE8C2-687C-4399-9489-60F15E4A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C40D6B-A80C-4DBB-8507-E7002CE4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111D"/>
                </a:solidFill>
              </a:defRPr>
            </a:pPr>
            <a:r>
              <a:rPr sz="1200" b="1" i="0">
                <a:solidFill>
                  <a:srgbClr val="08111D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8C47BE-8C41-47AD-89CC-C6C95459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AF2FF"/>
                </a:solidFill>
              </a:defRPr>
            </a:pPr>
            <a:r>
              <a:rPr sz="1275" b="1" i="0">
                <a:solidFill>
                  <a:srgbClr val="EAF2FF"/>
                </a:solidFill>
              </a:rPr>
              <a:t>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88F323-C301-4B4F-8CF0-EA7C66ED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AAEC4"/>
                </a:solidFill>
              </a:defRPr>
            </a:pPr>
            <a:r>
              <a:rPr sz="1125" b="0" i="0">
                <a:solidFill>
                  <a:srgbClr val="9AAEC4"/>
                </a:solidFill>
              </a:rPr>
              <a:t>24–35 min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09321E-16A7-4C6E-875A-773CEBC2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328AEE-2B66-4902-8A2E-F2897303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111D"/>
                </a:solidFill>
              </a:defRPr>
            </a:pPr>
            <a:r>
              <a:rPr sz="1200" b="1" i="0">
                <a:solidFill>
                  <a:srgbClr val="08111D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656A6F-BAD2-4324-B600-0A8B27D0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AF2FF"/>
                </a:solidFill>
              </a:defRPr>
            </a:pPr>
            <a:r>
              <a:rPr sz="1275" b="1" i="0">
                <a:solidFill>
                  <a:srgbClr val="EAF2FF"/>
                </a:solidFill>
              </a:rPr>
              <a:t>BREAK 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3BC25F-2603-465A-B523-E031E8E8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AAEC4"/>
                </a:solidFill>
              </a:defRPr>
            </a:pPr>
            <a:r>
              <a:rPr sz="1125" b="0" i="0">
                <a:solidFill>
                  <a:srgbClr val="9AAEC4"/>
                </a:solidFill>
              </a:rPr>
              <a:t>35–46 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D5E58-2DFD-4D08-AEF9-95F57C84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552D65-7EB7-407A-B02A-EEB11B99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111D"/>
                </a:solidFill>
              </a:defRPr>
            </a:pPr>
            <a:r>
              <a:rPr sz="1200" b="1" i="0">
                <a:solidFill>
                  <a:srgbClr val="08111D"/>
                </a:solidFill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D815E0-A084-4DF1-945D-3E71E97A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EAF2FF"/>
                </a:solidFill>
              </a:defRPr>
            </a:pPr>
            <a:r>
              <a:rPr sz="1275" b="1" i="0">
                <a:solidFill>
                  <a:srgbClr val="EAF2FF"/>
                </a:solidFill>
              </a:rPr>
              <a:t>SHIP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2E1570-465A-452B-B220-6BB2EB3F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9AAEC4"/>
                </a:solidFill>
              </a:defRPr>
            </a:pPr>
            <a:r>
              <a:rPr sz="1125" b="0" i="0">
                <a:solidFill>
                  <a:srgbClr val="9AAEC4"/>
                </a:solidFill>
              </a:rPr>
              <a:t>46–58 min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691327-224F-4CAE-9997-52F06C46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14900"/>
            <a:ext cx="956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78F0B2"/>
                </a:solidFill>
              </a:defRPr>
            </a:pPr>
            <a:r>
              <a:rPr sz="1800" b="1" i="0">
                <a:solidFill>
                  <a:srgbClr val="78F0B2"/>
                </a:solidFill>
              </a:rPr>
              <a:t>If time is tight: skip the custom WebSocket code walkthrough, not the hands-on voice test.</a:t>
            </a:r>
          </a:p>
        </p:txBody>
      </p:sp>
    </p:spTree>
    <p:extLst>
      <p:ext uri="{BB962C8B-B14F-4D97-AF65-F5344CB8AC3E}">
        <p14:creationId xmlns:p14="http://schemas.microsoft.com/office/powerpoint/2010/main" val="6052806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A32DF8-8579-463C-BBF8-F7796B03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0D8097-15A0-46C9-B9A8-C2B790EF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C857"/>
                </a:solidFill>
              </a:defRPr>
            </a:pPr>
            <a:r>
              <a:rPr sz="1125" b="1" i="0">
                <a:solidFill>
                  <a:srgbClr val="FFC857"/>
                </a:solidFill>
              </a:rPr>
              <a:t>I SHOW → 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32182-B146-42A4-B8BF-63D08F5E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An agent is a model with a job and tools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57BEC-51A0-4B11-8C7D-3F0F4A6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Start with the smallest thing that can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B49BB-7B68-4511-A87E-19ADC71E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732FC-3EEC-4A51-955D-AFD569A9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5DBB2-5043-4BD4-86B3-C3C19B73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4E3ED-ABC9-49BB-844A-751F3469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5341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050A10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02C4E7-A10C-4436-A76A-C6C4279A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BC5F0-DAC2-4298-89C8-FEBCA40C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038FB0-66E5-475E-B923-4241B925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7F2BB9-25D8-4A03-8927-EBBD7AF1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09110-3302-44AA-8AF6-43CBA4B4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60579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from google.adk.agents import Agent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from adk_voice_workshop.config import text_model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root_agent = Agent(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name="room_agent",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model=text_model(),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instruction="Help people find a room.",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A7437-706F-42A4-8074-D6820A54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8D9FF"/>
                </a:solidFill>
              </a:defRPr>
            </a:pPr>
            <a:r>
              <a:rPr sz="1800" b="1" i="0">
                <a:solidFill>
                  <a:srgbClr val="38D9FF"/>
                </a:solidFill>
              </a:rPr>
              <a:t>Three decisions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95FD76-E6B1-4D09-B1DB-6216F92D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765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name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95EF4-14C3-48C6-87CE-A01D2D92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identity in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DA404D-E54A-4E89-A339-EE98C8BF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6FD58B-75D0-403D-8CB9-144DA453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05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text model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AA9E0-A136-45AB-BCB3-B3B2BA82A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9AAEC4"/>
                </a:solidFill>
              </a:defRPr>
            </a:pPr>
            <a:r>
              <a:rPr sz="1275" b="0" i="0">
                <a:solidFill>
                  <a:srgbClr val="9AAEC4"/>
                </a:solidFill>
              </a:rPr>
              <a:t>instruction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F7ACC-948F-4EF9-B2D0-CBAD19A2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EAF2FF"/>
                </a:solidFill>
              </a:defRPr>
            </a:pPr>
            <a:r>
              <a:rPr sz="1425" b="0" i="0">
                <a:solidFill>
                  <a:srgbClr val="EAF2FF"/>
                </a:solidFill>
              </a:rPr>
              <a:t>behavior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27B3B3-92A4-45B9-A535-04F949F0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393CF1-2F22-457E-9BE2-E382216A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05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8F0B2"/>
                </a:solidFill>
              </a:defRPr>
            </a:pPr>
            <a:r>
              <a:rPr sz="1275" b="1" i="0">
                <a:solidFill>
                  <a:srgbClr val="78F0B2"/>
                </a:solidFill>
              </a:rPr>
              <a:t>Run checkpoint 01. Ask one question.</a:t>
            </a:r>
          </a:p>
        </p:txBody>
      </p:sp>
    </p:spTree>
    <p:extLst>
      <p:ext uri="{BB962C8B-B14F-4D97-AF65-F5344CB8AC3E}">
        <p14:creationId xmlns:p14="http://schemas.microsoft.com/office/powerpoint/2010/main" val="16875237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99BE7C-69AB-477C-B2F2-CA860779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137DD-55C1-416C-85EC-57AA6776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8F0B2"/>
                </a:solidFill>
              </a:defRPr>
            </a:pPr>
            <a:r>
              <a:rPr sz="1125" b="1" i="0">
                <a:solidFill>
                  <a:srgbClr val="78F0B2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1E70E-87C9-4CD8-BE41-48F78825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Make the instruction observable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0555C-81A1-46B9-8B61-58C8903A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Change one behavior, then prove it 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110FF-E9D0-4E0F-94B6-5B76453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5C0B5-4DCF-43B0-BA32-2F525AE7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BF2A9-7C88-4DAC-B2FB-4BE94D2E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773BA-505C-4506-8908-E2B1FAED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8F0B2"/>
                </a:solidFill>
              </a:defRPr>
            </a:pPr>
            <a:r>
              <a:rPr sz="1200" b="1" i="0">
                <a:solidFill>
                  <a:srgbClr val="78F0B2"/>
                </a:solidFill>
              </a:rPr>
              <a:t>TASK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455F8-1C03-4DF3-A885-86A197C7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EAF2FF"/>
                </a:solidFill>
              </a:defRPr>
            </a:pPr>
            <a:r>
              <a:rPr sz="2250" b="1" i="0">
                <a:solidFill>
                  <a:srgbClr val="EAF2FF"/>
                </a:solidFill>
              </a:rPr>
              <a:t>Ask exactly one follow-up before recommending a room.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539976-146C-4651-815F-C97243F0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8D9FF"/>
                </a:solidFill>
              </a:defRPr>
            </a:pPr>
            <a:r>
              <a:rPr sz="1200" b="1" i="0">
                <a:solidFill>
                  <a:srgbClr val="38D9FF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DD49F-DFDB-440D-A018-8F89184D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1">
                <a:solidFill>
                  <a:srgbClr val="38D9FF"/>
                </a:solidFill>
              </a:defRPr>
            </a:pPr>
            <a:r>
              <a:rPr sz="2025" b="0" i="1">
                <a:solidFill>
                  <a:srgbClr val="38D9FF"/>
                </a:solidFill>
              </a:rPr>
              <a:t>“Find me a room tomorrow.”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76C5FA-A98F-4639-8F1B-045B23A3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3147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AF2EA-9FA3-42CD-BC44-62A71E8B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C857"/>
                </a:solidFill>
              </a:defRPr>
            </a:pPr>
            <a:r>
              <a:rPr sz="1200" b="1" i="0">
                <a:solidFill>
                  <a:srgbClr val="FFC857"/>
                </a:solidFill>
              </a:rPr>
              <a:t>DONE WHEN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33B95-923E-47B6-A09A-930F023B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813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78F0B2"/>
                </a:solidFill>
              </a:defRPr>
            </a:pPr>
            <a:r>
              <a:rPr sz="2100" b="1" i="0">
                <a:solidFill>
                  <a:srgbClr val="78F0B2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49DEA-5F10-4EE0-A4D6-591D0ECC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194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It asks before acting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1772B-FC67-4A5F-BC5D-4FE167EA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4810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78F0B2"/>
                </a:solidFill>
              </a:defRPr>
            </a:pPr>
            <a:r>
              <a:rPr sz="2100" b="1" i="0">
                <a:solidFill>
                  <a:srgbClr val="78F0B2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15ADE8-EC5F-45CA-A9B2-69BAA3C7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862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The response stays short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0A4DC-F73B-42DB-8187-FA2A1089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9AAEC4"/>
                </a:solidFill>
              </a:defRPr>
            </a:pPr>
            <a:r>
              <a:rPr sz="1500" b="1" i="0">
                <a:solidFill>
                  <a:srgbClr val="9AAEC4"/>
                </a:solidFill>
              </a:rPr>
              <a:t>3 minutes</a:t>
            </a:r>
          </a:p>
        </p:txBody>
      </p:sp>
    </p:spTree>
    <p:extLst>
      <p:ext uri="{BB962C8B-B14F-4D97-AF65-F5344CB8AC3E}">
        <p14:creationId xmlns:p14="http://schemas.microsoft.com/office/powerpoint/2010/main" val="7119354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D7F6B3-2F7D-4B87-8ED8-ED1CA7A7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06AF2E-365C-4A3B-9B95-684FF960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C857"/>
                </a:solidFill>
              </a:defRPr>
            </a:pPr>
            <a:r>
              <a:rPr sz="1125" b="1" i="0">
                <a:solidFill>
                  <a:srgbClr val="FFC857"/>
                </a:solidFill>
              </a:rPr>
              <a:t>I SHOW → 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5B3AB-47F3-4D39-AA54-06181EE2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A clear function becomes a capability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5D9A4-A658-42B6-8552-BCC80D5B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The signature constrains inputs; the docstring teaches intent.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09695-2D47-43A7-BEA3-D0F3A548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4C47D-2276-41A3-A36E-B795B6AB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2861F-C9E3-4F66-9D82-672EBF52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A198E-7A01-4DB2-8DC7-0B17D38F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050A10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05C95E-9CE0-4694-8C79-58F6D2D3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0A0E84-0CDF-40E0-95F4-47D96810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5C8DB-74F1-4165-9A7E-2AF10F77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3C247-9B5F-439B-A2CF-35A5F035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9BBD6-6DED-4424-8CBC-81173789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54292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def find_rooms(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after_hour: int,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minimum_capacity: int = 1,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) -&gt; dict: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...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return {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    "status": "success",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    "rooms": matches,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E127B0-B359-43CF-821C-D93300C6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526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8F0B2"/>
                </a:solidFill>
              </a:defRPr>
            </a:pPr>
            <a:r>
              <a:rPr sz="1200" b="1" i="0">
                <a:solidFill>
                  <a:srgbClr val="78F0B2"/>
                </a:solidFill>
              </a:rPr>
              <a:t>STRUCTURED RESULT · find_rooms(16, 10)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07DB37-FEA0-49D6-B343-0C81F92B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40005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050A10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47BEE-F295-4A28-82D9-60699C9A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66675" cy="2686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B0BC88-3342-4AEA-886B-7BF955D0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F4A881-19D5-4E56-BDA6-EF7F5ABB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0A398F-1AB9-4C92-AEBA-01F74A56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70DF83-25AC-4109-9963-680F3B246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524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{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"status": "success",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"rooms": [{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"name": "Cedar",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"available_from": 17,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"capacity": 12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}]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3A2FC1-18AB-4C31-ACCB-CC879BA9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477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5E3891-4D7A-4A82-8A98-39407502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002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EAF2FF"/>
                </a:solidFill>
              </a:defRPr>
            </a:pPr>
            <a:r>
              <a:rPr sz="1500" b="1" i="0">
                <a:solidFill>
                  <a:srgbClr val="EAF2FF"/>
                </a:solidFill>
              </a:rPr>
              <a:t>Agent(..., tools=[find_rooms])</a:t>
            </a:r>
          </a:p>
        </p:txBody>
      </p:sp>
    </p:spTree>
    <p:extLst>
      <p:ext uri="{BB962C8B-B14F-4D97-AF65-F5344CB8AC3E}">
        <p14:creationId xmlns:p14="http://schemas.microsoft.com/office/powerpoint/2010/main" val="17815872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EBD85C-9C55-4371-B997-C122E13A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E0938-1320-4B2E-BEB9-C6ABEC3E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8F0B2"/>
                </a:solidFill>
              </a:defRPr>
            </a:pPr>
            <a:r>
              <a:rPr sz="1125" b="1" i="0">
                <a:solidFill>
                  <a:srgbClr val="78F0B2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9F4EE-8571-4C22-8F67-D4D3DAA2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Voice is a streaming session, not a TTS toggle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C31B12-69D2-4617-8F3A-74439781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Use the prepared playground first; custom plumbing comes later.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E08FF-0719-4A30-94DF-C3AC17F1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A99CA-B543-41F7-B764-559E3F91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C00240-9227-4712-9B3A-3EF7EF09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A936D-2D5A-40A0-ABE7-7DD70788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49530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7A1D8-6DA5-4D61-A85C-366666E5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A78BFA"/>
                </a:solidFill>
              </a:defRPr>
            </a:pPr>
            <a:r>
              <a:rPr sz="1200" b="1" i="0">
                <a:solidFill>
                  <a:srgbClr val="A78BFA"/>
                </a:solidFill>
              </a:rPr>
              <a:t>CHECKPOINT 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1E8E79-DBD1-4366-BCD0-8E86744A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00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EAF2FF"/>
                </a:solidFill>
              </a:defRPr>
            </a:pPr>
            <a:r>
              <a:rPr sz="1725" b="0" i="0">
                <a:solidFill>
                  <a:srgbClr val="EAF2FF"/>
                </a:solidFill>
              </a:rPr>
              <a:t>1. Start the dev UI</a:t>
            </a:r>
          </a:p>
          <a:p xmlns:a="http://schemas.openxmlformats.org/drawingml/2006/main">
            <a:pPr algn="l">
              <a:defRPr sz="1725" b="0" i="0">
                <a:solidFill>
                  <a:srgbClr val="EAF2FF"/>
                </a:solidFill>
              </a:defRPr>
            </a:pPr>
            <a:r>
              <a:rPr sz="1725" b="0" i="0">
                <a:solidFill>
                  <a:srgbClr val="EAF2FF"/>
                </a:solidFill>
              </a:rPr>
              <a:t>2. Select the agent</a:t>
            </a:r>
          </a:p>
          <a:p xmlns:a="http://schemas.openxmlformats.org/drawingml/2006/main">
            <a:pPr algn="l">
              <a:defRPr sz="1725" b="0" i="0">
                <a:solidFill>
                  <a:srgbClr val="EAF2FF"/>
                </a:solidFill>
              </a:defRPr>
            </a:pPr>
            <a:r>
              <a:rPr sz="1725" b="0" i="0">
                <a:solidFill>
                  <a:srgbClr val="EAF2FF"/>
                </a:solidFill>
              </a:rPr>
              <a:t>3. Allow microphone access</a:t>
            </a:r>
          </a:p>
          <a:p xmlns:a="http://schemas.openxmlformats.org/drawingml/2006/main">
            <a:pPr algn="l">
              <a:defRPr sz="1725" b="0" i="0">
                <a:solidFill>
                  <a:srgbClr val="EAF2FF"/>
                </a:solidFill>
              </a:defRPr>
            </a:pPr>
            <a:r>
              <a:rPr sz="1725" b="0" i="0">
                <a:solidFill>
                  <a:srgbClr val="EAF2FF"/>
                </a:solidFill>
              </a:rPr>
              <a:t>4. Ask for a room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587914-F02B-4D6D-B192-422A21EB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DD72BE-A138-4706-8A74-6EEC9AED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527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08111D"/>
                </a:solidFill>
              </a:defRPr>
            </a:pPr>
            <a:r>
              <a:rPr sz="2250" b="1" i="0">
                <a:solidFill>
                  <a:srgbClr val="08111D"/>
                </a:solidFill>
              </a:rPr>
              <a:t>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05C007-3CCD-4EC4-97CF-8734A956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B3919-03B3-47F5-95CC-C4D22CD7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D1870B-3F40-43D6-B889-F62D5D4A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93EDE9-E113-42CE-A7DA-60C09758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C56CB9-5957-4A14-9A17-9FB9C30F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815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D46953-6F30-4B3E-83FF-A9C285E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148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38BB8-14A9-4767-970A-703AF597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386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E97ACF-C1DE-4C2E-B397-6B7F5745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481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DDB59-EC83-4AB6-A160-7CAA9C7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672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F352FB-EBB4-4B3E-A302-05DC515B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6DE4D0-BC30-4CA6-82B0-CB565D12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C9DA5E-FABF-454D-A945-90BB57F5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624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18033D-6FBD-4DDB-8F34-F3310E78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434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4B6C5F-C323-43F6-A21B-E1BBE223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CF096A-9DDE-45B9-9381-20EED4BB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053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EABA1C-CEB4-44A8-A473-A47B6183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815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495DFD-364E-453C-B43E-13A712EF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36466A-5162-46C0-9619-06821ECB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44817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26F1FF-AE31-4BC7-9E0F-E7E0C38D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C6D321-75D8-4962-A95D-3BE46D53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910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3B9801-1B7D-4A3E-8B6B-2C37C614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721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Say: “Find a room after three.”</a:t>
            </a:r>
          </a:p>
        </p:txBody>
      </p:sp>
    </p:spTree>
    <p:extLst>
      <p:ext uri="{BB962C8B-B14F-4D97-AF65-F5344CB8AC3E}">
        <p14:creationId xmlns:p14="http://schemas.microsoft.com/office/powerpoint/2010/main" val="3213011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A64E5B-82E4-4836-90A1-FFB1C5AC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3EF838-3930-49A0-BCB0-DC1E2911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8F0B2"/>
                </a:solidFill>
              </a:defRPr>
            </a:pPr>
            <a:r>
              <a:rPr sz="1125" b="1" i="0">
                <a:solidFill>
                  <a:srgbClr val="78F0B2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9D120-A3E4-4B5C-9FB0-BAA787E3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Test beyond the happy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8DB10-3D94-4657-A3CC-74ACFE8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Voice quality emerges from timing, turn-taking, and recovery.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EC00D-4F1E-455E-8976-645B9C1F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F3FF7-324B-4496-B157-B647656D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0780F3-32C6-4583-AD92-F1D47D00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66ECEE-C433-4B27-A8A6-E496FBAB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8D9FF"/>
                </a:solidFill>
              </a:defRPr>
            </a:pPr>
            <a:r>
              <a:rPr sz="1350" b="1" i="0">
                <a:solidFill>
                  <a:srgbClr val="38D9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6CB05-FC6D-4B4E-8BF0-3AF50F16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Normal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3BD07-8ECF-4820-8152-6236DF4E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AAEC4"/>
                </a:solidFill>
              </a:defRPr>
            </a:pPr>
            <a:r>
              <a:rPr sz="1650" b="0" i="0">
                <a:solidFill>
                  <a:srgbClr val="9AAEC4"/>
                </a:solidFill>
              </a:rPr>
              <a:t>Ask once; let it finish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108E62-30E5-4FDF-9414-C7183F58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527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3C36D9-042B-4363-85F0-BEA77A9D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6B7A"/>
                </a:solidFill>
              </a:defRPr>
            </a:pPr>
            <a:r>
              <a:rPr sz="1350" b="1" i="0">
                <a:solidFill>
                  <a:srgbClr val="FF6B7A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FE557-1B9A-4523-8131-EDE07487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Interrupt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6B3D2-3E5D-4877-9A25-5CF3154E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765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AAEC4"/>
                </a:solidFill>
              </a:defRPr>
            </a:pPr>
            <a:r>
              <a:rPr sz="1650" b="0" i="0">
                <a:solidFill>
                  <a:srgbClr val="9AAEC4"/>
                </a:solidFill>
              </a:rPr>
              <a:t>Speak over the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B36A9F-68D8-4EC7-9900-1A1AF106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0C645D-669F-4210-889B-9246BC2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C857"/>
                </a:solidFill>
              </a:defRPr>
            </a:pPr>
            <a:r>
              <a:rPr sz="1350" b="1" i="0">
                <a:solidFill>
                  <a:srgbClr val="FFC857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74DED3-B290-4B61-B59C-9898B548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05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Pause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537E9-0481-4C06-91D8-498258E2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147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AAEC4"/>
                </a:solidFill>
              </a:defRPr>
            </a:pPr>
            <a:r>
              <a:rPr sz="1650" b="0" i="0">
                <a:solidFill>
                  <a:srgbClr val="9AAEC4"/>
                </a:solidFill>
              </a:rPr>
              <a:t>Stop mid-sentence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7EF7F-ADA6-4CE9-BE50-6844C2E9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08417B-E37E-4E5A-BF7B-A12C61C3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8F0B2"/>
                </a:solidFill>
              </a:defRPr>
            </a:pPr>
            <a:r>
              <a:rPr sz="1350" b="1" i="0">
                <a:solidFill>
                  <a:srgbClr val="78F0B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641311-D2A1-4F36-B69E-48188879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434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AF2FF"/>
                </a:solidFill>
              </a:defRPr>
            </a:pPr>
            <a:r>
              <a:rPr sz="1800" b="1" i="0">
                <a:solidFill>
                  <a:srgbClr val="EAF2FF"/>
                </a:solidFill>
              </a:rPr>
              <a:t>Correct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28E9B4-8E87-4759-A198-70EDDC89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529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AAEC4"/>
                </a:solidFill>
              </a:defRPr>
            </a:pPr>
            <a:r>
              <a:rPr sz="1650" b="0" i="0">
                <a:solidFill>
                  <a:srgbClr val="9AAEC4"/>
                </a:solidFill>
              </a:rPr>
              <a:t>Change ‘two’ to ‘three’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DE04C9-2ACA-4F4D-91EF-2A85A5E7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7D550B-2B6D-4B9F-B83B-6F242ADD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78F0B2"/>
                </a:solidFill>
              </a:defRPr>
            </a:pPr>
            <a:r>
              <a:rPr sz="1875" b="1" i="0">
                <a:solidFill>
                  <a:srgbClr val="78F0B2"/>
                </a:solidFill>
              </a:rPr>
              <a:t>Write down the first moment that feels awkward.</a:t>
            </a:r>
          </a:p>
        </p:txBody>
      </p:sp>
    </p:spTree>
    <p:extLst>
      <p:ext uri="{BB962C8B-B14F-4D97-AF65-F5344CB8AC3E}">
        <p14:creationId xmlns:p14="http://schemas.microsoft.com/office/powerpoint/2010/main" val="12189272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8EC4414-263D-411B-A973-CC1DBFA0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D123D9-B631-475B-8F92-5767E6D9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70BCD0-9732-4662-AF77-6D2FA0F5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Barge-in is a race between two audio streams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3E318-83F9-4BEF-A775-ADD7B22D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VAD decides activity; cancellation decides whether the agent yields.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40052-8F48-4D48-948F-3B4FCEB7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6E488-C94B-4C98-B184-7527F53F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BD9B5-7149-4207-B9DB-D4538807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CD8972-28A9-4F3C-93D3-CC3272AA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8F0B2"/>
                </a:solidFill>
              </a:defRPr>
            </a:pPr>
            <a:r>
              <a:rPr sz="1350" b="1" i="0">
                <a:solidFill>
                  <a:srgbClr val="78F0B2"/>
                </a:solidFill>
              </a:rPr>
              <a:t>USER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3A720-ACD1-463E-97B5-4443DF06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288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EF166-0E90-4AC7-929C-6B4FA4FC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526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D8C9BB-8E84-4046-A5FB-48FF9A5A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193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56A1A-3E2C-4808-A2C0-2D6E9E71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57400"/>
            <a:ext cx="3810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FE50E-A544-49D0-8730-53653F5F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38375"/>
            <a:ext cx="381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3566B-8CE6-419A-BC94-AA22E0A5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38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82828D-E30B-4770-B31E-3F56EC09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621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48C84-97F3-4FA1-B7BA-537CFE24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43100"/>
            <a:ext cx="38100" cy="1143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0ADD3-C88C-4E23-8687-2AF605B8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14550"/>
            <a:ext cx="38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9BEFE9-2126-4F18-9619-4CA21B1D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955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24C5DA-F18C-4B87-968E-BF17B616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193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A9ED61-F44E-41FA-B670-0403B406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145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26F9ED-887A-4169-8E4B-AA0A2B97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812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11D2B9-A1A7-47E1-A02C-ECA1DB5D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8D9FF"/>
                </a:solidFill>
              </a:defRPr>
            </a:pPr>
            <a:r>
              <a:rPr sz="1350" b="1" i="0">
                <a:solidFill>
                  <a:srgbClr val="38D9FF"/>
                </a:solidFill>
              </a:rPr>
              <a:t>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6F35F9-DE6B-40D0-8953-825F03A7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32DB02-5190-404E-92C0-F6AE413E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543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211FB6-F817-44E4-BA34-294DD8E7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81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07927D-C3C6-4B5B-8D03-3246A3CC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09925"/>
            <a:ext cx="38100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C7D17D-1D03-41EB-AAE9-05EBAAC1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19475"/>
            <a:ext cx="381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B0958B-C00A-48C4-9BA8-DF7DF737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00450"/>
            <a:ext cx="38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11CE38-25DD-4212-BDB1-B6A0E43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24225"/>
            <a:ext cx="38100" cy="933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3AEA55-4A3D-4352-84C6-A1F7DF3D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381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C4F5A2-1990-4CAE-8900-7F819EFF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00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D07B38-C17B-4C26-929A-6B649F3C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81400"/>
            <a:ext cx="38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7D29D6-18C1-4E43-B351-A64858CB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86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2DBCA4-1558-4032-AE82-153E9B32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33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395BB9-D5CD-44DE-99F6-5C8D73E1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52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BB8F4D-352C-4613-A77B-17D44B31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05200"/>
            <a:ext cx="381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E99031-37ED-45F2-AA66-C9F6C662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43BE3B-207F-485A-B5A7-DAE532C5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05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A83A2B-7BEA-4C2E-9DD3-B68B7838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90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409222-C79D-4541-AF8A-6338AFB9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4A7981-2632-4858-A6AF-34538420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33600"/>
            <a:ext cx="5715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56C4C4-47FB-451C-9CDB-C5019063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434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6B7A"/>
                </a:solidFill>
              </a:defRPr>
            </a:pPr>
            <a:r>
              <a:rPr sz="1275" b="1" i="0">
                <a:solidFill>
                  <a:srgbClr val="FF6B7A"/>
                </a:solidFill>
              </a:rPr>
              <a:t>speech starts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96E0C5-B590-44ED-9091-83A4545F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479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C857"/>
                </a:solidFill>
              </a:defRPr>
            </a:pPr>
            <a:r>
              <a:rPr sz="1500" b="1" i="0">
                <a:solidFill>
                  <a:srgbClr val="FFC857"/>
                </a:solidFill>
              </a:rPr>
              <a:t>VAD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E2C797-3DE6-4A56-B03F-DF2285B9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detect activity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9783B8-7A6B-4021-9A86-D79943A5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6B7A"/>
                </a:solidFill>
              </a:defRPr>
            </a:pPr>
            <a:r>
              <a:rPr sz="1500" b="1" i="0">
                <a:solidFill>
                  <a:srgbClr val="FF6B7A"/>
                </a:solidFill>
              </a:rPr>
              <a:t>CANCEL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903A4D-F4A6-4567-8578-78146E45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908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stop output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91E695-B463-4B5F-822F-F2C4D810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8F0B2"/>
                </a:solidFill>
              </a:defRPr>
            </a:pPr>
            <a:r>
              <a:rPr sz="1500" b="1" i="0">
                <a:solidFill>
                  <a:srgbClr val="78F0B2"/>
                </a:solidFill>
              </a:rPr>
              <a:t>RESUME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431B453-756F-48E8-B6BD-C92B4157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33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keep context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ADC165-5507-402C-A6CC-99888EC0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78F0B2"/>
                </a:solidFill>
              </a:defRPr>
            </a:pPr>
            <a:r>
              <a:rPr sz="1725" b="1" i="0">
                <a:solidFill>
                  <a:srgbClr val="78F0B2"/>
                </a:solidFill>
              </a:rPr>
              <a:t>Good barge-in: no overlap, no forgotten correction.</a:t>
            </a:r>
          </a:p>
        </p:txBody>
      </p:sp>
    </p:spTree>
    <p:extLst>
      <p:ext uri="{BB962C8B-B14F-4D97-AF65-F5344CB8AC3E}">
        <p14:creationId xmlns:p14="http://schemas.microsoft.com/office/powerpoint/2010/main" val="4520142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F1E1F0-71E4-4D2A-86C7-62044041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056C9-EBCE-4113-B353-627AA1D0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35723-3966-46F4-94B1-25D1C17D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Two concurrent loops make the conversation feel live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50C35-B9FB-4A61-B1FD-959CB45F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The browser sends chunks while ADK yields events 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2B314-EC81-445C-8F11-924D0ACE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7933C-339F-42A1-B95A-A6618937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6FC17-1289-48D9-BAA7-540455CE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1963D-F051-47F2-91DC-5A8B4AC6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7E748-CD87-4D78-9D42-3012EB3E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907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8F0B2"/>
                </a:solidFill>
              </a:defRPr>
            </a:pPr>
            <a:r>
              <a:rPr sz="1350" b="1" i="0">
                <a:solidFill>
                  <a:srgbClr val="78F0B2"/>
                </a:solidFill>
              </a:rPr>
              <a:t>audio chunks 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FCF36C-9FDB-4550-B1D8-A396E4DD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9100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749514-E40B-4332-95C0-850AB868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0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38D9FF"/>
                </a:solidFill>
              </a:defRPr>
            </a:pPr>
            <a:r>
              <a:rPr sz="1350" b="1" i="0">
                <a:solidFill>
                  <a:srgbClr val="38D9FF"/>
                </a:solidFill>
              </a:rPr>
              <a:t>←  audio · transcript · tool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83211-94BD-4BAD-B55F-AE2B9A1B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20955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7BA7A-8771-462B-A43A-0592B647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BROWSER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FFA10B-D063-4F49-B360-77B04778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mic + playback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9F9EC-06CF-4460-B1A4-7D08AC57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5FE4A-FB82-4D79-9522-653790E9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WEBSOCKET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914FF3-9DB2-4D4B-AB36-30B84E15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session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D552D0-1A3F-47A7-A868-89F04787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263A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B0A23-0D7A-4271-86C8-14893D65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78F0B2"/>
                </a:solidFill>
              </a:defRPr>
            </a:pPr>
            <a:r>
              <a:rPr sz="1575" b="1" i="0">
                <a:solidFill>
                  <a:srgbClr val="78F0B2"/>
                </a:solidFill>
              </a:rPr>
              <a:t>LIVE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BB0033-72CC-4783-AB3C-6E9EF81A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ordered inputs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BC9E5C-8A7D-4E38-A560-F6B08A65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96215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45F85A-747A-4706-B88B-707B6CC3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38D9FF"/>
                </a:solidFill>
              </a:defRPr>
            </a:pPr>
            <a:r>
              <a:rPr sz="1575" b="1" i="0">
                <a:solidFill>
                  <a:srgbClr val="38D9FF"/>
                </a:solidFill>
              </a:rPr>
              <a:t>run_live()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93A9D6-062A-4881-A351-32A2CD0E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5433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Event stream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3D4CA9-EA3D-4308-A086-A7AEFF64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162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8F0B2"/>
                </a:solidFill>
              </a:defRPr>
            </a:pPr>
            <a:r>
              <a:rPr sz="1350" b="1" i="0">
                <a:solidFill>
                  <a:srgbClr val="78F0B2"/>
                </a:solidFill>
              </a:rPr>
              <a:t>upstream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BA4122-EBAD-43FB-BF47-E09F897C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9AAEC4"/>
                </a:solidFill>
              </a:defRPr>
            </a:pPr>
            <a:r>
              <a:rPr sz="1650" b="1" i="0">
                <a:solidFill>
                  <a:srgbClr val="9AAEC4"/>
                </a:solidFill>
              </a:rPr>
              <a:t>+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33DB4B-AEF1-44C4-8E11-879EA2C7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38D9FF"/>
                </a:solidFill>
              </a:defRPr>
            </a:pPr>
            <a:r>
              <a:rPr sz="1350" b="1" i="0">
                <a:solidFill>
                  <a:srgbClr val="38D9FF"/>
                </a:solidFill>
              </a:rPr>
              <a:t>downstream task</a:t>
            </a:r>
          </a:p>
        </p:txBody>
      </p:sp>
    </p:spTree>
    <p:extLst>
      <p:ext uri="{BB962C8B-B14F-4D97-AF65-F5344CB8AC3E}">
        <p14:creationId xmlns:p14="http://schemas.microsoft.com/office/powerpoint/2010/main" val="19557525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9931DC-E1A6-4E37-AC5C-40D3EA7B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73B66-A9E9-4FD4-81FA-007250E1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95A91-0567-4F61-9CA1-3E62BFD2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Treat every response as an event, not a final message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DDCF0-B4B5-49C2-9262-6DBCCAF7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Transcription turns an audio experience into something debuggable.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DB6E4-07B3-4CB5-868D-5CD69C41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A79C9-586C-4100-8479-E007134F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F32AD9-8EB3-470D-9E4F-0383D319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AB9B8-E6DC-4629-83B0-D8287D2A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2674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050A10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FEFC25-AB7C-4C7A-B030-9FC6CF09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FFDB8-DB14-47A6-BC26-AEF1BE6D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61068C-0A3D-41FC-916F-7FA7E43E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78551-1E8F-42AB-9F02-38A7018F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B4378-D0D2-43B8-9B1D-6CC34DC3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57912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async for event in runner.run_live(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user_id=user_id,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session_id=session_id,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live_request_queue=queue,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run_config=run_config,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):</a:t>
            </a:r>
          </a:p>
          <a:p xmlns:a="http://schemas.openxmlformats.org/drawingml/2006/main">
            <a:pPr algn="l">
              <a:defRPr sz="1200" b="0" i="0">
                <a:solidFill>
                  <a:srgbClr val="EAF2FF"/>
                </a:solidFill>
              </a:defRPr>
            </a:pPr>
            <a:r>
              <a:rPr sz="1200" b="0" i="0">
                <a:solidFill>
                  <a:srgbClr val="EAF2FF"/>
                </a:solidFill>
              </a:rPr>
              <a:t>    await websocket.send_json(to_client(event))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989579-038A-427D-837E-1B3A39AC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47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38D9FF"/>
                </a:solidFill>
              </a:defRPr>
            </a:pPr>
            <a:r>
              <a:rPr sz="1275" b="1" i="0">
                <a:solidFill>
                  <a:srgbClr val="38D9FF"/>
                </a:solidFill>
              </a:rPr>
              <a:t>AUDIO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5A50C0-EA30-475B-B2D1-D0E04FDB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47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play immediately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AD91F-5712-4941-921D-579D4F09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05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87896-3CD4-42B6-A62E-FFC2032C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09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8F0B2"/>
                </a:solidFill>
              </a:defRPr>
            </a:pPr>
            <a:r>
              <a:rPr sz="1275" b="1" i="0">
                <a:solidFill>
                  <a:srgbClr val="78F0B2"/>
                </a:solidFill>
              </a:rPr>
              <a:t>TRANSCRIPT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C7F12C-BE2E-4EC1-8DC0-223D4E92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render + log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D8E165-7917-49F8-8974-E72D81886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67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1981F1-5C79-4C80-86B3-932AEF23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C857"/>
                </a:solidFill>
              </a:defRPr>
            </a:pPr>
            <a:r>
              <a:rPr sz="1275" b="1" i="0">
                <a:solidFill>
                  <a:srgbClr val="FFC857"/>
                </a:solidFill>
              </a:rPr>
              <a:t>TOOL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D8D70-3645-444D-B7FB-FC7726F7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71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show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567E5-4C33-4366-BCC7-91B2800C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E5968E-6CFD-46A8-80E5-5E842A69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33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6B7A"/>
                </a:solidFill>
              </a:defRPr>
            </a:pPr>
            <a:r>
              <a:rPr sz="1275" b="1" i="0">
                <a:solidFill>
                  <a:srgbClr val="FF6B7A"/>
                </a:solidFill>
              </a:rPr>
              <a:t>ERROR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D17C05-1C8A-4CEF-AA45-B0629EF8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33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EAF2FF"/>
                </a:solidFill>
              </a:defRPr>
            </a:pPr>
            <a:r>
              <a:rPr sz="1500" b="0" i="0">
                <a:solidFill>
                  <a:srgbClr val="EAF2FF"/>
                </a:solidFill>
              </a:rPr>
              <a:t>recover visibly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D460BC-8695-41D4-82C2-43464D13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91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C830FE-48EB-4A6C-96E7-41DDADC4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1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78F0B2"/>
                </a:solidFill>
              </a:defRPr>
            </a:pPr>
            <a:r>
              <a:rPr sz="1575" b="1" i="0">
                <a:solidFill>
                  <a:srgbClr val="78F0B2"/>
                </a:solidFill>
              </a:rPr>
              <a:t>Partial ≠ final</a:t>
            </a:r>
          </a:p>
        </p:txBody>
      </p:sp>
    </p:spTree>
    <p:extLst>
      <p:ext uri="{BB962C8B-B14F-4D97-AF65-F5344CB8AC3E}">
        <p14:creationId xmlns:p14="http://schemas.microsoft.com/office/powerpoint/2010/main" val="13113907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456B03-9B68-4F34-8561-C25503A1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BE868-73D2-448D-980F-1674DACA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69D06-36E1-4F91-8013-89B4A6AA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The tool waits five seconds, then returns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917E2-E894-400F-A6EC-84D26C8E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It returns room data or a structured error—never a raw exception.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634C8-3FA3-4A51-B2B8-F8957CEB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BB3648-4025-4038-8933-8A4636CF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41A6C-157A-409F-B3E8-865278782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CFDAF-BE2F-4EFF-BC25-CE93AB63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929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F92F9-FEA2-4CC8-89DE-0D61B4CD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3A685-A525-4C65-B28C-F1A288E4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38D9FF"/>
                </a:solidFill>
              </a:defRPr>
            </a:pPr>
            <a:r>
              <a:rPr sz="1350" b="1" i="0">
                <a:solidFill>
                  <a:srgbClr val="38D9FF"/>
                </a:solidFill>
              </a:rPr>
              <a:t>0.0s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763FE9-07B0-4B0C-ACF1-BBC75A96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EAF2FF"/>
                </a:solidFill>
              </a:defRPr>
            </a:pPr>
            <a:r>
              <a:rPr sz="1200" b="1" i="0">
                <a:solidFill>
                  <a:srgbClr val="EAF2FF"/>
                </a:solidFill>
              </a:rPr>
              <a:t>ACKNOWLEDGE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CF8A4-D56F-40D9-8E32-D8259E48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79A24-AF17-43D4-BCB0-4845ED41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C857"/>
                </a:solidFill>
              </a:defRPr>
            </a:pPr>
            <a:r>
              <a:rPr sz="1350" b="1" i="0">
                <a:solidFill>
                  <a:srgbClr val="FFC857"/>
                </a:solidFill>
              </a:rPr>
              <a:t>0.2s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347250-51D3-4708-8D67-3C226121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EAF2FF"/>
                </a:solidFill>
              </a:defRPr>
            </a:pPr>
            <a:r>
              <a:rPr sz="1200" b="1" i="0">
                <a:solidFill>
                  <a:srgbClr val="EAF2FF"/>
                </a:solidFill>
              </a:rPr>
              <a:t>TOOL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7C3AA2-B7E0-4121-A703-29181082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FCE78A-8A65-4716-8823-62BB3178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8F0B2"/>
                </a:solidFill>
              </a:defRPr>
            </a:pPr>
            <a:r>
              <a:rPr sz="1350" b="1" i="0">
                <a:solidFill>
                  <a:srgbClr val="78F0B2"/>
                </a:solidFill>
              </a:rPr>
              <a:t>5.2s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6C4133-F518-4B1A-85FE-9B74D91F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EAF2FF"/>
                </a:solidFill>
              </a:defRPr>
            </a:pPr>
            <a:r>
              <a:rPr sz="1200" b="1" i="0">
                <a:solidFill>
                  <a:srgbClr val="EAF2FF"/>
                </a:solidFill>
              </a:rPr>
              <a:t>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8A5CFC-F434-4C78-BFBE-F370643E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79FE54-6B29-4881-ACB2-010FAEC5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38D9FF"/>
                </a:solidFill>
              </a:defRPr>
            </a:pPr>
            <a:r>
              <a:rPr sz="1350" b="1" i="0">
                <a:solidFill>
                  <a:srgbClr val="38D9FF"/>
                </a:solidFill>
              </a:rPr>
              <a:t>5.5s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CFA0F2-7DF7-4E4F-A662-171F45E1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EAF2FF"/>
                </a:solidFill>
              </a:defRPr>
            </a:pPr>
            <a:r>
              <a:rPr sz="1200" b="1" i="0">
                <a:solidFill>
                  <a:srgbClr val="EAF2FF"/>
                </a:solidFill>
              </a:rPr>
              <a:t>RECOVERY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8C18FC-7530-4F28-910C-6C981BEB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76500"/>
            <a:ext cx="3390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AF4426-0171-4DD5-AF99-7FC506CD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76525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111D"/>
                </a:solidFill>
              </a:defRPr>
            </a:pPr>
            <a:r>
              <a:rPr sz="1650" b="1" i="0">
                <a:solidFill>
                  <a:srgbClr val="08111D"/>
                </a:solidFill>
              </a:rPr>
              <a:t>asyncio.sleep(5)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CADF0E-096C-4F36-8187-0BA557FE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67250"/>
            <a:ext cx="7429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B1C92D-EE66-432A-A177-6BB48E65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10125"/>
            <a:ext cx="693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78F0B2"/>
                </a:solidFill>
              </a:defRPr>
            </a:pPr>
            <a:r>
              <a:rPr sz="1425" b="1" i="0">
                <a:solidFill>
                  <a:srgbClr val="78F0B2"/>
                </a:solidFill>
              </a:rPr>
              <a:t>status: error   •   retryable: true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2FD863-B125-47D3-A2E2-4A6A9101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244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EAF2FF"/>
                </a:solidFill>
              </a:defRPr>
            </a:pPr>
            <a:r>
              <a:rPr sz="1275" b="0" i="0">
                <a:solidFill>
                  <a:srgbClr val="EAF2FF"/>
                </a:solidFill>
              </a:rPr>
              <a:t>“Room availability could not be checked right now.”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2D594C-F9BB-418B-ACD3-7DFCE3C4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38800"/>
            <a:ext cx="788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9AAEC4"/>
                </a:solidFill>
              </a:defRPr>
            </a:pPr>
            <a:r>
              <a:rPr sz="1425" b="1" i="0">
                <a:solidFill>
                  <a:srgbClr val="9AAEC4"/>
                </a:solidFill>
              </a:rPr>
              <a:t>No timeout · no exception · no automatic retry</a:t>
            </a:r>
          </a:p>
        </p:txBody>
      </p:sp>
    </p:spTree>
    <p:extLst>
      <p:ext uri="{BB962C8B-B14F-4D97-AF65-F5344CB8AC3E}">
        <p14:creationId xmlns:p14="http://schemas.microsoft.com/office/powerpoint/2010/main" val="4057918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35EAAE-8E63-49E4-8FA9-F93D07E1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E0B0C-E934-4454-9D79-1ABBA7CF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FC857"/>
                </a:solidFill>
              </a:defRPr>
            </a:pPr>
            <a:r>
              <a:rPr sz="1125" b="1" i="0">
                <a:solidFill>
                  <a:srgbClr val="FFC857"/>
                </a:solidFill>
              </a:rPr>
              <a:t>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2B080-E2DF-43A5-AF7C-F022EB5A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Recovery is a result the agent can reason about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0D8EE-F070-4213-B09D-2F971807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This checkpoint uses acknowledgement, a five-second delay, and a safe next move.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8B6D5-0AEE-4D17-B1BC-AD75B2EF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C5984-33C7-426A-ACF2-FEE64F53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3700F2-40E8-437C-8CE6-F56ADC03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F874C-EE8E-4900-9062-78A4552C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38D9FF"/>
                </a:solidFill>
              </a:defRPr>
            </a:pPr>
            <a:r>
              <a:rPr sz="1275" b="1" i="0">
                <a:solidFill>
                  <a:srgbClr val="38D9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08761-95C9-4EDC-864A-8DBBA429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AF2FF"/>
                </a:solidFill>
              </a:defRPr>
            </a:pPr>
            <a:r>
              <a:rPr sz="1725" b="1" i="0">
                <a:solidFill>
                  <a:srgbClr val="EAF2FF"/>
                </a:solidFill>
              </a:rPr>
              <a:t>ACKNOWLEDGE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DEDAD-C979-4D54-A4DB-EC73C1E8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DFB43-8480-4D5A-8E74-F4D69961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“I’m checking that now.”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A7A66-B68B-4171-B650-0EF517BD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C857"/>
                </a:solidFill>
              </a:defRPr>
            </a:pPr>
            <a:r>
              <a:rPr sz="1275" b="1" i="0">
                <a:solidFill>
                  <a:srgbClr val="FFC857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560432-8C5F-4211-B4A4-9D12C459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AF2FF"/>
                </a:solidFill>
              </a:defRPr>
            </a:pPr>
            <a:r>
              <a:rPr sz="1725" b="1" i="0">
                <a:solidFill>
                  <a:srgbClr val="EAF2FF"/>
                </a:solidFill>
              </a:rPr>
              <a:t>WAIT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833115-C796-4E8C-8272-FAF71355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2CD8A-FE54-4BB4-8B2D-9DB5AF26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five-second tool delay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C0E2E1-23B6-4AC7-8DF6-50F6C5DC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8F0B2"/>
                </a:solidFill>
              </a:defRPr>
            </a:pPr>
            <a:r>
              <a:rPr sz="1275" b="1" i="0">
                <a:solidFill>
                  <a:srgbClr val="78F0B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08E521-4231-47A2-841A-5726E5AD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AF2FF"/>
                </a:solidFill>
              </a:defRPr>
            </a:pPr>
            <a:r>
              <a:rPr sz="1725" b="1" i="0">
                <a:solidFill>
                  <a:srgbClr val="EAF2FF"/>
                </a:solidFill>
              </a:rPr>
              <a:t>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AB291A-08D7-45C8-B345-51D8C395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199B58-E147-40D6-B64C-73D445E9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status · message · retryable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265A64-2C09-4331-B226-72534254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78BFA"/>
                </a:solidFill>
              </a:defRPr>
            </a:pPr>
            <a:r>
              <a:rPr sz="1275" b="1" i="0">
                <a:solidFill>
                  <a:srgbClr val="A78BFA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6A7734-3DA9-4BF7-8FA1-1F2C869F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AF2FF"/>
                </a:solidFill>
              </a:defRPr>
            </a:pPr>
            <a:r>
              <a:rPr sz="1725" b="1" i="0">
                <a:solidFill>
                  <a:srgbClr val="EAF2FF"/>
                </a:solidFill>
              </a:rPr>
              <a:t>RECOVER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6C5629-05B6-4762-88D5-8FD6D1F1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C309E9-0F54-48E2-A245-96FA4090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apologize + offer another time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DDA728-3285-4618-A8A7-27898271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57750"/>
            <a:ext cx="8724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C3A0C6-DAED-4088-89F3-4BAAE5EE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673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78F0B2"/>
                </a:solidFill>
              </a:defRPr>
            </a:pPr>
            <a:r>
              <a:rPr sz="1575" b="1" i="0">
                <a:solidFill>
                  <a:srgbClr val="78F0B2"/>
                </a:solidFill>
              </a:rPr>
              <a:t>The agent does not retry unless the user asks.</a:t>
            </a:r>
          </a:p>
        </p:txBody>
      </p:sp>
    </p:spTree>
    <p:extLst>
      <p:ext uri="{BB962C8B-B14F-4D97-AF65-F5344CB8AC3E}">
        <p14:creationId xmlns:p14="http://schemas.microsoft.com/office/powerpoint/2010/main" val="176958297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1E199F-C794-42BA-874B-1B22B093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D6B6E8-7359-4EB7-9282-587E72EA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56AE7-955C-43ED-BD25-C80176096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Production lives around the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6BE11-AF13-4AFC-B2DE-8AA20297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Optimize the whole conversation loop—not one API 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8850B-E95A-4E41-87B5-33424544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EEDFC1-920D-46E7-B8E8-7C8CCB94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0EAD4-0EF4-446F-BD6F-782DC2FC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73412-3991-4426-8738-D7E24AC1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38D9FF"/>
                </a:solidFill>
              </a:defRPr>
            </a:pPr>
            <a:r>
              <a:rPr sz="1275" b="1" i="0">
                <a:solidFill>
                  <a:srgbClr val="38D9FF"/>
                </a:solidFill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9AC59-D9C2-43C7-966B-F2ED789F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764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C2053-B751-4EAE-8BFF-776C23D2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336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AF2FF"/>
                </a:solidFill>
              </a:defRPr>
            </a:pPr>
            <a:r>
              <a:rPr sz="1650" b="0" i="0">
                <a:solidFill>
                  <a:srgbClr val="EAF2FF"/>
                </a:solidFill>
              </a:rPr>
              <a:t>first audio · turn gap · tool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549B3-4F62-4E0D-87DD-DD9D81C9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78BFA"/>
                </a:solidFill>
              </a:defRPr>
            </a:pPr>
            <a:r>
              <a:rPr sz="1275" b="1" i="0">
                <a:solidFill>
                  <a:srgbClr val="A78BFA"/>
                </a:solidFill>
              </a:rPr>
              <a:t>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670C6-1EE0-4732-9E39-1A7109B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813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FD98F-A58C-49FE-AE3F-F7FC819F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AF2FF"/>
                </a:solidFill>
              </a:defRPr>
            </a:pPr>
            <a:r>
              <a:rPr sz="1650" b="0" i="0">
                <a:solidFill>
                  <a:srgbClr val="EAF2FF"/>
                </a:solidFill>
              </a:rPr>
              <a:t>one queue/session · durable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88CA9-63FB-4850-89B1-D2AF2DFF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6B7A"/>
                </a:solidFill>
              </a:defRPr>
            </a:pPr>
            <a:r>
              <a:rPr sz="1275" b="1" i="0">
                <a:solidFill>
                  <a:srgbClr val="FF6B7A"/>
                </a:solidFill>
              </a:rPr>
              <a:t>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866CB-FF0E-4397-831E-F7F1B4B4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861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CE23D-5390-4EA2-9605-4CDC3DD0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AF2FF"/>
                </a:solidFill>
              </a:defRPr>
            </a:pPr>
            <a:r>
              <a:rPr sz="1650" b="0" i="0">
                <a:solidFill>
                  <a:srgbClr val="EAF2FF"/>
                </a:solidFill>
              </a:rPr>
              <a:t>confirm consequential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5244C-4FA5-44B9-98C1-87168D7E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8F0B2"/>
                </a:solidFill>
              </a:defRPr>
            </a:pPr>
            <a:r>
              <a:rPr sz="1275" b="1" i="0">
                <a:solidFill>
                  <a:srgbClr val="78F0B2"/>
                </a:solidFill>
              </a:rPr>
              <a:t>MONITORING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17987D-3E0B-4D01-9A95-CE5424C1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910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E5A8B-D482-4BAE-AA3D-6DFC6B26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481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AF2FF"/>
                </a:solidFill>
              </a:defRPr>
            </a:pPr>
            <a:r>
              <a:rPr sz="1650" b="0" i="0">
                <a:solidFill>
                  <a:srgbClr val="EAF2FF"/>
                </a:solidFill>
              </a:rPr>
              <a:t>events · transcripts ·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B790C3-1357-4E14-82F9-430D145D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FFC857"/>
                </a:solidFill>
              </a:defRPr>
            </a:pPr>
            <a:r>
              <a:rPr sz="1275" b="1" i="0">
                <a:solidFill>
                  <a:srgbClr val="FFC857"/>
                </a:solidFill>
              </a:rPr>
              <a:t>RESILIENCE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D50C5F-B3C8-4079-98A6-AB9350D9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958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40D4F6-7102-4A1A-8EDD-F1295CE1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530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EAF2FF"/>
                </a:solidFill>
              </a:defRPr>
            </a:pPr>
            <a:r>
              <a:rPr sz="1650" b="0" i="0">
                <a:solidFill>
                  <a:srgbClr val="EAF2FF"/>
                </a:solidFill>
              </a:rPr>
              <a:t>timeouts · cancellation · 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739B22-F1BD-4A68-8F3D-B551F3F1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912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78F0B2"/>
                </a:solidFill>
              </a:defRPr>
            </a:pPr>
            <a:r>
              <a:rPr sz="1875" b="1" i="0">
                <a:solidFill>
                  <a:srgbClr val="78F0B2"/>
                </a:solidFill>
              </a:rPr>
              <a:t>Ship only when you can replay what happened.</a:t>
            </a:r>
          </a:p>
        </p:txBody>
      </p:sp>
    </p:spTree>
    <p:extLst>
      <p:ext uri="{BB962C8B-B14F-4D97-AF65-F5344CB8AC3E}">
        <p14:creationId xmlns:p14="http://schemas.microsoft.com/office/powerpoint/2010/main" val="11506704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AEACFC-C395-4984-86B6-756CE81F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478F3-68C4-425A-A658-DF5981B1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8F0B2"/>
                </a:solidFill>
              </a:defRPr>
            </a:pPr>
            <a:r>
              <a:rPr sz="1125" b="1" i="0">
                <a:solidFill>
                  <a:srgbClr val="78F0B2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8017C-EE1A-413C-A55B-6B4A52F9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Mini challenge: make the agent production-friendlier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8B3C1-1C51-463E-854A-3162B7F1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Choose one improvement. Prove it with one adversarial test.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590B2-6DFC-45ED-80A1-11A4E4C4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A6BC3-E661-4151-BC4F-E06CC83F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5B7CD-0B70-4D08-96B1-2205AF9E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20849-725D-4C31-BA71-AD52443A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51B2B-1549-4CC8-A197-4F36CB41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8111D"/>
                </a:solidFill>
              </a:defRPr>
            </a:pPr>
            <a:r>
              <a:rPr sz="1500" b="1" i="0">
                <a:solidFill>
                  <a:srgbClr val="08111D"/>
                </a:solidFill>
              </a:rPr>
              <a:t>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128C1-45CA-40BB-94C2-7930356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CONFIRM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3402D-50A5-46D5-90BB-4DCBC5F8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9AAEC4"/>
                </a:solidFill>
              </a:defRPr>
            </a:pPr>
            <a:r>
              <a:rPr sz="1425" b="0" i="0">
                <a:solidFill>
                  <a:srgbClr val="9AAEC4"/>
                </a:solidFill>
              </a:rPr>
              <a:t>Ask before booking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9CB9A8-9062-4249-8B11-B8C9BFF3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C45D07-58BC-46E8-B809-026BA24F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E3EF7-82E5-49EC-B51B-6283992F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8111D"/>
                </a:solidFill>
              </a:defRPr>
            </a:pPr>
            <a:r>
              <a:rPr sz="1500" b="1" i="0">
                <a:solidFill>
                  <a:srgbClr val="08111D"/>
                </a:solidFill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53730-9BEF-41A5-AB2E-1FC9ED75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RECOVER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F68E1F-339E-4986-BB7D-F84F16E6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9AAEC4"/>
                </a:solidFill>
              </a:defRPr>
            </a:pPr>
            <a:r>
              <a:rPr sz="1425" b="0" i="0">
                <a:solidFill>
                  <a:srgbClr val="9AAEC4"/>
                </a:solidFill>
              </a:rPr>
              <a:t>Handle tool timeout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25688A-E918-40B9-A945-CFE18FA9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4A79C4-386A-432E-AB39-BCC40CB3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1EF82C-8A2A-4BBC-B0B9-A4781804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8111D"/>
                </a:solidFill>
              </a:defRPr>
            </a:pPr>
            <a:r>
              <a:rPr sz="1500" b="1" i="0">
                <a:solidFill>
                  <a:srgbClr val="08111D"/>
                </a:solidFill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9CD79-B48C-4BA8-96C4-482CF172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EAF2FF"/>
                </a:solidFill>
              </a:defRPr>
            </a:pPr>
            <a:r>
              <a:rPr sz="1575" b="1" i="0">
                <a:solidFill>
                  <a:srgbClr val="EAF2FF"/>
                </a:solidFill>
              </a:rPr>
              <a:t>OBSERVE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41170A-6592-4FC9-9802-0E90A26E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9AAEC4"/>
                </a:solidFill>
              </a:defRPr>
            </a:pPr>
            <a:r>
              <a:rPr sz="1425" b="0" i="0">
                <a:solidFill>
                  <a:srgbClr val="9AAEC4"/>
                </a:solidFill>
              </a:rPr>
              <a:t>Log final transcript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9524E-D700-4D82-B9B6-7E872347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6E98E-96B1-4D0F-B6CB-E9094013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6B7A"/>
                </a:solidFill>
              </a:defRPr>
            </a:pPr>
            <a:r>
              <a:rPr sz="1200" b="1" i="0">
                <a:solidFill>
                  <a:srgbClr val="FF6B7A"/>
                </a:solidFill>
              </a:rPr>
              <a:t>TEST 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839735-E109-426A-9995-320DF4E0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EAF2FF"/>
                </a:solidFill>
              </a:defRPr>
            </a:pPr>
            <a:r>
              <a:rPr sz="2175" b="1" i="0">
                <a:solidFill>
                  <a:srgbClr val="EAF2FF"/>
                </a:solidFill>
              </a:rPr>
              <a:t>interrupt • change your mind • force a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E913C5-B256-4FA7-8D1F-ECFD4FA8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0E1C2B"/>
          </a:solidFill>
          <a:ln xmlns:a="http://schemas.openxmlformats.org/drawingml/2006/main" w="9525">
            <a:solidFill>
              <a:srgbClr val="27415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58EDB3-E44A-4EB4-91B8-E63C6940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862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78F0B2"/>
                </a:solidFill>
              </a:defRPr>
            </a:pPr>
            <a:r>
              <a:rPr sz="2100" b="1" i="0">
                <a:solidFill>
                  <a:srgbClr val="78F0B2"/>
                </a:solidFill>
              </a:rPr>
              <a:t>6 minutes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5CBD59-3096-46A3-A315-8DB3D3EE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9AAEC4"/>
                </a:solidFill>
              </a:defRPr>
            </a:pPr>
            <a:r>
              <a:rPr sz="1350" b="0" i="0">
                <a:solidFill>
                  <a:srgbClr val="9AAEC4"/>
                </a:solidFill>
              </a:rPr>
              <a:t>then 2 demos</a:t>
            </a:r>
          </a:p>
        </p:txBody>
      </p:sp>
    </p:spTree>
    <p:extLst>
      <p:ext uri="{BB962C8B-B14F-4D97-AF65-F5344CB8AC3E}">
        <p14:creationId xmlns:p14="http://schemas.microsoft.com/office/powerpoint/2010/main" val="68254093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81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1DB826-DB4C-464D-AC10-430B5712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C4C494-DEEA-429F-9359-DBB6250B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8D9FF"/>
                </a:solidFill>
              </a:defRPr>
            </a:pPr>
            <a:r>
              <a:rPr sz="1125" b="1" i="0">
                <a:solidFill>
                  <a:srgbClr val="38D9FF"/>
                </a:solidFill>
              </a:rPr>
              <a:t>WRAP-UP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26C7B-49F0-4814-AE4B-F4E43E76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EAF2FF"/>
                </a:solidFill>
              </a:defRPr>
            </a:pPr>
            <a:r>
              <a:rPr sz="3150" b="1" i="0">
                <a:solidFill>
                  <a:srgbClr val="EAF2FF"/>
                </a:solidFill>
              </a:rPr>
              <a:t>You now have the full conversation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A458ED-DB86-41E9-B506-695F8F83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9AAEC4"/>
                </a:solidFill>
              </a:defRPr>
            </a:pPr>
            <a:r>
              <a:rPr sz="1500" b="0" i="0">
                <a:solidFill>
                  <a:srgbClr val="9AAEC4"/>
                </a:solidFill>
              </a:rPr>
              <a:t>Agent → tool → live audio → events → production behavior.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3153E-5BF7-4CC2-8D3A-C586F215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48CA6-32E5-4B14-8971-F3007BBB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6C157-1721-42E0-8F36-717629BD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3768B"/>
                </a:solidFill>
              </a:defRPr>
            </a:pPr>
            <a:r>
              <a:rPr sz="900" b="1" i="0">
                <a:solidFill>
                  <a:srgbClr val="63768B"/>
                </a:solidFill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F440B-C612-41B0-9793-A3DC388E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38D9FF"/>
                </a:solidFill>
              </a:defRPr>
            </a:pPr>
            <a:r>
              <a:rPr sz="1425" b="1" i="0">
                <a:solidFill>
                  <a:srgbClr val="38D9FF"/>
                </a:solidFill>
              </a:rPr>
              <a:t>BUILD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B1F818-5800-4ABC-AA59-D29C9E9B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EAF2FF"/>
                </a:solidFill>
              </a:defRPr>
            </a:pPr>
            <a:r>
              <a:rPr sz="1875" b="1" i="0">
                <a:solidFill>
                  <a:srgbClr val="EAF2FF"/>
                </a:solidFill>
              </a:rPr>
              <a:t>small checkpoints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9631C-548A-4989-81A7-F5AA78AC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78F0B2"/>
                </a:solidFill>
              </a:defRPr>
            </a:pPr>
            <a:r>
              <a:rPr sz="1425" b="1" i="0">
                <a:solidFill>
                  <a:srgbClr val="78F0B2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52557-A239-4039-95A3-2FBB1E0F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EAF2FF"/>
                </a:solidFill>
              </a:defRPr>
            </a:pPr>
            <a:r>
              <a:rPr sz="1875" b="1" i="0">
                <a:solidFill>
                  <a:srgbClr val="EAF2FF"/>
                </a:solidFill>
              </a:rPr>
              <a:t>interrupt + fail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FB945-CBEA-4E7F-9F54-A93300D6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C857"/>
                </a:solidFill>
              </a:defRPr>
            </a:pPr>
            <a:r>
              <a:rPr sz="1425" b="1" i="0">
                <a:solidFill>
                  <a:srgbClr val="FFC857"/>
                </a:solidFill>
              </a:rPr>
              <a:t>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39961-0CDC-48F3-A662-C2CD9020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EAF2FF"/>
                </a:solidFill>
              </a:defRPr>
            </a:pPr>
            <a:r>
              <a:rPr sz="1875" b="1" i="0">
                <a:solidFill>
                  <a:srgbClr val="EAF2FF"/>
                </a:solidFill>
              </a:rPr>
              <a:t>measure the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8A2ED-375F-45F2-A4C9-781BC83A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962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41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F9E142-9725-4458-8E64-5981C31C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48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22418-C876-4D89-A483-B47A0C36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52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291C6A-AA9D-4072-8421-B1EAB7D1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20BE64-5282-46E9-B7FE-580B9F14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F6115D-667C-4731-B62B-4DB0E0E5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5767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5FE3DE-E421-4266-87B1-711B38E8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87C0C-C797-4F37-83FD-F9E842FE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14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52D120-487D-476D-AB8C-96A28EC1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2430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0BC9A4-D672-4B2D-9A37-58E72791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43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C9C8A2-114F-4558-A55B-51BD9051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E3243A-4926-4776-B786-521246A2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0E090E-973D-4601-8FA2-A4D5DEC0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3862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96BACD-4ED4-4149-9EE4-C825360E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1955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A8ECE1-4716-4C00-AD69-8C178CFE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458BE1-43B2-4033-A845-0D0A14AD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8150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616F35-D78A-4A34-AED8-C5295CCD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5770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E3DC0E-587F-465D-ACCA-A0E21464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CBA1AC-A4B5-4428-9B39-AEF5E5C9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2432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63FFC0-2CF4-4F5A-9C85-E9DED38A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CC90CC-FC14-4346-AAD5-ECAC9263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67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A64CDD-0834-4D8F-8C9E-BD34C0F4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CA725C-6100-403D-9C35-71AFA3EE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381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14B44E-2BB0-4B0E-96B8-8DBD6D10A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0527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582904-66B0-4DD8-8D46-8E3343E6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5071DD-E5A6-4188-B7EF-2FF62270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0A2588-D4C7-4E55-81E7-C609AE7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76750"/>
            <a:ext cx="381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26F3F0-C24E-49B7-B767-F43C65B4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4E97DA-53EA-4263-B6D4-730F37C3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162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1C0010-0118-459D-8AAD-0C45E761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B57FF4-45AA-4B70-BAAA-A1BF229D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29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D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3DEB61-C474-405E-9579-40D507AD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673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78F0B2"/>
                </a:solidFill>
              </a:defRPr>
            </a:pPr>
            <a:r>
              <a:rPr sz="2100" b="1" i="0">
                <a:solidFill>
                  <a:srgbClr val="78F0B2"/>
                </a:solidFill>
              </a:rPr>
              <a:t>Next: replace the fake tool with one real workflow.</a:t>
            </a:r>
          </a:p>
        </p:txBody>
      </p:sp>
    </p:spTree>
    <p:extLst>
      <p:ext uri="{BB962C8B-B14F-4D97-AF65-F5344CB8AC3E}">
        <p14:creationId xmlns:p14="http://schemas.microsoft.com/office/powerpoint/2010/main" val="12412601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2026-08-21T10:45:12.0420000Z</dcterms:created>
  <dcterms:modified xsi:type="dcterms:W3CDTF">2026-08-21T10:45:12.0420000Z</dcterms:modified>
</coreProperties>
</file>