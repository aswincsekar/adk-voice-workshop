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cf01d462b9d401f" /><Relationship Type="http://schemas.openxmlformats.org/officeDocument/2006/relationships/extended-properties" Target="/docProps/app.xml" Id="R05980fc14ee242dd" /><Relationship Type="http://schemas.openxmlformats.org/officeDocument/2006/relationships/officeDocument" Target="/ppt/presentation.xml" Id="Ra73c0e217b8a4fb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017e72c49204966"/>
  </p:sldMasterIdLst>
  <p:notesMasterIdLst>
    <p:notesMasterId xmlns:r="http://schemas.openxmlformats.org/officeDocument/2006/relationships" r:id="R7cf466b5b8b0475f"/>
  </p:notesMasterIdLst>
  <p:sldIdLst>
    <p:sldId xmlns:r="http://schemas.openxmlformats.org/officeDocument/2006/relationships" id="256" r:id="Rd442c6b29265406f"/>
    <p:sldId xmlns:r="http://schemas.openxmlformats.org/officeDocument/2006/relationships" id="257" r:id="R461cedf980e24851"/>
    <p:sldId xmlns:r="http://schemas.openxmlformats.org/officeDocument/2006/relationships" id="258" r:id="R425cc770f3104047"/>
    <p:sldId xmlns:r="http://schemas.openxmlformats.org/officeDocument/2006/relationships" id="259" r:id="R24526822a7e540c4"/>
    <p:sldId xmlns:r="http://schemas.openxmlformats.org/officeDocument/2006/relationships" id="260" r:id="R2815af4ede33465c"/>
    <p:sldId xmlns:r="http://schemas.openxmlformats.org/officeDocument/2006/relationships" id="261" r:id="R5b5a27c7d179423b"/>
    <p:sldId xmlns:r="http://schemas.openxmlformats.org/officeDocument/2006/relationships" id="262" r:id="Rb411ae1b95e444f4"/>
    <p:sldId xmlns:r="http://schemas.openxmlformats.org/officeDocument/2006/relationships" id="263" r:id="Rc7a32e188af841a2"/>
    <p:sldId xmlns:r="http://schemas.openxmlformats.org/officeDocument/2006/relationships" id="264" r:id="R39e35f9f88c34af2"/>
    <p:sldId xmlns:r="http://schemas.openxmlformats.org/officeDocument/2006/relationships" id="265" r:id="R9446f0e8184544b5"/>
    <p:sldId xmlns:r="http://schemas.openxmlformats.org/officeDocument/2006/relationships" id="266" r:id="Rb942b818c2564df6"/>
    <p:sldId xmlns:r="http://schemas.openxmlformats.org/officeDocument/2006/relationships" id="267" r:id="Rf43d385e803c4b44"/>
    <p:sldId xmlns:r="http://schemas.openxmlformats.org/officeDocument/2006/relationships" id="268" r:id="R4521e5b7791a434f"/>
    <p:sldId xmlns:r="http://schemas.openxmlformats.org/officeDocument/2006/relationships" id="269" r:id="R9011d237b6b040e8"/>
    <p:sldId xmlns:r="http://schemas.openxmlformats.org/officeDocument/2006/relationships" id="270" r:id="R34d9ec4d795a4ac4"/>
    <p:sldId xmlns:r="http://schemas.openxmlformats.org/officeDocument/2006/relationships" id="271" r:id="Rdca7338f82374254"/>
    <p:sldId xmlns:r="http://schemas.openxmlformats.org/officeDocument/2006/relationships" id="272" r:id="R7294596394534156"/>
    <p:sldId xmlns:r="http://schemas.openxmlformats.org/officeDocument/2006/relationships" id="273" r:id="Rfa5e50b1098348b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338dd71d5f74174" /><Relationship Type="http://schemas.openxmlformats.org/officeDocument/2006/relationships/slideMaster" Target="/ppt/slideMasters/slideMaster1.xml" Id="R1017e72c49204966" /><Relationship Type="http://schemas.openxmlformats.org/officeDocument/2006/relationships/notesMaster" Target="/ppt/notesMasters/notesMaster1.xml" Id="R7cf466b5b8b0475f" /><Relationship Type="http://schemas.openxmlformats.org/officeDocument/2006/relationships/presProps" Target="/ppt/presProps.xml" Id="R60d4f0fee24343f5" /><Relationship Type="http://schemas.openxmlformats.org/officeDocument/2006/relationships/tableStyles" Target="/ppt/tableStyles.xml" Id="Rac906bb12fd74b75" /><Relationship Type="http://schemas.openxmlformats.org/officeDocument/2006/relationships/slide" Target="/ppt/slides/slide1.xml" Id="Rd442c6b29265406f" /><Relationship Type="http://schemas.openxmlformats.org/officeDocument/2006/relationships/slide" Target="/ppt/slides/slide2.xml" Id="R461cedf980e24851" /><Relationship Type="http://schemas.openxmlformats.org/officeDocument/2006/relationships/slide" Target="/ppt/slides/slide3.xml" Id="R425cc770f3104047" /><Relationship Type="http://schemas.openxmlformats.org/officeDocument/2006/relationships/slide" Target="/ppt/slides/slide4.xml" Id="R24526822a7e540c4" /><Relationship Type="http://schemas.openxmlformats.org/officeDocument/2006/relationships/slide" Target="/ppt/slides/slide5.xml" Id="R2815af4ede33465c" /><Relationship Type="http://schemas.openxmlformats.org/officeDocument/2006/relationships/slide" Target="/ppt/slides/slide6.xml" Id="R5b5a27c7d179423b" /><Relationship Type="http://schemas.openxmlformats.org/officeDocument/2006/relationships/slide" Target="/ppt/slides/slide7.xml" Id="Rb411ae1b95e444f4" /><Relationship Type="http://schemas.openxmlformats.org/officeDocument/2006/relationships/slide" Target="/ppt/slides/slide8.xml" Id="Rc7a32e188af841a2" /><Relationship Type="http://schemas.openxmlformats.org/officeDocument/2006/relationships/slide" Target="/ppt/slides/slide9.xml" Id="R39e35f9f88c34af2" /><Relationship Type="http://schemas.openxmlformats.org/officeDocument/2006/relationships/slide" Target="/ppt/slides/slide10.xml" Id="R9446f0e8184544b5" /><Relationship Type="http://schemas.openxmlformats.org/officeDocument/2006/relationships/slide" Target="/ppt/slides/slide11.xml" Id="Rb942b818c2564df6" /><Relationship Type="http://schemas.openxmlformats.org/officeDocument/2006/relationships/slide" Target="/ppt/slides/slide12.xml" Id="Rf43d385e803c4b44" /><Relationship Type="http://schemas.openxmlformats.org/officeDocument/2006/relationships/slide" Target="/ppt/slides/slide13.xml" Id="R4521e5b7791a434f" /><Relationship Type="http://schemas.openxmlformats.org/officeDocument/2006/relationships/slide" Target="/ppt/slides/slide14.xml" Id="R9011d237b6b040e8" /><Relationship Type="http://schemas.openxmlformats.org/officeDocument/2006/relationships/slide" Target="/ppt/slides/slide15.xml" Id="R34d9ec4d795a4ac4" /><Relationship Type="http://schemas.openxmlformats.org/officeDocument/2006/relationships/slide" Target="/ppt/slides/slide16.xml" Id="Rdca7338f82374254" /><Relationship Type="http://schemas.openxmlformats.org/officeDocument/2006/relationships/slide" Target="/ppt/slides/slide17.xml" Id="R7294596394534156" /><Relationship Type="http://schemas.openxmlformats.org/officeDocument/2006/relationships/slide" Target="/ppt/slides/slide18.xml" Id="Rfa5e50b1098348b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b5fbd1ff6e14d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895ce9180b45c6" /><Relationship Type="http://schemas.openxmlformats.org/officeDocument/2006/relationships/notesMaster" Target="/ppt/notesMasters/notesMaster1.xml" Id="R240971802a9340c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5415c50be8e4319" /><Relationship Type="http://schemas.openxmlformats.org/officeDocument/2006/relationships/notesMaster" Target="/ppt/notesMasters/notesMaster1.xml" Id="Rbc40dfe60bac48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d2c3f80418f4639" /><Relationship Type="http://schemas.openxmlformats.org/officeDocument/2006/relationships/notesMaster" Target="/ppt/notesMasters/notesMaster1.xml" Id="Ra096c628fada454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88bfb7c69094ce4" /><Relationship Type="http://schemas.openxmlformats.org/officeDocument/2006/relationships/notesMaster" Target="/ppt/notesMasters/notesMaster1.xml" Id="Rd5f32ccc175f499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7af1278094e4329" /><Relationship Type="http://schemas.openxmlformats.org/officeDocument/2006/relationships/notesMaster" Target="/ppt/notesMasters/notesMaster1.xml" Id="R837c95a3c98c404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36e24cafd02481c" /><Relationship Type="http://schemas.openxmlformats.org/officeDocument/2006/relationships/notesMaster" Target="/ppt/notesMasters/notesMaster1.xml" Id="R0cd3eec0b19a473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0b51afa312648aa" /><Relationship Type="http://schemas.openxmlformats.org/officeDocument/2006/relationships/notesMaster" Target="/ppt/notesMasters/notesMaster1.xml" Id="R54d9d380840142e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ce321725561420b" /><Relationship Type="http://schemas.openxmlformats.org/officeDocument/2006/relationships/notesMaster" Target="/ppt/notesMasters/notesMaster1.xml" Id="R44fc41f4bce640d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0e60853ddc643e7" /><Relationship Type="http://schemas.openxmlformats.org/officeDocument/2006/relationships/notesMaster" Target="/ppt/notesMasters/notesMaster1.xml" Id="Rd0db3b213eba47e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09110fda9f64930" /><Relationship Type="http://schemas.openxmlformats.org/officeDocument/2006/relationships/notesMaster" Target="/ppt/notesMasters/notesMaster1.xml" Id="R300e6909b2de4fb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307adab052544fc" /><Relationship Type="http://schemas.openxmlformats.org/officeDocument/2006/relationships/notesMaster" Target="/ppt/notesMasters/notesMaster1.xml" Id="R945fbd6a721e427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a63e4c8148b4769" /><Relationship Type="http://schemas.openxmlformats.org/officeDocument/2006/relationships/notesMaster" Target="/ppt/notesMasters/notesMaster1.xml" Id="Rbc5c34e3dfdf47c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81983e176a84e7b" /><Relationship Type="http://schemas.openxmlformats.org/officeDocument/2006/relationships/notesMaster" Target="/ppt/notesMasters/notesMaster1.xml" Id="Ra6edabab5df4433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5e65f17d06c4c48" /><Relationship Type="http://schemas.openxmlformats.org/officeDocument/2006/relationships/notesMaster" Target="/ppt/notesMasters/notesMaster1.xml" Id="R6dc7e844e9a243c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2b56c34000c4b1f" /><Relationship Type="http://schemas.openxmlformats.org/officeDocument/2006/relationships/notesMaster" Target="/ppt/notesMasters/notesMaster1.xml" Id="R3226639b51314ce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44afbe315724a30" /><Relationship Type="http://schemas.openxmlformats.org/officeDocument/2006/relationships/notesMaster" Target="/ppt/notesMasters/notesMaster1.xml" Id="R46e0afffda3441e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07db09e082d4fd8" /><Relationship Type="http://schemas.openxmlformats.org/officeDocument/2006/relationships/notesMaster" Target="/ppt/notesMasters/notesMaster1.xml" Id="Rc6a2f39ac4884a8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85af6aaccc14ea1" /><Relationship Type="http://schemas.openxmlformats.org/officeDocument/2006/relationships/notesMaster" Target="/ppt/notesMasters/notesMaster1.xml" Id="R4d8f95d6319f457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energy. Tell participants: keep laptops closed for 90 seconds. Then immediately run the finished voice-agent demo. Target: 1 minute.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script: ask for a room; interrupt halfway through the agent’s clarification; let the fake booking tool complete. Point out the three beats: ask, interrupt, tool completes. Target: 3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Set expectations: this is guided hands-on, with optional stretch work. Point out that each checkpoint is runnable. Target: 2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Share the repository link through the event page or attendee chat. Ask helpers to resolve keys, microphones, and browser permissions. Target: 4–6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Prerequisites in the repo README: modern Chromium browser, headphones, working mic, prepared Python environment, workshop credential path, and checkpoint folders.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frame pacing. For a 45-minute slot, compress setup, narrate the architecture diagram, and make the mini challenge one modification rather than a full build. Target: 1 minute.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Live-code only the Agent constructor. Participants copy the starter or uncomment the prepared block, run it, and ask one text question. Target: 6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https://google.github.io/agents-cli/guide/hands-on-tutorial/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a visible 3-minute timer. After 2 minutes, ask one person to read their instruction aloud. If participants are behind, direct them to checkpoint 01. Target: 4 minutes including debrief.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once with a vague docstring, then improve it. Ask participants to change one returned room or argument, run checkpoint 02, and verify the tool call in the trace. Target: 7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https://google.github.io/agents-cli/guide/hands-on-tutorial/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Participants run the prepared voice checkpoint and speak to their agent. Keep headphones on to avoid feedback. If a mic fails, pair participants—do not debug on the main stage. Target: 5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https://github.com/google/adk-docs/blob/main/docs/live/get-started/streaming-python.md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4 minutes. Ask participants to capture one awkward moment, not solve it yet. Use responses to transition into VAD and barge-in. Target: 5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Replay the interruption demo slowly. Point at the moment the user starts speaking. Explain VAD as activity detection and barge-in as the combined product behavior: detect, stop output, preserve the correction. Target: 4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https://adk.dev/streaming/dev-guide/part1/</a:t>
            </a:r>
          </a:p>
          <a:p xmlns:a="http://schemas.openxmlformats.org/drawingml/2006/main">
            <a:r>
              <a:t>- https://adk.dev/streaming/dev-guide/part2/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Stress that WebSocket is the app transport, LiveRequestQueue is the ordered per-session input channel, and run_live() produces downstream Events. Upstream and downstream run concurrently. Target: 5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https://adk.dev/streaming/dev-guide/part1/</a:t>
            </a:r>
          </a:p>
          <a:p xmlns:a="http://schemas.openxmlformats.org/drawingml/2006/main">
            <a:r>
              <a:t>- https://adk.dev/streaming/dev-guide/part2/</a:t>
            </a:r>
          </a:p>
          <a:p xmlns:a="http://schemas.openxmlformats.org/drawingml/2006/main">
            <a:r>
              <a:t>- https://adk.dev/streaming/dev-guide/part3/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the event log next to the live UI. Point out partial versus final transcripts and explain why the client should update rather than append every fragment. Target: 4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https://adk.dev/streaming/dev-guide/part3/</a:t>
            </a:r>
          </a:p>
          <a:p xmlns:a="http://schemas.openxmlformats.org/drawingml/2006/main">
            <a:r>
              <a:t>- https://adk.dev/streaming/dev-guide/part1/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checkpoint 04. The agent acknowledges the check before calling the tool. The tool waits five seconds, then either returns normal room data or a structured error for 13:00 / ROOM_TOOL_FAIL=1. The agent apologizes and offers another time without retrying automatically. Target: 4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through the actual checkpoint behavior: acknowledge before the call, wait five seconds, inspect the structured result, then apologize and offer another time. Emphasize that retryable is data for a future policy; this demo does not retry automatically. Target: 3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this practical: identify one metric and one guardrail for the room-booking agent. Mention that each streaming session needs isolated queue/config/state and that large media should not be treated like ordinary event payloads. Target: 4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https://adk.dev/streaming/dev-guide/part1/</a:t>
            </a:r>
          </a:p>
          <a:p xmlns:a="http://schemas.openxmlformats.org/drawingml/2006/main">
            <a:r>
              <a:t>- https://developers.googleblog.com/beyond-request-response-architecting-real-time-bidirectional-streaming-multi-agent-system/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a 6-minute timer. Invite two fast demos: 30 seconds each. If the slot is 45 minutes, reduce to 3 minutes and ask participants to choose option A only. Target: 7–8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Resolve the opening demo: participants can now name what was happening under the hood. End with one concrete action—replace the fake tool with a safe, observable workflow. Leave the repo and QR on screen after the deck if possible. Target: 2 minutes.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42f2ad580b47a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7e4a1f740924e18" /><Relationship Type="http://schemas.openxmlformats.org/officeDocument/2006/relationships/slideLayout" Target="/ppt/slideLayouts/slideLayout1.xml" Id="R31c07fb4ea5b406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1c07fb4ea5b406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96f14df4884ba9" /><Relationship Type="http://schemas.openxmlformats.org/officeDocument/2006/relationships/notesSlide" Target="/ppt/notesSlides/notesSlide1.xml" Id="Rb7322d7c617f4f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395899fcbf4420" /><Relationship Type="http://schemas.openxmlformats.org/officeDocument/2006/relationships/notesSlide" Target="/ppt/notesSlides/notesSlide2.xml" Id="R90934286f5424fe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0d0df82a23464e" /><Relationship Type="http://schemas.openxmlformats.org/officeDocument/2006/relationships/notesSlide" Target="/ppt/notesSlides/notesSlide3.xml" Id="R2597a7767f0a479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5b6cfd0f9f4828" /><Relationship Type="http://schemas.openxmlformats.org/officeDocument/2006/relationships/notesSlide" Target="/ppt/notesSlides/notesSlide4.xml" Id="R414b6c02869f4b6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dd10bd1f0246a7" /><Relationship Type="http://schemas.openxmlformats.org/officeDocument/2006/relationships/notesSlide" Target="/ppt/notesSlides/notesSlide5.xml" Id="Rf8efc78b64364df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b2b922dc3f42c2" /><Relationship Type="http://schemas.openxmlformats.org/officeDocument/2006/relationships/notesSlide" Target="/ppt/notesSlides/notesSlide6.xml" Id="R284331fc4eb0411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17f9e7825648f4" /><Relationship Type="http://schemas.openxmlformats.org/officeDocument/2006/relationships/notesSlide" Target="/ppt/notesSlides/notesSlide7.xml" Id="R193f3da1b27b456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c4779a8ee74e2f" /><Relationship Type="http://schemas.openxmlformats.org/officeDocument/2006/relationships/notesSlide" Target="/ppt/notesSlides/notesSlide8.xml" Id="R0e7c821651194f0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2d5396954e43ca" /><Relationship Type="http://schemas.openxmlformats.org/officeDocument/2006/relationships/notesSlide" Target="/ppt/notesSlides/notesSlide9.xml" Id="Rac7a743817fc423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11c0cfff384fab" /><Relationship Type="http://schemas.openxmlformats.org/officeDocument/2006/relationships/notesSlide" Target="/ppt/notesSlides/notesSlide10.xml" Id="Rb2ff0f767bc34f2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0c27bebbe449db" /><Relationship Type="http://schemas.openxmlformats.org/officeDocument/2006/relationships/notesSlide" Target="/ppt/notesSlides/notesSlide11.xml" Id="Rb6b3eb4777734b7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6cd4300c8a434e" /><Relationship Type="http://schemas.openxmlformats.org/officeDocument/2006/relationships/notesSlide" Target="/ppt/notesSlides/notesSlide12.xml" Id="Rb76d28452c79453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2c7aee3b5d4096" /><Relationship Type="http://schemas.openxmlformats.org/officeDocument/2006/relationships/notesSlide" Target="/ppt/notesSlides/notesSlide13.xml" Id="R1903fafb27cc489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309ea88e544664" /><Relationship Type="http://schemas.openxmlformats.org/officeDocument/2006/relationships/notesSlide" Target="/ppt/notesSlides/notesSlide14.xml" Id="R742740bd343649d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1ea7b54d314bd5" /><Relationship Type="http://schemas.openxmlformats.org/officeDocument/2006/relationships/notesSlide" Target="/ppt/notesSlides/notesSlide15.xml" Id="R253f9120e656462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1f4cda18ac4e2b" /><Relationship Type="http://schemas.openxmlformats.org/officeDocument/2006/relationships/notesSlide" Target="/ppt/notesSlides/notesSlide16.xml" Id="R99aa76c32536421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2f122175da42cb" /><Relationship Type="http://schemas.openxmlformats.org/officeDocument/2006/relationships/notesSlide" Target="/ppt/notesSlides/notesSlide17.xml" Id="Rd83ad039834b45b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b0314a495b4c04" /><Relationship Type="http://schemas.openxmlformats.org/officeDocument/2006/relationships/notesSlide" Target="/ppt/notesSlides/notesSlide18.xml" Id="R3770ca007c1a4d5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609DE5-F869-42E7-809D-EC2E24E0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27507E-D187-4808-AAC8-F2A6DDE0C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667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59A64"/>
                </a:solidFill>
              </a:defRPr>
            </a:pPr>
            <a:r>
              <a:rPr sz="1200" b="1" i="0">
                <a:solidFill>
                  <a:srgbClr val="159A64"/>
                </a:solidFill>
              </a:rPr>
              <a:t>GUIDED HANDS-ON WORKSHOP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C6A905-77AF-4AB2-8C5E-03ECCB3CD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52550"/>
            <a:ext cx="78105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163C2C"/>
                </a:solidFill>
              </a:defRPr>
            </a:pPr>
            <a:r>
              <a:rPr sz="4350" b="1" i="0">
                <a:solidFill>
                  <a:srgbClr val="163C2C"/>
                </a:solidFill>
              </a:rPr>
              <a:t>Building Voice Agents</a:t>
            </a:r>
          </a:p>
          <a:p xmlns:a="http://schemas.openxmlformats.org/drawingml/2006/main">
            <a:pPr algn="l">
              <a:defRPr sz="4350" b="1" i="0">
                <a:solidFill>
                  <a:srgbClr val="163C2C"/>
                </a:solidFill>
              </a:defRPr>
            </a:pPr>
            <a:r>
              <a:rPr sz="4350" b="1" i="0">
                <a:solidFill>
                  <a:srgbClr val="163C2C"/>
                </a:solidFill>
              </a:rPr>
              <a:t>with Google ADK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76AAD1-F6F5-4F46-98DF-5E36CB16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48B985"/>
                </a:solidFill>
              </a:defRPr>
            </a:pPr>
            <a:r>
              <a:rPr sz="1950" b="1" i="0">
                <a:solidFill>
                  <a:srgbClr val="48B985"/>
                </a:solidFill>
              </a:rPr>
              <a:t>From 10 lines of Python to production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6EAA98-100E-488E-AADD-DE5A9DC27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816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Saturday session  •  45–60 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400D16-18ED-4224-ACD9-40D3C88C8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781050"/>
            <a:ext cx="2857500" cy="47625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4990CC-A603-4A44-918F-7BC050ECA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990725"/>
            <a:ext cx="381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1B54AE-A2C3-4434-87F6-2DE34C89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1895475"/>
            <a:ext cx="381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44D6BA-7459-4ACB-A19F-724EA3BD5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74307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7C025D-C8E3-4DB1-A28F-7504A9932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1600200"/>
            <a:ext cx="38100" cy="990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5450F5-1668-40CA-9879-7296975DA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800225"/>
            <a:ext cx="381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B20647-7009-4E33-948C-F70BE511D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933575"/>
            <a:ext cx="38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A273D4-EDC7-4803-9D58-560C9B3FA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657350"/>
            <a:ext cx="38100" cy="876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DBC3AB-F42E-44B4-BB36-8E210D44A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1466850"/>
            <a:ext cx="3810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535504-40BE-4007-9453-93A3A383D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1685925"/>
            <a:ext cx="38100" cy="819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5751CC-B801-4B44-8C2A-7A823DE6C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184785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3CBF40-C729-4F61-AC9A-51A46571F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981200"/>
            <a:ext cx="381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BEC271-5DE8-4522-A2F2-1BF24B8BA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1781175"/>
            <a:ext cx="3810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6D7A4A-3C08-48E9-B2F7-4ED1CA05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562100"/>
            <a:ext cx="38100" cy="106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8CDA0B-3334-46AC-BF73-68CA56EE5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174307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AB112A-F906-4593-B8C1-1845C669F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1924050"/>
            <a:ext cx="3810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D5D21C-F601-403E-B7F6-7318D2F9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9475" y="2000250"/>
            <a:ext cx="381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26F6F3-0CD3-4AAC-9F82-DA58EA1DC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67050"/>
            <a:ext cx="1181100" cy="1181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B8F37E-B8D1-461C-B8B1-846CD1C7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419475"/>
            <a:ext cx="11811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7FBF8"/>
                </a:solidFill>
              </a:defRPr>
            </a:pPr>
            <a:r>
              <a:rPr sz="1800" b="1" i="0">
                <a:solidFill>
                  <a:srgbClr val="F7FBF8"/>
                </a:solidFill>
              </a:rPr>
              <a:t>LIVE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74B122-927F-4C23-A14F-F6E349FC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572000"/>
            <a:ext cx="2305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speak  •  interrupt  •  call tools</a:t>
            </a:r>
          </a:p>
        </p:txBody>
      </p:sp>
    </p:spTree>
    <p:extLst>
      <p:ext uri="{BB962C8B-B14F-4D97-AF65-F5344CB8AC3E}">
        <p14:creationId xmlns:p14="http://schemas.microsoft.com/office/powerpoint/2010/main" val="196801900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AE41260-A569-4859-AA98-76C50A307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0469A0-7283-4CEA-BBFD-EEA801AB1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59A64"/>
                </a:solidFill>
              </a:defRPr>
            </a:pPr>
            <a:r>
              <a:rPr sz="1125" b="1" i="0">
                <a:solidFill>
                  <a:srgbClr val="159A64"/>
                </a:solidFill>
              </a:rPr>
              <a:t>I SHOW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0EBA36-67BC-4238-890F-6CAB3A78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Watch three things happen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B135DC-2F1D-4F29-AAEA-A7DC1881F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Ask. Interrupt. See the tool complete.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35E5EF-BD0A-44DF-BB44-162318F29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F4E27B-3821-492B-A1F5-F228674D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0C46BB-A3D2-40A5-9100-E816D3C6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D20199-7AE7-40A0-81D4-0AF22A19E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638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63C2C"/>
                </a:solidFill>
              </a:defRPr>
            </a:pPr>
            <a:r>
              <a:rPr sz="2550" b="1" i="0">
                <a:solidFill>
                  <a:srgbClr val="163C2C"/>
                </a:solidFill>
              </a:rPr>
              <a:t>1  ASK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987C0E-0554-4AD9-803F-8ABAFCEF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24200"/>
            <a:ext cx="4381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1786E"/>
                </a:solidFill>
              </a:defRPr>
            </a:pPr>
            <a:r>
              <a:rPr sz="1575" b="0" i="0">
                <a:solidFill>
                  <a:srgbClr val="61786E"/>
                </a:solidFill>
              </a:rPr>
              <a:t>2  INTERRUPT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0A73BC-539B-4B9F-869D-6C984008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638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48B985"/>
                </a:solidFill>
              </a:defRPr>
            </a:pPr>
            <a:r>
              <a:rPr sz="2550" b="1" i="0">
                <a:solidFill>
                  <a:srgbClr val="48B985"/>
                </a:solidFill>
              </a:rPr>
              <a:t>3  TOOL COMPLETES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1179EC-6BD7-4F3D-BB27-4D0DA952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86000"/>
            <a:ext cx="2800350" cy="2419350"/>
          </a:xfrm>
          <a:prstGeom xmlns:a="http://schemas.openxmlformats.org/drawingml/2006/main" prst="roundRect">
            <a:avLst>
              <a:gd name="adj" fmla="val 62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0B7383-4DA9-49D2-ABB9-22D700642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76575"/>
            <a:ext cx="381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B2B531-D38F-44F4-A522-E5ABB203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981325"/>
            <a:ext cx="381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1D4583-854E-4390-B512-36C3D50CC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800350"/>
            <a:ext cx="38100" cy="723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9D6162-A55C-4CD6-894A-F87B27E9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600325"/>
            <a:ext cx="38100" cy="1123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854FD1-DB1D-45D6-AF1D-54E1F6FB9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857500"/>
            <a:ext cx="3810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D2EAF9-9565-4086-855C-D9C73FD54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019425"/>
            <a:ext cx="381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36019B-27BB-41A3-8A7A-07184037F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43200"/>
            <a:ext cx="38100" cy="838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C01D03-D9FD-4AB2-BCDB-EAFF5DC63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495550"/>
            <a:ext cx="38100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3A2AE5-53C1-4FF1-8122-94C444D0B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714625"/>
            <a:ext cx="38100" cy="895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C6B4E1-C411-4158-929D-DB0FDF1FA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2943225"/>
            <a:ext cx="381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3ED4BD-183E-4020-90FD-DFF8443D4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067050"/>
            <a:ext cx="381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405171-D7AA-41F0-970E-DD7FEDEFD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895600"/>
            <a:ext cx="3810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7AE0BF-E3DF-4BC0-8407-515A94D0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686050"/>
            <a:ext cx="38100" cy="952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6C4407-8A3F-4CC7-89DF-3C11D577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2828925"/>
            <a:ext cx="3810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D50692-8043-4355-A29B-E572E4D6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019425"/>
            <a:ext cx="381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376102-F33D-4803-974B-B0D15549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38600"/>
            <a:ext cx="2190750" cy="38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49DEF4-C1C0-4FA9-92AA-07081A831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10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D05B65"/>
                </a:solidFill>
              </a:defRPr>
            </a:pPr>
            <a:r>
              <a:rPr sz="1350" b="1" i="0">
                <a:solidFill>
                  <a:srgbClr val="D05B65"/>
                </a:solidFill>
              </a:rPr>
              <a:t>interrupt here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1020D0-9C39-4C0F-B50C-2B7F74935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6730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59A64"/>
                </a:solidFill>
              </a:defRPr>
            </a:pPr>
            <a:r>
              <a:rPr sz="1200" b="1" i="0">
                <a:solidFill>
                  <a:srgbClr val="159A64"/>
                </a:solidFill>
              </a:rPr>
              <a:t>The test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2B7324-FF09-459B-B28A-D9C8F5FEA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029200"/>
            <a:ext cx="733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63C2C"/>
                </a:solidFill>
              </a:defRPr>
            </a:pPr>
            <a:r>
              <a:rPr sz="1575" b="0" i="0">
                <a:solidFill>
                  <a:srgbClr val="163C2C"/>
                </a:solidFill>
              </a:rPr>
              <a:t>The agent stops speaking and keeps your correction.</a:t>
            </a:r>
          </a:p>
        </p:txBody>
      </p:sp>
    </p:spTree>
    <p:extLst>
      <p:ext uri="{BB962C8B-B14F-4D97-AF65-F5344CB8AC3E}">
        <p14:creationId xmlns:p14="http://schemas.microsoft.com/office/powerpoint/2010/main" val="20757982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508565-86BE-4F09-BFA8-C7EA454C9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699A0C-C1D4-4F83-9AEE-732635679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7FA847"/>
                </a:solidFill>
              </a:defRPr>
            </a:pPr>
            <a:r>
              <a:rPr sz="1125" b="1" i="0">
                <a:solidFill>
                  <a:srgbClr val="7FA847"/>
                </a:solidFill>
              </a:rPr>
              <a:t>TOGETHER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3EAF27-73BB-4A61-B17B-E977EE1A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By the end, your agent will talk back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98B398-8809-4005-BC01-BEDE39D7C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We will build in checkpoints, so nobody gets stranded.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65DF08-B5C2-4356-BB69-F58288871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B98F85-9081-42FE-AF3F-63C627436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C59A37-6702-4B40-8FCD-B927F99DE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5550FA-6F5A-484F-90E0-2A8C1EE95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00325"/>
            <a:ext cx="8858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097574-F46E-49C7-A0DF-991D06DFC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295525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9525">
            <a:solidFill>
              <a:srgbClr val="159A6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6AC814-1028-4530-825B-2B3713818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466975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7FBF8"/>
                </a:solidFill>
              </a:defRPr>
            </a:pPr>
            <a:r>
              <a:rPr sz="1350" b="1" i="0">
                <a:solidFill>
                  <a:srgbClr val="F7FBF8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619ADD-A7C7-4594-A6F2-1412DE59F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2390775"/>
            <a:ext cx="1847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EF4CBB-216E-4390-94F7-F540556B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295525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9525">
            <a:solidFill>
              <a:srgbClr val="48B98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9A19BC-22C5-49BB-A71B-5572F7904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466975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7FBF8"/>
                </a:solidFill>
              </a:defRPr>
            </a:pPr>
            <a:r>
              <a:rPr sz="1350" b="1" i="0">
                <a:solidFill>
                  <a:srgbClr val="F7FBF8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F887EC-CF6F-429C-B956-E4CA45BD9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390775"/>
            <a:ext cx="2038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2C1AD0-E3BC-45B8-B423-BD5F24395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295525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AF8D"/>
          </a:solidFill>
          <a:ln xmlns:a="http://schemas.openxmlformats.org/drawingml/2006/main" w="9525">
            <a:solidFill>
              <a:srgbClr val="6FAF8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B1C0FA-09DC-48E7-B795-D4472E6FC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466975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7FBF8"/>
                </a:solidFill>
              </a:defRPr>
            </a:pPr>
            <a:r>
              <a:rPr sz="1350" b="1" i="0">
                <a:solidFill>
                  <a:srgbClr val="F7FBF8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A95879-D0D4-4B17-801B-0DF949C70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390775"/>
            <a:ext cx="1466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4FAA4D-570D-40E2-B788-83401B0EF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95525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9525">
            <a:solidFill>
              <a:srgbClr val="7FA84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1164C9-6DF0-4624-8FB9-F59ED37C9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466975"/>
            <a:ext cx="609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7FBF8"/>
                </a:solidFill>
              </a:defRPr>
            </a:pPr>
            <a:r>
              <a:rPr sz="1350" b="1" i="0">
                <a:solidFill>
                  <a:srgbClr val="F7FBF8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07D8A8-FB94-4A0B-918F-50CBFFDDE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390775"/>
            <a:ext cx="1657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792540-8BA4-4E8B-832A-27D94463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1623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Basic agent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724999-AC4A-42A3-8B08-7724E99A6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31623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Tool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D6EBB3-E64D-4255-96D3-AFFFA00B7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1623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Live audio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DC32CC-49A6-45B0-9A1E-DD9B37B2D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1623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Latency + failure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F31D8D-F9AF-4F07-84CE-97AEC70B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76750"/>
            <a:ext cx="962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48B985"/>
                </a:solidFill>
              </a:defRPr>
            </a:pPr>
            <a:r>
              <a:rPr sz="2100" b="1" i="0">
                <a:solidFill>
                  <a:srgbClr val="48B985"/>
                </a:solidFill>
              </a:rPr>
              <a:t>You type only the pieces that teach the idea. Checkpoints carry the rest.</a:t>
            </a:r>
          </a:p>
        </p:txBody>
      </p:sp>
    </p:spTree>
    <p:extLst>
      <p:ext uri="{BB962C8B-B14F-4D97-AF65-F5344CB8AC3E}">
        <p14:creationId xmlns:p14="http://schemas.microsoft.com/office/powerpoint/2010/main" val="9044703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E2ECE9-8ADC-4E6A-9E8D-253548B27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CE36E1-0A76-404A-A989-D75B5B148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48B985"/>
                </a:solidFill>
              </a:defRPr>
            </a:pPr>
            <a:r>
              <a:rPr sz="1125" b="1" i="0">
                <a:solidFill>
                  <a:srgbClr val="48B985"/>
                </a:solidFill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8E4CA6-55AD-438F-9231-6AA750231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Get to a green check before we start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7C6404-A7B9-4567-83A3-51464B4A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Scan the repo, open the starter, and run the preflight.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1780A9-F4EC-4A30-9D81-A72AC927E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D5A579-E055-4225-B906-4FB52FB5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20BCA3-A013-4259-A5D7-78F811C4A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BEA541-EE83-41A6-87B5-A8374517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38375"/>
            <a:ext cx="2628900" cy="30480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103428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F9B1A1-D9CF-4D52-8F28-CCEC2675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38375"/>
            <a:ext cx="66675" cy="3048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B63271-AC9B-41A9-B225-F5AE99A4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09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8A1517-4EF8-4B6F-A0F5-A4B395638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09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92809F-CE5C-41A5-97EA-4A8E74197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09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5C82C1-D8D1-4AB8-B019-90E14D4D2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14625"/>
            <a:ext cx="21526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uv sync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uv run python scripts/preflight.py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# Expected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✓ READY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931786-F1B8-4341-B998-0A7E41D31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669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159A64"/>
                </a:solidFill>
              </a:defRPr>
            </a:pPr>
            <a:r>
              <a:rPr sz="2250" b="1" i="0">
                <a:solidFill>
                  <a:srgbClr val="159A64"/>
                </a:solidFill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B35D64-9DE3-4083-A1F8-832CDB380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050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63C2C"/>
                </a:solidFill>
              </a:defRPr>
            </a:pPr>
            <a:r>
              <a:rPr sz="1800" b="1" i="0">
                <a:solidFill>
                  <a:srgbClr val="163C2C"/>
                </a:solidFill>
              </a:rPr>
              <a:t>Open the workshop repo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329349-C0F1-46EA-AF8E-177CD163C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0861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159A64"/>
                </a:solidFill>
              </a:defRPr>
            </a:pPr>
            <a:r>
              <a:rPr sz="2250" b="1" i="0">
                <a:solidFill>
                  <a:srgbClr val="159A64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BD6618-B69D-4E15-9459-55E878131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1242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63C2C"/>
                </a:solidFill>
              </a:defRPr>
            </a:pPr>
            <a:r>
              <a:rPr sz="1800" b="1" i="0">
                <a:solidFill>
                  <a:srgbClr val="163C2C"/>
                </a:solidFill>
              </a:rPr>
              <a:t>Use the prepared environment + API key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7847EE-9E73-4718-A4B7-C3B1B113C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9052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159A64"/>
                </a:solidFill>
              </a:defRPr>
            </a:pPr>
            <a:r>
              <a:rPr sz="2250" b="1" i="0">
                <a:solidFill>
                  <a:srgbClr val="159A64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D615BF-0F45-453F-B996-9C0AE1E7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433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63C2C"/>
                </a:solidFill>
              </a:defRPr>
            </a:pPr>
            <a:r>
              <a:rPr sz="1800" b="1" i="0">
                <a:solidFill>
                  <a:srgbClr val="163C2C"/>
                </a:solidFill>
              </a:rPr>
              <a:t>Run the preflight → see ✓ READY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80F0C-A38E-4C18-B1B8-EFCD284A8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762500"/>
            <a:ext cx="66294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97F64E-9C3C-4F68-A9DA-9C882267D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972050"/>
            <a:ext cx="6115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48B985"/>
                </a:solidFill>
              </a:defRPr>
            </a:pPr>
            <a:r>
              <a:rPr sz="1500" b="1" i="0">
                <a:solidFill>
                  <a:srgbClr val="48B985"/>
                </a:solidFill>
              </a:rPr>
              <a:t>Stuck? Jump to the next checkpoint folder and keep moving.</a:t>
            </a:r>
          </a:p>
        </p:txBody>
      </p:sp>
    </p:spTree>
    <p:extLst>
      <p:ext uri="{BB962C8B-B14F-4D97-AF65-F5344CB8AC3E}">
        <p14:creationId xmlns:p14="http://schemas.microsoft.com/office/powerpoint/2010/main" val="12390722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2DC259-F6DC-40A3-964B-4D53A65D5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C6E863-BD20-42E1-AB9C-0AB363D89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7FA847"/>
                </a:solidFill>
              </a:defRPr>
            </a:pPr>
            <a:r>
              <a:rPr sz="1125" b="1" i="0">
                <a:solidFill>
                  <a:srgbClr val="7FA847"/>
                </a:solidFill>
              </a:rPr>
              <a:t>TOGETHER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2EDE22-C2DE-4E8F-9717-B389CCCAA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Build first. Explain the machinery second.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7D0787-2386-41F3-B4ED-93728DF7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The workshop alternates short demos with immediate practice.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AB8D25-D605-4B2B-A171-A2950AF52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E5039F-EB22-41C9-A513-CD254471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0A14DA-901B-4B25-85F5-36B525B6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CB0716-226B-49A5-A096-F84E84C42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43250"/>
            <a:ext cx="93821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CDED1C-A14E-4B17-8220-E3EAE7E82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43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33A753-E0E2-4612-95FC-E883BD819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384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7FBF8"/>
                </a:solidFill>
              </a:defRPr>
            </a:pPr>
            <a:r>
              <a:rPr sz="1200" b="1" i="0">
                <a:solidFill>
                  <a:srgbClr val="F7FBF8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BBCACB-E05A-4E2D-AE9A-DACCD2F72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385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163C2C"/>
                </a:solidFill>
              </a:defRPr>
            </a:pPr>
            <a:r>
              <a:rPr sz="1275" b="1" i="0">
                <a:solidFill>
                  <a:srgbClr val="163C2C"/>
                </a:solidFill>
              </a:rPr>
              <a:t>HOOK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AA1C2D-5075-45CD-BF70-385EDCA0E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433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61786E"/>
                </a:solidFill>
              </a:defRPr>
            </a:pPr>
            <a:r>
              <a:rPr sz="1125" b="0" i="0">
                <a:solidFill>
                  <a:srgbClr val="61786E"/>
                </a:solidFill>
              </a:rPr>
              <a:t>0–5 min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F2DAB4-C671-4FFA-A4E1-EBC93F19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943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9F1527-BA24-4E05-BE02-C0E0F127B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0384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7FBF8"/>
                </a:solidFill>
              </a:defRPr>
            </a:pPr>
            <a:r>
              <a:rPr sz="1200" b="1" i="0">
                <a:solidFill>
                  <a:srgbClr val="F7FBF8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227837-69FC-4087-A73E-40BC4236D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6385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163C2C"/>
                </a:solidFill>
              </a:defRPr>
            </a:pPr>
            <a:r>
              <a:rPr sz="1275" b="1" i="0">
                <a:solidFill>
                  <a:srgbClr val="163C2C"/>
                </a:solidFill>
              </a:rPr>
              <a:t>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14AB3D-FA49-4331-891B-F508CE747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9433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61786E"/>
                </a:solidFill>
              </a:defRPr>
            </a:pPr>
            <a:r>
              <a:rPr sz="1125" b="0" i="0">
                <a:solidFill>
                  <a:srgbClr val="61786E"/>
                </a:solidFill>
              </a:rPr>
              <a:t>5–15 min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28194A-51BE-4305-87C1-4661B965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43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D5DCBD-549C-4529-B6A0-133414CB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384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7FBF8"/>
                </a:solidFill>
              </a:defRPr>
            </a:pPr>
            <a:r>
              <a:rPr sz="1200" b="1" i="0">
                <a:solidFill>
                  <a:srgbClr val="F7FBF8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7D0406-0538-4BCC-94EE-98822F3A9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6385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163C2C"/>
                </a:solidFill>
              </a:defRPr>
            </a:pPr>
            <a:r>
              <a:rPr sz="1275" b="1" i="0">
                <a:solidFill>
                  <a:srgbClr val="163C2C"/>
                </a:solidFill>
              </a:rPr>
              <a:t>TOOL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06A6D5-893A-4C58-8BAB-F468095C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9433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61786E"/>
                </a:solidFill>
              </a:defRPr>
            </a:pPr>
            <a:r>
              <a:rPr sz="1125" b="0" i="0">
                <a:solidFill>
                  <a:srgbClr val="61786E"/>
                </a:solidFill>
              </a:rPr>
              <a:t>15–24 min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A75E4D-CBB6-4EAB-A8DB-B82A5CBA0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43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AF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865BAA-0C1E-4AA9-8720-23C2621F5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384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7FBF8"/>
                </a:solidFill>
              </a:defRPr>
            </a:pPr>
            <a:r>
              <a:rPr sz="1200" b="1" i="0">
                <a:solidFill>
                  <a:srgbClr val="F7FBF8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9F005A-2BFC-4B7F-B335-0466341A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6385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163C2C"/>
                </a:solidFill>
              </a:defRPr>
            </a:pPr>
            <a:r>
              <a:rPr sz="1275" b="1" i="0">
                <a:solidFill>
                  <a:srgbClr val="163C2C"/>
                </a:solidFill>
              </a:rPr>
              <a:t>VOICE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3E66B3-1AB2-40DC-BF56-A97DB943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9433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61786E"/>
                </a:solidFill>
              </a:defRPr>
            </a:pPr>
            <a:r>
              <a:rPr sz="1125" b="0" i="0">
                <a:solidFill>
                  <a:srgbClr val="61786E"/>
                </a:solidFill>
              </a:rPr>
              <a:t>24–35 min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D57972-852A-49BA-9941-4EF31BC6A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943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E16527-C951-40A3-A1FE-4D6AB539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384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7FBF8"/>
                </a:solidFill>
              </a:defRPr>
            </a:pPr>
            <a:r>
              <a:rPr sz="1200" b="1" i="0">
                <a:solidFill>
                  <a:srgbClr val="F7FBF8"/>
                </a:solidFill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670BC2-6634-42F0-B700-1A65BAD8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6385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163C2C"/>
                </a:solidFill>
              </a:defRPr>
            </a:pPr>
            <a:r>
              <a:rPr sz="1275" b="1" i="0">
                <a:solidFill>
                  <a:srgbClr val="163C2C"/>
                </a:solidFill>
              </a:rPr>
              <a:t>BREAK IT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39A1DF-2190-4F6F-A1DF-145D492CE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9433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61786E"/>
                </a:solidFill>
              </a:defRPr>
            </a:pPr>
            <a:r>
              <a:rPr sz="1125" b="0" i="0">
                <a:solidFill>
                  <a:srgbClr val="61786E"/>
                </a:solidFill>
              </a:rPr>
              <a:t>35–46 min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F874969-363E-422D-872E-CE9E46B02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943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B0B8DE-E0FC-47A0-A58F-7A6DBAC0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03847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7FBF8"/>
                </a:solidFill>
              </a:defRPr>
            </a:pPr>
            <a:r>
              <a:rPr sz="1200" b="1" i="0">
                <a:solidFill>
                  <a:srgbClr val="F7FBF8"/>
                </a:solidFill>
              </a:rPr>
              <a:t>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A50CCB-43BA-4905-9187-4ECE9BD07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6385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163C2C"/>
                </a:solidFill>
              </a:defRPr>
            </a:pPr>
            <a:r>
              <a:rPr sz="1275" b="1" i="0">
                <a:solidFill>
                  <a:srgbClr val="163C2C"/>
                </a:solidFill>
              </a:rPr>
              <a:t>SHIP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3A01380-0176-45AD-90A1-4C0DB346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94335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61786E"/>
                </a:solidFill>
              </a:defRPr>
            </a:pPr>
            <a:r>
              <a:rPr sz="1125" b="0" i="0">
                <a:solidFill>
                  <a:srgbClr val="61786E"/>
                </a:solidFill>
              </a:rPr>
              <a:t>46–58 min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F05471B-B40D-4BE8-9493-79035CEC0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14900"/>
            <a:ext cx="9563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48B985"/>
                </a:solidFill>
              </a:defRPr>
            </a:pPr>
            <a:r>
              <a:rPr sz="1800" b="1" i="0">
                <a:solidFill>
                  <a:srgbClr val="48B985"/>
                </a:solidFill>
              </a:rPr>
              <a:t>If time is tight: skip the custom WebSocket code walkthrough, not the hands-on voice test.</a:t>
            </a:r>
          </a:p>
        </p:txBody>
      </p:sp>
    </p:spTree>
    <p:extLst>
      <p:ext uri="{BB962C8B-B14F-4D97-AF65-F5344CB8AC3E}">
        <p14:creationId xmlns:p14="http://schemas.microsoft.com/office/powerpoint/2010/main" val="13035101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AA01E4-0725-433B-9BC5-5E4A7A51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2C5A51-CBF2-470F-87B5-32A1F1DAD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7FA847"/>
                </a:solidFill>
              </a:defRPr>
            </a:pPr>
            <a:r>
              <a:rPr sz="1125" b="1" i="0">
                <a:solidFill>
                  <a:srgbClr val="7FA847"/>
                </a:solidFill>
              </a:rPr>
              <a:t>I SHOW → 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BDB3D0-8833-4483-94CB-372A2B1B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An agent is a model with a job and tools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CE99A1-86C2-4AEF-9BC6-7C37C13DD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Start with the smallest thing that can answer.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BFE8A0-6925-4259-A5C3-17A414A34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309605-7A34-426D-9411-E9632C9A2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BA98C2-6377-4976-AE3B-048F63E1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8E0C39-81E5-44A5-B5E9-E973F90E2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653415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103428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3701C5-3827-4B4F-9399-90E7B527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66675" cy="3371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D98A5A-3797-4EE5-A14B-08C0913EE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1877B6-6500-4C0F-9110-252F466A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43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C11DE5-64F7-417C-820E-060A32196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43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CCA431-13AE-4914-880D-6D1DDF8A3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47950"/>
            <a:ext cx="60579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from google.adk.agents import Agent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from adk_voice_workshop.config import text_model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root_agent = Agent(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name="room_agent",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model=text_model(),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instruction="Help people find a room.",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00AFF6-43D5-4C84-845C-2BE2A966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479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59A64"/>
                </a:solidFill>
              </a:defRPr>
            </a:pPr>
            <a:r>
              <a:rPr sz="1800" b="1" i="0">
                <a:solidFill>
                  <a:srgbClr val="159A64"/>
                </a:solidFill>
              </a:rPr>
              <a:t>Three decisions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8110CB-807F-4173-9E9F-B057D9FF3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8765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name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62714C-F81F-4724-8B90-4624C472E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8575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identity in the app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2BD9CB-E2B0-4EFD-838E-91F5AEE86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242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model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4863DF-CED4-441D-BFFC-764E4A762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5052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text model first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4EEFC4-E6F8-4A81-82AC-65C235B3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1719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1786E"/>
                </a:solidFill>
              </a:defRPr>
            </a:pPr>
            <a:r>
              <a:rPr sz="1275" b="0" i="0">
                <a:solidFill>
                  <a:srgbClr val="61786E"/>
                </a:solidFill>
              </a:rPr>
              <a:t>instruction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7ADDCE-8F2E-4098-8A1D-82A1A65A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1529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63C2C"/>
                </a:solidFill>
              </a:defRPr>
            </a:pPr>
            <a:r>
              <a:rPr sz="1425" b="0" i="0">
                <a:solidFill>
                  <a:srgbClr val="163C2C"/>
                </a:solidFill>
              </a:rPr>
              <a:t>behavior boundary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DE472E-54CB-447F-990A-B5F5ABD32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57750"/>
            <a:ext cx="3524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6A938B-D7B5-4FE9-A892-97DA5DD73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3105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48B985"/>
                </a:solidFill>
              </a:defRPr>
            </a:pPr>
            <a:r>
              <a:rPr sz="1275" b="1" i="0">
                <a:solidFill>
                  <a:srgbClr val="48B985"/>
                </a:solidFill>
              </a:rPr>
              <a:t>Run checkpoint 01. Ask one question.</a:t>
            </a:r>
          </a:p>
        </p:txBody>
      </p:sp>
    </p:spTree>
    <p:extLst>
      <p:ext uri="{BB962C8B-B14F-4D97-AF65-F5344CB8AC3E}">
        <p14:creationId xmlns:p14="http://schemas.microsoft.com/office/powerpoint/2010/main" val="19933928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312EA9-117F-48F9-B694-C081F19E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B74DAF-5B33-4ADA-ADEB-02FE8673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48B985"/>
                </a:solidFill>
              </a:defRPr>
            </a:pPr>
            <a:r>
              <a:rPr sz="1125" b="1" i="0">
                <a:solidFill>
                  <a:srgbClr val="48B985"/>
                </a:solidFill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347768-A790-464C-A73A-CA8F87C3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Make the instruction observable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AC162E-45F2-4709-BE2D-F5ABEABD5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Change one behavior, then prove it changed.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6C1F97-4BF6-40ED-B766-104E039E1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394237-2A3C-4216-8DDA-A6935D6B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758C2D-561A-4EF9-A264-935711668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BBE739-5C41-43E0-8A52-C468633E1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2410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48B985"/>
                </a:solidFill>
              </a:defRPr>
            </a:pPr>
            <a:r>
              <a:rPr sz="1200" b="1" i="0">
                <a:solidFill>
                  <a:srgbClr val="48B985"/>
                </a:solidFill>
              </a:rPr>
              <a:t>TASK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F5E2DB-8611-4308-A90D-B70E04A7B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5100"/>
            <a:ext cx="666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163C2C"/>
                </a:solidFill>
              </a:defRPr>
            </a:pPr>
            <a:r>
              <a:rPr sz="2250" b="1" i="0">
                <a:solidFill>
                  <a:srgbClr val="163C2C"/>
                </a:solidFill>
              </a:rPr>
              <a:t>Ask exactly one follow-up before recommending a room.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B8DB2F-6D1C-4F1D-A05D-CFA9CB9A0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3380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59A64"/>
                </a:solidFill>
              </a:defRPr>
            </a:pPr>
            <a:r>
              <a:rPr sz="1200" b="1" i="0">
                <a:solidFill>
                  <a:srgbClr val="159A64"/>
                </a:solidFill>
              </a:rPr>
              <a:t>TEST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3106E2-C515-47E6-A627-4C30BA602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148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0" i="1">
                <a:solidFill>
                  <a:srgbClr val="159A64"/>
                </a:solidFill>
              </a:defRPr>
            </a:pPr>
            <a:r>
              <a:rPr sz="2025" b="0" i="1">
                <a:solidFill>
                  <a:srgbClr val="159A64"/>
                </a:solidFill>
              </a:rPr>
              <a:t>“Find me a room tomorrow.”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9042F0-7B3E-46E1-B0E9-FF2821D60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66950"/>
            <a:ext cx="3314700" cy="2724150"/>
          </a:xfrm>
          <a:prstGeom xmlns:a="http://schemas.openxmlformats.org/drawingml/2006/main" prst="roundRect">
            <a:avLst>
              <a:gd name="adj" fmla="val 55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5CC6E5-9C6E-48A3-B817-D53F76EB6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590800"/>
            <a:ext cx="2705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7FA847"/>
                </a:solidFill>
              </a:defRPr>
            </a:pPr>
            <a:r>
              <a:rPr sz="1200" b="1" i="0">
                <a:solidFill>
                  <a:srgbClr val="7FA847"/>
                </a:solidFill>
              </a:rPr>
              <a:t>DONE WHEN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642110-4EAC-4FD0-9432-FF18F980F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8135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48B985"/>
                </a:solidFill>
              </a:defRPr>
            </a:pPr>
            <a:r>
              <a:rPr sz="2100" b="1" i="0">
                <a:solidFill>
                  <a:srgbClr val="48B985"/>
                </a:solidFill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270B37-22D9-497C-A60C-63DE157E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2194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It asks before acting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DD4B1B-0536-48CA-AFD8-4E02CB1E3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4810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48B985"/>
                </a:solidFill>
              </a:defRPr>
            </a:pPr>
            <a:r>
              <a:rPr sz="2100" b="1" i="0">
                <a:solidFill>
                  <a:srgbClr val="48B985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F1B863-5829-40F4-8F21-BE324BD92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8862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The response stays short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D6B61B-7407-43EF-AA1A-D46175ED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149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61786E"/>
                </a:solidFill>
              </a:defRPr>
            </a:pPr>
            <a:r>
              <a:rPr sz="1500" b="1" i="0">
                <a:solidFill>
                  <a:srgbClr val="61786E"/>
                </a:solidFill>
              </a:rPr>
              <a:t>3 minutes</a:t>
            </a:r>
          </a:p>
        </p:txBody>
      </p:sp>
    </p:spTree>
    <p:extLst>
      <p:ext uri="{BB962C8B-B14F-4D97-AF65-F5344CB8AC3E}">
        <p14:creationId xmlns:p14="http://schemas.microsoft.com/office/powerpoint/2010/main" val="89431657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347000-71D6-4441-BBDD-E4BACA25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5F5487-107F-44B6-B4F8-FC66D82F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7FA847"/>
                </a:solidFill>
              </a:defRPr>
            </a:pPr>
            <a:r>
              <a:rPr sz="1125" b="1" i="0">
                <a:solidFill>
                  <a:srgbClr val="7FA847"/>
                </a:solidFill>
              </a:rPr>
              <a:t>I SHOW → 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69FA25-8BB7-40D4-9E01-C7354AC33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A clear function becomes a capability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743BD7-59B4-49E1-B81B-842781474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The signature constrains inputs; the docstring teaches intent.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B122B5-AE05-4E89-9CBD-0A2EF145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437630-2DF3-43AD-A521-6E4A5FBD2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CBE1AF-2A7B-4787-8D9D-6FF9C5991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A91E01-9419-4995-B570-89A687255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59055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103428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0FAA91-A087-4EE5-8681-FFE41859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66675" cy="3048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D169CA-F671-4AB1-9268-859FB743E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24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EE5A70-7E02-48FD-9B1A-790AC3223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24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136222-2A0A-486B-8858-2C8D34E71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24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2D722E-F3F9-47D1-BB07-2C8F46455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28900"/>
            <a:ext cx="54292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def find_rooms(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after_hour: int,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minimum_capacity: int = 1,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) -&gt; dict: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...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return {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    "status": "success",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    "rooms": matches,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14EDD2-581F-4EB9-B5D8-162EF6FD7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1526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48B985"/>
                </a:solidFill>
              </a:defRPr>
            </a:pPr>
            <a:r>
              <a:rPr sz="1200" b="1" i="0">
                <a:solidFill>
                  <a:srgbClr val="48B985"/>
                </a:solidFill>
              </a:rPr>
              <a:t>STRUCTURED RESULT · find_rooms(16, 10)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A6E652-4EE0-4D5B-AA41-823F1C8B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514600"/>
            <a:ext cx="4000500" cy="268605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rgbClr val="103428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57A9E1-5ADB-4DEC-ADEC-F51713A69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514600"/>
            <a:ext cx="66675" cy="2686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19D352-9876-47B6-9C5E-AE13D0801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686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F82ABF-74DC-4B4D-96CB-3982149F5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686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C4A96C-954F-4A8A-9AB8-30BDC1683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860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8C635B-4203-49D4-8084-18CDAC23C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90850"/>
            <a:ext cx="3524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{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"status": "success",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"rooms": [{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"name": "Cedar",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"available_from": 17,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"capacity": 12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}]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E1423C-F4C4-4092-9C4D-1E06D107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477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18E5C9-4B3A-4EDB-8664-D9CA2A795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24500"/>
            <a:ext cx="10020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63C2C"/>
                </a:solidFill>
              </a:defRPr>
            </a:pPr>
            <a:r>
              <a:rPr sz="1500" b="1" i="0">
                <a:solidFill>
                  <a:srgbClr val="163C2C"/>
                </a:solidFill>
              </a:rPr>
              <a:t>Agent(..., tools=[find_rooms])</a:t>
            </a:r>
          </a:p>
        </p:txBody>
      </p:sp>
    </p:spTree>
    <p:extLst>
      <p:ext uri="{BB962C8B-B14F-4D97-AF65-F5344CB8AC3E}">
        <p14:creationId xmlns:p14="http://schemas.microsoft.com/office/powerpoint/2010/main" val="19109423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4DF4923-FB8B-4321-B37C-32247B338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A6E27A-5E01-42F8-B65B-3CF649C9E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48B985"/>
                </a:solidFill>
              </a:defRPr>
            </a:pPr>
            <a:r>
              <a:rPr sz="1125" b="1" i="0">
                <a:solidFill>
                  <a:srgbClr val="48B985"/>
                </a:solidFill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858765-A20D-4ED6-A6F6-CAC8AB2D8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Voice is a streaming session, not a TTS toggle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0E6B46-373E-47E1-8CA8-D1554F062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Use the prepared playground first; custom plumbing comes later.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AB50DE-33B1-4523-BA82-6299A507D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2E6938-1D7A-488D-B71B-15EB2741E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B970FC-6D8D-4379-B220-E092BDE55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56B113-046C-48B7-8B12-78719A939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66950"/>
            <a:ext cx="4953000" cy="26670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1A59EA-6D72-491D-B114-95EAB9B42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717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6FAF8D"/>
                </a:solidFill>
              </a:defRPr>
            </a:pPr>
            <a:r>
              <a:rPr sz="1200" b="1" i="0">
                <a:solidFill>
                  <a:srgbClr val="6FAF8D"/>
                </a:solidFill>
              </a:rPr>
              <a:t>CHECKPOINT 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E06B4A-FB97-403F-A1ED-2F1F6341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4000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63C2C"/>
                </a:solidFill>
              </a:defRPr>
            </a:pPr>
            <a:r>
              <a:rPr sz="1725" b="0" i="0">
                <a:solidFill>
                  <a:srgbClr val="163C2C"/>
                </a:solidFill>
              </a:rPr>
              <a:t>1. Start the dev UI</a:t>
            </a:r>
          </a:p>
          <a:p xmlns:a="http://schemas.openxmlformats.org/drawingml/2006/main">
            <a:pPr algn="l">
              <a:defRPr sz="1725" b="0" i="0">
                <a:solidFill>
                  <a:srgbClr val="163C2C"/>
                </a:solidFill>
              </a:defRPr>
            </a:pPr>
            <a:r>
              <a:rPr sz="1725" b="0" i="0">
                <a:solidFill>
                  <a:srgbClr val="163C2C"/>
                </a:solidFill>
              </a:rPr>
              <a:t>2. Select the agent</a:t>
            </a:r>
          </a:p>
          <a:p xmlns:a="http://schemas.openxmlformats.org/drawingml/2006/main">
            <a:pPr algn="l">
              <a:defRPr sz="1725" b="0" i="0">
                <a:solidFill>
                  <a:srgbClr val="163C2C"/>
                </a:solidFill>
              </a:defRPr>
            </a:pPr>
            <a:r>
              <a:rPr sz="1725" b="0" i="0">
                <a:solidFill>
                  <a:srgbClr val="163C2C"/>
                </a:solidFill>
              </a:rPr>
              <a:t>3. Allow microphone access</a:t>
            </a:r>
          </a:p>
          <a:p xmlns:a="http://schemas.openxmlformats.org/drawingml/2006/main">
            <a:pPr algn="l">
              <a:defRPr sz="1725" b="0" i="0">
                <a:solidFill>
                  <a:srgbClr val="163C2C"/>
                </a:solidFill>
              </a:defRPr>
            </a:pPr>
            <a:r>
              <a:rPr sz="1725" b="0" i="0">
                <a:solidFill>
                  <a:srgbClr val="163C2C"/>
                </a:solidFill>
              </a:rPr>
              <a:t>4. Ask for a room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E9B24F-BA97-49D4-BE79-AE25095D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62200"/>
            <a:ext cx="171450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AF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7FCA5B-9A0C-445E-A147-E4E7BFEFB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95275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F7FBF8"/>
                </a:solidFill>
              </a:defRPr>
            </a:pPr>
            <a:r>
              <a:rPr sz="2250" b="1" i="0">
                <a:solidFill>
                  <a:srgbClr val="F7FBF8"/>
                </a:solidFill>
              </a:rPr>
              <a:t>MIC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CC68AE-8479-4F02-8D7E-8D96F246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72025"/>
            <a:ext cx="381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AF39B7-5D43-42D8-A237-B947985B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76775"/>
            <a:ext cx="381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FDFA9E-7F86-4176-BADE-6CA5C1EC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52437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277AF-CF3E-4C97-AD31-569E52A35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81500"/>
            <a:ext cx="38100" cy="990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0C2C4F-CED4-4D06-9181-8726A5DA9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581525"/>
            <a:ext cx="381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AC876E-7F76-43AA-B6B1-DD65CB683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714875"/>
            <a:ext cx="38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864C88-9064-41E1-92D8-8FC5E833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438650"/>
            <a:ext cx="38100" cy="876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A74895-F790-4FFA-B3EE-2419D26A6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248150"/>
            <a:ext cx="3810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F9C939-AC3B-420F-9E61-6E3B9457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467225"/>
            <a:ext cx="38100" cy="819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A19C60-A236-493D-91E8-17C915B23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62915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91AD89-A405-45B0-9B67-F30B99D1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762500"/>
            <a:ext cx="381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37B136-1379-4962-B7CE-1D067A407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62475"/>
            <a:ext cx="3810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1EBEA0-9C8B-4599-9A5D-A80E2BFC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343400"/>
            <a:ext cx="38100" cy="106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B5FB65-5A3F-49B6-9EE7-39633CF96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52437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2631C3-60A7-4B10-A2AD-CF9C68C82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705350"/>
            <a:ext cx="3810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06831C-7CA2-4088-83A1-C5B963FEB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781550"/>
            <a:ext cx="381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DA414E-3DD7-4E48-A5A0-85E9BDF6C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2915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ADB8D1-D3A5-4D48-A789-B00AE5A85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448175"/>
            <a:ext cx="38100" cy="857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5C033F5-3C34-4C76-82E2-0DD217F57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657725"/>
            <a:ext cx="381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4AB9F7-5EF5-420D-8CC7-D4E30D44A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791075"/>
            <a:ext cx="381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88C059-9CA8-4114-B6D8-695EE468C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7210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63C2C"/>
                </a:solidFill>
              </a:defRPr>
            </a:pPr>
            <a:r>
              <a:rPr sz="1800" b="1" i="0">
                <a:solidFill>
                  <a:srgbClr val="163C2C"/>
                </a:solidFill>
              </a:rPr>
              <a:t>Say: “Find a room after three.”</a:t>
            </a:r>
          </a:p>
        </p:txBody>
      </p:sp>
    </p:spTree>
    <p:extLst>
      <p:ext uri="{BB962C8B-B14F-4D97-AF65-F5344CB8AC3E}">
        <p14:creationId xmlns:p14="http://schemas.microsoft.com/office/powerpoint/2010/main" val="160609362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20A0F2-BF51-4870-B99A-8AFF827B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CDB514-2827-4BFD-A325-11EB23AD2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48B985"/>
                </a:solidFill>
              </a:defRPr>
            </a:pPr>
            <a:r>
              <a:rPr sz="1125" b="1" i="0">
                <a:solidFill>
                  <a:srgbClr val="48B985"/>
                </a:solidFill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7ED901-36EB-4771-B76D-74697BB2E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Test beyond the happy path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1CBC58-9850-4F0D-AC04-A30D6C83C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Voice quality emerges from timing, turn-taking, and recovery.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A9E873-9C40-4C03-AD95-6F6CCB927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E45A8E-01B7-4CA5-A121-A8D9339EE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6D0859-25D5-4D95-BE62-09308716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FCF7BD-FE72-4A6A-A557-CA88B242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288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59A64"/>
                </a:solidFill>
              </a:defRPr>
            </a:pPr>
            <a:r>
              <a:rPr sz="1350" b="1" i="0">
                <a:solidFill>
                  <a:srgbClr val="159A64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46DFA0-F045-4807-9347-AFBEADC86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63C2C"/>
                </a:solidFill>
              </a:defRPr>
            </a:pPr>
            <a:r>
              <a:rPr sz="1800" b="1" i="0">
                <a:solidFill>
                  <a:srgbClr val="163C2C"/>
                </a:solidFill>
              </a:rPr>
              <a:t>Normal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75CA65-30D2-43ED-A4AE-4DAE2C803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38375"/>
            <a:ext cx="581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1786E"/>
                </a:solidFill>
              </a:defRPr>
            </a:pPr>
            <a:r>
              <a:rPr sz="1650" b="0" i="0">
                <a:solidFill>
                  <a:srgbClr val="61786E"/>
                </a:solidFill>
              </a:rPr>
              <a:t>Ask once; let it finish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B5E6FE-E09A-48B9-9719-B3F5CDA9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52725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A75426-051E-40D9-8229-73C2022D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670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D05B65"/>
                </a:solidFill>
              </a:defRPr>
            </a:pPr>
            <a:r>
              <a:rPr sz="1350" b="1" i="0">
                <a:solidFill>
                  <a:srgbClr val="D05B65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021E2F-411F-46F2-B9A9-B97B5BAE7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670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63C2C"/>
                </a:solidFill>
              </a:defRPr>
            </a:pPr>
            <a:r>
              <a:rPr sz="1800" b="1" i="0">
                <a:solidFill>
                  <a:srgbClr val="163C2C"/>
                </a:solidFill>
              </a:rPr>
              <a:t>Interrupt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A87A66-1446-40FB-BD2D-9F6CCB1E4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76575"/>
            <a:ext cx="581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1786E"/>
                </a:solidFill>
              </a:defRPr>
            </a:pPr>
            <a:r>
              <a:rPr sz="1650" b="0" i="0">
                <a:solidFill>
                  <a:srgbClr val="61786E"/>
                </a:solidFill>
              </a:rPr>
              <a:t>Speak over the 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6B5B32-00B2-4EB1-B409-B7D60640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90925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15CABC-8782-4E8A-A19A-5EB0E75BE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7FA847"/>
                </a:solidFill>
              </a:defRPr>
            </a:pPr>
            <a:r>
              <a:rPr sz="1350" b="1" i="0">
                <a:solidFill>
                  <a:srgbClr val="7FA847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4F9320-3EBF-4D83-8F62-3DA682075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052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63C2C"/>
                </a:solidFill>
              </a:defRPr>
            </a:pPr>
            <a:r>
              <a:rPr sz="1800" b="1" i="0">
                <a:solidFill>
                  <a:srgbClr val="163C2C"/>
                </a:solidFill>
              </a:rPr>
              <a:t>Pause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D27939-A66F-452D-88CC-C1EF98F7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914775"/>
            <a:ext cx="581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1786E"/>
                </a:solidFill>
              </a:defRPr>
            </a:pPr>
            <a:r>
              <a:rPr sz="1650" b="0" i="0">
                <a:solidFill>
                  <a:srgbClr val="61786E"/>
                </a:solidFill>
              </a:rPr>
              <a:t>Stop mid-sentence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268558-D6DB-4E09-9AEA-9E87052C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29125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3794FC-D666-45A1-B316-579BAD132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434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48B985"/>
                </a:solidFill>
              </a:defRPr>
            </a:pPr>
            <a:r>
              <a:rPr sz="1350" b="1" i="0">
                <a:solidFill>
                  <a:srgbClr val="48B985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219C78-193B-4565-91B9-F17CAB98C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434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63C2C"/>
                </a:solidFill>
              </a:defRPr>
            </a:pPr>
            <a:r>
              <a:rPr sz="1800" b="1" i="0">
                <a:solidFill>
                  <a:srgbClr val="163C2C"/>
                </a:solidFill>
              </a:rPr>
              <a:t>Correct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77B911-112E-49F6-A5C7-81009B7D9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752975"/>
            <a:ext cx="581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1786E"/>
                </a:solidFill>
              </a:defRPr>
            </a:pPr>
            <a:r>
              <a:rPr sz="1650" b="0" i="0">
                <a:solidFill>
                  <a:srgbClr val="61786E"/>
                </a:solidFill>
              </a:rPr>
              <a:t>Change ‘two’ to ‘three’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D7ABD0-9371-4442-99F2-9B22EDC5C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67325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D2FA3B-5435-4C35-8DEC-254FAAFC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6769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48B985"/>
                </a:solidFill>
              </a:defRPr>
            </a:pPr>
            <a:r>
              <a:rPr sz="1875" b="1" i="0">
                <a:solidFill>
                  <a:srgbClr val="48B985"/>
                </a:solidFill>
              </a:rPr>
              <a:t>Write down the first moment that feels awkward.</a:t>
            </a:r>
          </a:p>
        </p:txBody>
      </p:sp>
    </p:spTree>
    <p:extLst>
      <p:ext uri="{BB962C8B-B14F-4D97-AF65-F5344CB8AC3E}">
        <p14:creationId xmlns:p14="http://schemas.microsoft.com/office/powerpoint/2010/main" val="201571729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79712C0-1903-4E0A-9418-0A79A31FB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054D41-B997-40CA-A99C-696FE09C9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59A64"/>
                </a:solidFill>
              </a:defRPr>
            </a:pPr>
            <a:r>
              <a:rPr sz="1125" b="1" i="0">
                <a:solidFill>
                  <a:srgbClr val="159A64"/>
                </a:solidFill>
              </a:rPr>
              <a:t>I SHOW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BABE1C-F3A2-42AD-B438-F5644589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Barge-in is a race between two audio streams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CE31EA-4491-49E9-9081-8271FEF2F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VAD decides activity; cancellation decides whether the agent yields.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C4A478-02C6-4EA6-8D63-FDFFD63C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ABAB94-3CC1-44B5-9F48-BE4442A35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ED9BFD-2A15-43F6-B608-B9CC42C37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C55A10-CF34-42A5-A3F6-C8A13FCE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48B985"/>
                </a:solidFill>
              </a:defRPr>
            </a:pPr>
            <a:r>
              <a:rPr sz="1350" b="1" i="0">
                <a:solidFill>
                  <a:srgbClr val="48B985"/>
                </a:solidFill>
              </a:rPr>
              <a:t>USER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4C88E1-5B8D-4AEB-831A-B1CBF09EF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428875"/>
            <a:ext cx="381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E7FF85-1282-4D65-9468-8E0044631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352675"/>
            <a:ext cx="38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E96734-FE10-487B-BA0F-519231E5E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19325"/>
            <a:ext cx="381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79607C-35FD-4A67-BE62-C5313294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057400"/>
            <a:ext cx="38100" cy="914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A5FCBC-A998-4129-AE22-2F02346B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238375"/>
            <a:ext cx="381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E2182E-3849-4081-95D5-4DB301E7C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381250"/>
            <a:ext cx="38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774B80-4437-42E8-A718-8A95D2B7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16217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6927AE-A8A4-440C-A5C6-17BBA8887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943100"/>
            <a:ext cx="38100" cy="1143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C5811C-82CD-4155-AD77-98BB1B48B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14550"/>
            <a:ext cx="38100" cy="800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01F871-B2A1-4947-B255-731563C87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95525"/>
            <a:ext cx="381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0DBD54-910E-4EA9-95BB-B27C9C64E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419350"/>
            <a:ext cx="381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ED1BEC-5BED-4EEB-8CDC-FAD16503E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314575"/>
            <a:ext cx="381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F633F0-5E6E-4F4A-9011-44BFF1E5A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181225"/>
            <a:ext cx="3810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5714E7-839D-48F0-844A-37CA1C263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59A64"/>
                </a:solidFill>
              </a:defRPr>
            </a:pPr>
            <a:r>
              <a:rPr sz="1350" b="1" i="0">
                <a:solidFill>
                  <a:srgbClr val="159A64"/>
                </a:solidFill>
              </a:rPr>
              <a:t>AGENT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69FB23-5415-43F3-8CD3-43542B328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67125"/>
            <a:ext cx="381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AA2685-8468-45CD-AC0F-C6C4E32D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54330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75121E-1B4B-4537-AC00-482159B40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81375"/>
            <a:ext cx="38100" cy="819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F87FD4-B513-4DD2-93DB-6506519E7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209925"/>
            <a:ext cx="38100" cy="1162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389904-517F-420E-BBEE-0D699D297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419475"/>
            <a:ext cx="381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12E926-9F8B-4E8C-907F-BB7EFBDC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600450"/>
            <a:ext cx="381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039C4C-63B4-418E-88D4-C56A661A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324225"/>
            <a:ext cx="38100" cy="933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E336BB6-3647-469F-AE44-41EF94BA1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43250"/>
            <a:ext cx="38100" cy="1295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BC69E0-2F74-40D1-870E-FE717056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400425"/>
            <a:ext cx="38100" cy="781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ED6D020-B5F1-49AE-94E9-FC790A29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81400"/>
            <a:ext cx="38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CE804F1-37D1-406B-A909-9D8BF63FF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686175"/>
            <a:ext cx="381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668756-A8AF-446D-8DC8-4E0BA2659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533775"/>
            <a:ext cx="381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3876F2A-CB4E-4DBC-A759-335FF8E9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352800"/>
            <a:ext cx="38100" cy="876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2CEF5C-A4BF-4957-A95D-3AC689211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05200"/>
            <a:ext cx="38100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0244506-6846-4579-AE69-FEBC18EEE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667125"/>
            <a:ext cx="381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1A4FC7E-60E8-4E8D-B71B-651C5E660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05225"/>
            <a:ext cx="381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6E80EB6-D869-4A46-A444-D138DE1ED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590925"/>
            <a:ext cx="381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752A8A8-A367-4462-996F-0303410D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429000"/>
            <a:ext cx="38100" cy="723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7481677-8C2E-4703-96B2-7F979D6B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133600"/>
            <a:ext cx="57150" cy="2476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1D03704-7DAB-4AD5-A327-64942BB4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7434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D05B65"/>
                </a:solidFill>
              </a:defRPr>
            </a:pPr>
            <a:r>
              <a:rPr sz="1275" b="1" i="0">
                <a:solidFill>
                  <a:srgbClr val="D05B65"/>
                </a:solidFill>
              </a:rPr>
              <a:t>speech starts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8C14F7C-6E0F-4341-AD50-A635D9D53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2479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FA847"/>
                </a:solidFill>
              </a:defRPr>
            </a:pPr>
            <a:r>
              <a:rPr sz="1500" b="1" i="0">
                <a:solidFill>
                  <a:srgbClr val="7FA847"/>
                </a:solidFill>
              </a:rPr>
              <a:t>VAD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8BFC468-3B19-45DA-93F4-5B4288BD3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479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detect activity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2B304E9-9980-4459-9CE6-F91E43B37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990850"/>
            <a:ext cx="125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05B65"/>
                </a:solidFill>
              </a:defRPr>
            </a:pPr>
            <a:r>
              <a:rPr sz="1500" b="1" i="0">
                <a:solidFill>
                  <a:srgbClr val="D05B65"/>
                </a:solidFill>
              </a:rPr>
              <a:t>CANCEL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348C11E-A2E8-40E8-B273-C568B0BF7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908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stop output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B37F567-8DCE-49F2-95A9-05512746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733800"/>
            <a:ext cx="125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48B985"/>
                </a:solidFill>
              </a:defRPr>
            </a:pPr>
            <a:r>
              <a:rPr sz="1500" b="1" i="0">
                <a:solidFill>
                  <a:srgbClr val="48B985"/>
                </a:solidFill>
              </a:rPr>
              <a:t>RESUME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7223665-C0C7-47F0-B3A5-9430B45AB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338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keep context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9D8002C-0881-40F7-A56E-CF32600F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857750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48B985"/>
                </a:solidFill>
              </a:defRPr>
            </a:pPr>
            <a:r>
              <a:rPr sz="1725" b="1" i="0">
                <a:solidFill>
                  <a:srgbClr val="48B985"/>
                </a:solidFill>
              </a:rPr>
              <a:t>Good barge-in: no overlap, no forgotten correction.</a:t>
            </a:r>
          </a:p>
        </p:txBody>
      </p:sp>
    </p:spTree>
    <p:extLst>
      <p:ext uri="{BB962C8B-B14F-4D97-AF65-F5344CB8AC3E}">
        <p14:creationId xmlns:p14="http://schemas.microsoft.com/office/powerpoint/2010/main" val="16856933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4816D2-8968-4080-9D0B-31D7F7F1A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2439A3-6EBB-4471-A2BF-5720CE698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59A64"/>
                </a:solidFill>
              </a:defRPr>
            </a:pPr>
            <a:r>
              <a:rPr sz="1125" b="1" i="0">
                <a:solidFill>
                  <a:srgbClr val="159A64"/>
                </a:solidFill>
              </a:rPr>
              <a:t>I SHOW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C7B7A1-B5C3-4B66-AA6D-77EF8317E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Two concurrent loops make the conversation feel live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9912F5-A0BB-487C-BDC2-55CAA44E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The browser sends chunks while ADK yields events back.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75FB7E-AA8A-44C9-9B08-1F54691F0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24D211-B8FD-4BF3-A2DC-6A36094EE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B7D308-FB44-479D-BD9F-A9D87594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C38899-1743-462B-AF3C-C2E8F1D1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24150"/>
            <a:ext cx="65722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5921F-50B9-443B-AFA6-4AD39AA4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3907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48B985"/>
                </a:solidFill>
              </a:defRPr>
            </a:pPr>
            <a:r>
              <a:rPr sz="1350" b="1" i="0">
                <a:solidFill>
                  <a:srgbClr val="48B985"/>
                </a:solidFill>
              </a:rPr>
              <a:t>audio chunks  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2644F5-8A5B-4C6E-90FE-2AA1C2574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191000"/>
            <a:ext cx="65722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1F6FEE-7938-4A47-9A8D-7B7E873BE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3053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59A64"/>
                </a:solidFill>
              </a:defRPr>
            </a:pPr>
            <a:r>
              <a:rPr sz="1350" b="1" i="0">
                <a:solidFill>
                  <a:srgbClr val="159A64"/>
                </a:solidFill>
              </a:rPr>
              <a:t>←  audio · transcript · tool events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B25321-6BF6-46EB-847B-2A8B690E2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2095500" cy="133350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9A31DE-16DD-4AD6-BAB5-B708B8AD7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051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BROWSER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79651E-FED2-40AA-A512-C61981F9B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4330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mic + playback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BA54AB-6DD3-4F9D-9BA2-A8954B02B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38450"/>
            <a:ext cx="2400300" cy="133350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6F4EC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9A047D-5D90-4E3A-B83C-279E16F9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105150"/>
            <a:ext cx="182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WEBSOCKET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6258B1-ECA3-49A9-917E-311715A35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43300"/>
            <a:ext cx="182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session boundary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A4B14A-F7EC-46D5-8ECB-EE42FDF4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38450"/>
            <a:ext cx="2400300" cy="133350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6F4EC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4B59E8-7505-4B4D-A3A7-30464EE4B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105150"/>
            <a:ext cx="182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48B985"/>
                </a:solidFill>
              </a:defRPr>
            </a:pPr>
            <a:r>
              <a:rPr sz="1575" b="1" i="0">
                <a:solidFill>
                  <a:srgbClr val="48B985"/>
                </a:solidFill>
              </a:rPr>
              <a:t>LIVE QUEUE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2DF3CC-851D-49D7-A772-41F027EC9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543300"/>
            <a:ext cx="1828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ordered inputs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09C8E2-5E92-46F0-B2B1-83681D30B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38450"/>
            <a:ext cx="1962150" cy="133350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C5FB0A-1AB2-4CE9-8BF0-87F710DD5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0515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59A64"/>
                </a:solidFill>
              </a:defRPr>
            </a:pPr>
            <a:r>
              <a:rPr sz="1575" b="1" i="0">
                <a:solidFill>
                  <a:srgbClr val="159A64"/>
                </a:solidFill>
              </a:rPr>
              <a:t>run_live()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77FAC6-2682-4EC6-9060-1BCE023C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5433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Event stream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B0F424-EA95-4876-BB99-FCEDD7E1C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1625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48B985"/>
                </a:solidFill>
              </a:defRPr>
            </a:pPr>
            <a:r>
              <a:rPr sz="1350" b="1" i="0">
                <a:solidFill>
                  <a:srgbClr val="48B985"/>
                </a:solidFill>
              </a:rPr>
              <a:t>upstream task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BAB563-96C2-44C5-949C-4963652CD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435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61786E"/>
                </a:solidFill>
              </a:defRPr>
            </a:pPr>
            <a:r>
              <a:rPr sz="1650" b="1" i="0">
                <a:solidFill>
                  <a:srgbClr val="61786E"/>
                </a:solidFill>
              </a:rPr>
              <a:t>+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67E43B-32FA-4E4B-B609-7042E8FFD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1625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59A64"/>
                </a:solidFill>
              </a:defRPr>
            </a:pPr>
            <a:r>
              <a:rPr sz="1350" b="1" i="0">
                <a:solidFill>
                  <a:srgbClr val="159A64"/>
                </a:solidFill>
              </a:rPr>
              <a:t>downstream task</a:t>
            </a:r>
          </a:p>
        </p:txBody>
      </p:sp>
    </p:spTree>
    <p:extLst>
      <p:ext uri="{BB962C8B-B14F-4D97-AF65-F5344CB8AC3E}">
        <p14:creationId xmlns:p14="http://schemas.microsoft.com/office/powerpoint/2010/main" val="65766719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C3C55F-4382-41DA-95B2-386065C38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E5FDAD-CED8-433B-A383-A48CF55D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59A64"/>
                </a:solidFill>
              </a:defRPr>
            </a:pPr>
            <a:r>
              <a:rPr sz="1125" b="1" i="0">
                <a:solidFill>
                  <a:srgbClr val="159A64"/>
                </a:solidFill>
              </a:rPr>
              <a:t>I SHOW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6F6C2A-AF3B-43B8-B1D4-00E36825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Treat every response as an event, not a final message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59F3A6-317D-447A-A3E8-9A5A32F9B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Transcription turns an audio experience into something debuggable.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CA208D-6BAC-4877-97F6-CCE19BF96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6C85F8-B291-4131-B717-D3F4FC3DF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45E846-63F3-4E72-8205-6B1F26CDB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5F3CD1-C8BD-4C94-B667-9C962589F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6267450" cy="33718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103428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D6DC10-F19B-4864-BEC1-E84E57C1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66675" cy="3371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36DD1B-C3C9-4876-97E6-7C3A5AB08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918A0E-42FC-4ABD-8041-1A5E9B90A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43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086347-1EE5-48C5-A1D6-2198C1E62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43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72D806-6349-4727-9321-7FE9E9EF8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47950"/>
            <a:ext cx="57912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async for event in runner.run_live(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user_id=user_id,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session_id=session_id,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live_request_queue=queue,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run_config=run_config,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):</a:t>
            </a:r>
          </a:p>
          <a:p xmlns:a="http://schemas.openxmlformats.org/drawingml/2006/main">
            <a:pPr algn="l">
              <a:defRPr sz="1200" b="0" i="0">
                <a:solidFill>
                  <a:srgbClr val="F7FBF8"/>
                </a:solidFill>
              </a:defRPr>
            </a:pPr>
            <a:r>
              <a:rPr sz="1200" b="0" i="0">
                <a:solidFill>
                  <a:srgbClr val="F7FBF8"/>
                </a:solidFill>
              </a:rPr>
              <a:t>    await websocket.send_json(to_client(event))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429802-CDFF-4F5F-ACA0-6DD897296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247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59A64"/>
                </a:solidFill>
              </a:defRPr>
            </a:pPr>
            <a:r>
              <a:rPr sz="1275" b="1" i="0">
                <a:solidFill>
                  <a:srgbClr val="159A64"/>
                </a:solidFill>
              </a:rPr>
              <a:t>AUDIO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A67F2B-BC42-4391-8F6E-70B44DFB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2479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play immediately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0D614E-22BA-4299-98D9-4B9650FEC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705100"/>
            <a:ext cx="344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EB1F30-4B76-495E-B719-C355C82F8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009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48B985"/>
                </a:solidFill>
              </a:defRPr>
            </a:pPr>
            <a:r>
              <a:rPr sz="1275" b="1" i="0">
                <a:solidFill>
                  <a:srgbClr val="48B985"/>
                </a:solidFill>
              </a:rPr>
              <a:t>TRANSCRIPT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419FA1-9580-4DDA-AD24-673AB7960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099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render + log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D16DD0-C902-41F2-BB0C-978FA1B3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467100"/>
            <a:ext cx="344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5DBEC0-6DBE-4006-B87E-F64253EB3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771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7FA847"/>
                </a:solidFill>
              </a:defRPr>
            </a:pPr>
            <a:r>
              <a:rPr sz="1275" b="1" i="0">
                <a:solidFill>
                  <a:srgbClr val="7FA847"/>
                </a:solidFill>
              </a:rPr>
              <a:t>TOOL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28DC37-1CB7-436B-85A2-691366BA7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7719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show progress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125630-8472-40BF-920B-3D1C396D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29100"/>
            <a:ext cx="344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F2D331-EFD1-4CCA-BCA9-A866C537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533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D05B65"/>
                </a:solidFill>
              </a:defRPr>
            </a:pPr>
            <a:r>
              <a:rPr sz="1275" b="1" i="0">
                <a:solidFill>
                  <a:srgbClr val="D05B65"/>
                </a:solidFill>
              </a:rPr>
              <a:t>ERROR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97A671-F2EC-47FA-9030-AB8A79A0E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53390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63C2C"/>
                </a:solidFill>
              </a:defRPr>
            </a:pPr>
            <a:r>
              <a:rPr sz="1500" b="0" i="0">
                <a:solidFill>
                  <a:srgbClr val="163C2C"/>
                </a:solidFill>
              </a:rPr>
              <a:t>recover visibly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3A2146-8D32-4E3E-B784-6E9B82C3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991100"/>
            <a:ext cx="3448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E3F0C6-1193-4C51-A480-43BC0E8E9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3911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48B985"/>
                </a:solidFill>
              </a:defRPr>
            </a:pPr>
            <a:r>
              <a:rPr sz="1575" b="1" i="0">
                <a:solidFill>
                  <a:srgbClr val="48B985"/>
                </a:solidFill>
              </a:rPr>
              <a:t>Partial ≠ final</a:t>
            </a:r>
          </a:p>
        </p:txBody>
      </p:sp>
    </p:spTree>
    <p:extLst>
      <p:ext uri="{BB962C8B-B14F-4D97-AF65-F5344CB8AC3E}">
        <p14:creationId xmlns:p14="http://schemas.microsoft.com/office/powerpoint/2010/main" val="122963688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9EFF70-3680-4E4D-A72C-CCC5B2B28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BC9F81-F589-467B-B620-512CDC109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59A64"/>
                </a:solidFill>
              </a:defRPr>
            </a:pPr>
            <a:r>
              <a:rPr sz="1125" b="1" i="0">
                <a:solidFill>
                  <a:srgbClr val="159A64"/>
                </a:solidFill>
              </a:rPr>
              <a:t>I SHOW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4019E5-10A0-46F7-BD79-51C98E98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The tool waits five seconds, then returns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90398C-E01D-43F6-8D54-EEE5D12A2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It returns room data or a structured error—never a raw exception.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2BAECA-1F42-4071-94B9-51E2ABB14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740903-096E-481F-83C3-DF564FFB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AC7D88-D853-4D14-ABE1-E77206DFC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0FBC99-9E45-4D06-BC2E-B295BB6B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9296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F5C393-F247-45EE-AD9F-09372DC36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718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063F19-1361-4C0E-9329-DA3A5C6CA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81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59A64"/>
                </a:solidFill>
              </a:defRPr>
            </a:pPr>
            <a:r>
              <a:rPr sz="1350" b="1" i="0">
                <a:solidFill>
                  <a:srgbClr val="159A64"/>
                </a:solidFill>
              </a:rPr>
              <a:t>0.0s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E68CE5-3E1E-4A13-BCD6-1E4F86491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8100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63C2C"/>
                </a:solidFill>
              </a:defRPr>
            </a:pPr>
            <a:r>
              <a:rPr sz="1200" b="1" i="0">
                <a:solidFill>
                  <a:srgbClr val="163C2C"/>
                </a:solidFill>
              </a:rPr>
              <a:t>ACKNOWLEDGE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9A29C8-D679-469F-AE0B-6872B48BE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3718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027C37-A30C-486C-B112-778EF2D1E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876550"/>
            <a:ext cx="81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7FA847"/>
                </a:solidFill>
              </a:defRPr>
            </a:pPr>
            <a:r>
              <a:rPr sz="1350" b="1" i="0">
                <a:solidFill>
                  <a:srgbClr val="7FA847"/>
                </a:solidFill>
              </a:rPr>
              <a:t>0.2s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702CF1-76E3-4F4A-9312-F406773FB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8100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63C2C"/>
                </a:solidFill>
              </a:defRPr>
            </a:pPr>
            <a:r>
              <a:rPr sz="1200" b="1" i="0">
                <a:solidFill>
                  <a:srgbClr val="163C2C"/>
                </a:solidFill>
              </a:rPr>
              <a:t>TOOL CALL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8ACF89-A01D-470A-B814-2CC083537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3718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0B8165-0C91-4229-979D-13FA769B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876550"/>
            <a:ext cx="81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48B985"/>
                </a:solidFill>
              </a:defRPr>
            </a:pPr>
            <a:r>
              <a:rPr sz="1350" b="1" i="0">
                <a:solidFill>
                  <a:srgbClr val="48B985"/>
                </a:solidFill>
              </a:rPr>
              <a:t>5.2s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E33385-24C9-4D8B-B5D5-6DBF29FDE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63C2C"/>
                </a:solidFill>
              </a:defRPr>
            </a:pPr>
            <a:r>
              <a:rPr sz="1200" b="1" i="0">
                <a:solidFill>
                  <a:srgbClr val="163C2C"/>
                </a:solidFill>
              </a:rPr>
              <a:t>RESULT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BD5C7F-2E42-4188-BC22-FED41C90B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3718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BB408C-34F7-4009-99AE-B6A63AA1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876550"/>
            <a:ext cx="81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59A64"/>
                </a:solidFill>
              </a:defRPr>
            </a:pPr>
            <a:r>
              <a:rPr sz="1350" b="1" i="0">
                <a:solidFill>
                  <a:srgbClr val="159A64"/>
                </a:solidFill>
              </a:rPr>
              <a:t>5.5s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9F3894-A461-44D1-B14B-BA07A77C4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8100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63C2C"/>
                </a:solidFill>
              </a:defRPr>
            </a:pPr>
            <a:r>
              <a:rPr sz="1200" b="1" i="0">
                <a:solidFill>
                  <a:srgbClr val="163C2C"/>
                </a:solidFill>
              </a:rPr>
              <a:t>RECOVERY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49500E-A3B9-4EF7-8DD1-2D96889E6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76500"/>
            <a:ext cx="3390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9C3EE2-48E6-4BA9-9F52-B88B466E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676525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7FBF8"/>
                </a:solidFill>
              </a:defRPr>
            </a:pPr>
            <a:r>
              <a:rPr sz="1650" b="1" i="0">
                <a:solidFill>
                  <a:srgbClr val="F7FBF8"/>
                </a:solidFill>
              </a:rPr>
              <a:t>asyncio.sleep(5)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8BBAF1-B3CF-47BA-8623-134CFB91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667250"/>
            <a:ext cx="74295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514B50-3A9C-40F8-A47F-A94FF83EA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10125"/>
            <a:ext cx="693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48B985"/>
                </a:solidFill>
              </a:defRPr>
            </a:pPr>
            <a:r>
              <a:rPr sz="1425" b="1" i="0">
                <a:solidFill>
                  <a:srgbClr val="48B985"/>
                </a:solidFill>
              </a:rPr>
              <a:t>status: error   •   retryable: true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AB3214-C8B1-4E55-8BDA-08C28BC1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124450"/>
            <a:ext cx="693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163C2C"/>
                </a:solidFill>
              </a:defRPr>
            </a:pPr>
            <a:r>
              <a:rPr sz="1275" b="0" i="0">
                <a:solidFill>
                  <a:srgbClr val="163C2C"/>
                </a:solidFill>
              </a:rPr>
              <a:t>“Room availability could not be checked right now.”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FB7151-04C7-4729-934D-356C2307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38800"/>
            <a:ext cx="788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61786E"/>
                </a:solidFill>
              </a:defRPr>
            </a:pPr>
            <a:r>
              <a:rPr sz="1425" b="1" i="0">
                <a:solidFill>
                  <a:srgbClr val="61786E"/>
                </a:solidFill>
              </a:rPr>
              <a:t>No timeout · no exception · no automatic retry</a:t>
            </a:r>
          </a:p>
        </p:txBody>
      </p:sp>
    </p:spTree>
    <p:extLst>
      <p:ext uri="{BB962C8B-B14F-4D97-AF65-F5344CB8AC3E}">
        <p14:creationId xmlns:p14="http://schemas.microsoft.com/office/powerpoint/2010/main" val="8924386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F82106-4E2F-4E03-B251-FEA5111CC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1DCFAD-4BC3-46F1-80CD-88E99CD6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7FA847"/>
                </a:solidFill>
              </a:defRPr>
            </a:pPr>
            <a:r>
              <a:rPr sz="1125" b="1" i="0">
                <a:solidFill>
                  <a:srgbClr val="7FA847"/>
                </a:solidFill>
              </a:rPr>
              <a:t>TOGETHER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429682-5EAC-4246-B3A5-3DB0D5C9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Recovery is a result the agent can reason about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A08147-B8EC-4B0C-A022-12C7C658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This checkpoint uses acknowledgement, a five-second delay, and a safe next move.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9F847F-CD09-46BB-AAC0-D2D3173C5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DBB1E2-64FD-4549-A465-C181CD7D6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B745E4-99D1-490A-B1CF-1D0B488BA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8CE28C-7EFB-4287-902C-8D4512A61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59A64"/>
                </a:solidFill>
              </a:defRPr>
            </a:pPr>
            <a:r>
              <a:rPr sz="1275" b="1" i="0">
                <a:solidFill>
                  <a:srgbClr val="159A64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26B14F-2955-4CA9-ADB7-806BC43C4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63C2C"/>
                </a:solidFill>
              </a:defRPr>
            </a:pPr>
            <a:r>
              <a:rPr sz="1725" b="1" i="0">
                <a:solidFill>
                  <a:srgbClr val="163C2C"/>
                </a:solidFill>
              </a:rPr>
              <a:t>ACKNOWLEDGE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74D614-87B0-4E82-A0F9-027B286EC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2324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D6A49A-11E0-428F-B1A9-918E088F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“I’m checking that now.”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87271E-0670-49C1-814B-C4E765270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2860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7FA847"/>
                </a:solidFill>
              </a:defRPr>
            </a:pPr>
            <a:r>
              <a:rPr sz="1275" b="1" i="0">
                <a:solidFill>
                  <a:srgbClr val="7FA847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E10FFF-739B-46C8-B023-FE6E750D5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8130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63C2C"/>
                </a:solidFill>
              </a:defRPr>
            </a:pPr>
            <a:r>
              <a:rPr sz="1725" b="1" i="0">
                <a:solidFill>
                  <a:srgbClr val="163C2C"/>
                </a:solidFill>
              </a:rPr>
              <a:t>WAIT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51E2B3-BDA6-4756-870A-6744F6244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219450"/>
            <a:ext cx="2324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F427E5-0E5F-4579-8DFC-5498146A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433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five-second tool delay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02E77D-0320-4C05-AD58-EE016A61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2860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48B985"/>
                </a:solidFill>
              </a:defRPr>
            </a:pPr>
            <a:r>
              <a:rPr sz="1275" b="1" i="0">
                <a:solidFill>
                  <a:srgbClr val="48B985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7CB4C6-9164-42DE-B116-566C5E3D3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78130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63C2C"/>
                </a:solidFill>
              </a:defRPr>
            </a:pPr>
            <a:r>
              <a:rPr sz="1725" b="1" i="0">
                <a:solidFill>
                  <a:srgbClr val="163C2C"/>
                </a:solidFill>
              </a:rPr>
              <a:t>RETURN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22E74A-4C06-4F30-A0CE-28EFA1025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219450"/>
            <a:ext cx="2324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5DCAC6-83E5-48CE-A6AE-CFA5447F0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5433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status · message · retryable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C05B7C-749E-497E-A923-A60E55BF5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286000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6FAF8D"/>
                </a:solidFill>
              </a:defRPr>
            </a:pPr>
            <a:r>
              <a:rPr sz="1275" b="1" i="0">
                <a:solidFill>
                  <a:srgbClr val="6FAF8D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2CD45D-D8E8-4F2B-8FED-196D8F66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63C2C"/>
                </a:solidFill>
              </a:defRPr>
            </a:pPr>
            <a:r>
              <a:rPr sz="1725" b="1" i="0">
                <a:solidFill>
                  <a:srgbClr val="163C2C"/>
                </a:solidFill>
              </a:rPr>
              <a:t>RECOVER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CD3D2C-ED1B-46C8-AF5B-50592192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219450"/>
            <a:ext cx="2324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AF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531299-F0B5-4247-A0BB-B97067F2B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543300"/>
            <a:ext cx="2324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apologize + offer another time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C19509-555B-4B78-A44F-EAE7376E1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57750"/>
            <a:ext cx="8724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70AD13-64C8-4DF1-AB1F-1C83405E5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673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48B985"/>
                </a:solidFill>
              </a:defRPr>
            </a:pPr>
            <a:r>
              <a:rPr sz="1575" b="1" i="0">
                <a:solidFill>
                  <a:srgbClr val="48B985"/>
                </a:solidFill>
              </a:rPr>
              <a:t>The agent does not retry unless the user asks.</a:t>
            </a:r>
          </a:p>
        </p:txBody>
      </p:sp>
    </p:spTree>
    <p:extLst>
      <p:ext uri="{BB962C8B-B14F-4D97-AF65-F5344CB8AC3E}">
        <p14:creationId xmlns:p14="http://schemas.microsoft.com/office/powerpoint/2010/main" val="49125725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739EC3-DBD7-4BEB-8D09-C2FCB6FF4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7BE40A-871F-4957-A970-CCD8573DE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59A64"/>
                </a:solidFill>
              </a:defRPr>
            </a:pPr>
            <a:r>
              <a:rPr sz="1125" b="1" i="0">
                <a:solidFill>
                  <a:srgbClr val="159A64"/>
                </a:solidFill>
              </a:rPr>
              <a:t>I SHOW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D656F9-9DC5-4FB4-9674-38A2D79B9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Production lives around the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4E3B50-8B8C-445C-BCD3-BDCE3B353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Optimize the whole conversation loop—not one API call.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1483BF-2C80-41A9-838A-760EE2D43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2F24C6-3411-48B1-B404-3233A9B86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C2A29D-6B84-4E74-8058-72B872F17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BB9BE3-C315-4C10-B57E-900514558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336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59A64"/>
                </a:solidFill>
              </a:defRPr>
            </a:pPr>
            <a:r>
              <a:rPr sz="1275" b="1" i="0">
                <a:solidFill>
                  <a:srgbClr val="159A64"/>
                </a:solidFill>
              </a:rPr>
              <a:t>LATENCY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AD762-7580-4CCD-B133-2C35CC3A9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276475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50754F-C6CD-48C7-8CED-4FE60A11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33600"/>
            <a:ext cx="638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63C2C"/>
                </a:solidFill>
              </a:defRPr>
            </a:pPr>
            <a:r>
              <a:rPr sz="1650" b="0" i="0">
                <a:solidFill>
                  <a:srgbClr val="163C2C"/>
                </a:solidFill>
              </a:rPr>
              <a:t>first audio · turn gap · tool time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829D88-BDFC-453E-9387-03856649B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384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6FAF8D"/>
                </a:solidFill>
              </a:defRPr>
            </a:pPr>
            <a:r>
              <a:rPr sz="1275" b="1" i="0">
                <a:solidFill>
                  <a:srgbClr val="6FAF8D"/>
                </a:solidFill>
              </a:rPr>
              <a:t>STATE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467795-E6E2-4F7C-AA95-76D1857DB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981325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AF8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CE05A9-6AFF-4113-A9AA-4539684E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838450"/>
            <a:ext cx="638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63C2C"/>
                </a:solidFill>
              </a:defRPr>
            </a:pPr>
            <a:r>
              <a:rPr sz="1650" b="0" i="0">
                <a:solidFill>
                  <a:srgbClr val="163C2C"/>
                </a:solidFill>
              </a:rPr>
              <a:t>one queue/session · durable history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EDF158-085C-43D2-AD85-14D9E7DF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433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D05B65"/>
                </a:solidFill>
              </a:defRPr>
            </a:pPr>
            <a:r>
              <a:rPr sz="1275" b="1" i="0">
                <a:solidFill>
                  <a:srgbClr val="D05B65"/>
                </a:solidFill>
              </a:rPr>
              <a:t>SAFETY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B12C9E-47D2-449D-A42C-AD11FE9D6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86175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5B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65B1FD-F769-429E-85F8-07C66852C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543300"/>
            <a:ext cx="638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63C2C"/>
                </a:solidFill>
              </a:defRPr>
            </a:pPr>
            <a:r>
              <a:rPr sz="1650" b="0" i="0">
                <a:solidFill>
                  <a:srgbClr val="163C2C"/>
                </a:solidFill>
              </a:rPr>
              <a:t>confirm consequential actions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FCBDAB-3B9C-429C-AB83-5FBEEEB97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481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48B985"/>
                </a:solidFill>
              </a:defRPr>
            </a:pPr>
            <a:r>
              <a:rPr sz="1275" b="1" i="0">
                <a:solidFill>
                  <a:srgbClr val="48B985"/>
                </a:solidFill>
              </a:rPr>
              <a:t>MONITORING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36D970-7972-4D5C-A9F1-E5E61132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391025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BFD7F4-D624-4885-AA7E-7E682AE41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248150"/>
            <a:ext cx="638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63C2C"/>
                </a:solidFill>
              </a:defRPr>
            </a:pPr>
            <a:r>
              <a:rPr sz="1650" b="0" i="0">
                <a:solidFill>
                  <a:srgbClr val="163C2C"/>
                </a:solidFill>
              </a:rPr>
              <a:t>events · transcripts · outcomes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CB10B4-EBDD-45E3-A10A-32F2B15E0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7FA847"/>
                </a:solidFill>
              </a:defRPr>
            </a:pPr>
            <a:r>
              <a:rPr sz="1275" b="1" i="0">
                <a:solidFill>
                  <a:srgbClr val="7FA847"/>
                </a:solidFill>
              </a:rPr>
              <a:t>RESILIENCE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B5AF3C-9029-444C-A9A3-ECCE5BB6C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095875"/>
            <a:ext cx="838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5F2121-EE32-484F-B48D-D73FA286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953000"/>
            <a:ext cx="638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63C2C"/>
                </a:solidFill>
              </a:defRPr>
            </a:pPr>
            <a:r>
              <a:rPr sz="1650" b="0" i="0">
                <a:solidFill>
                  <a:srgbClr val="163C2C"/>
                </a:solidFill>
              </a:rPr>
              <a:t>timeouts · cancellation · fallback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0C4CDF-7F25-4078-968C-72094F21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7912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48B985"/>
                </a:solidFill>
              </a:defRPr>
            </a:pPr>
            <a:r>
              <a:rPr sz="1875" b="1" i="0">
                <a:solidFill>
                  <a:srgbClr val="48B985"/>
                </a:solidFill>
              </a:rPr>
              <a:t>Ship only when you can replay what happened.</a:t>
            </a:r>
          </a:p>
        </p:txBody>
      </p:sp>
    </p:spTree>
    <p:extLst>
      <p:ext uri="{BB962C8B-B14F-4D97-AF65-F5344CB8AC3E}">
        <p14:creationId xmlns:p14="http://schemas.microsoft.com/office/powerpoint/2010/main" val="135004472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7ED25B-104F-431C-9315-995148B0A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12C4E9-6E80-4643-9F60-B705E57F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48B985"/>
                </a:solidFill>
              </a:defRPr>
            </a:pPr>
            <a:r>
              <a:rPr sz="1125" b="1" i="0">
                <a:solidFill>
                  <a:srgbClr val="48B985"/>
                </a:solidFill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9F4111-771E-474C-8F96-343AE8CF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Mini challenge: make the agent production-friendlier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1107DD-6B5F-456E-AC9B-08C81DD8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Choose one improvement. Prove it with one adversarial test.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7E0B41-9915-494F-8553-0DCE786B7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BDBB19-6C40-4BB5-8F9D-971699E83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406F07-106A-402A-88E6-FC7F6F9F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12B17A-0793-45F1-B9C5-ADA49E9A9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331727-75E3-4111-8C1B-7E95A11A9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9825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7FBF8"/>
                </a:solidFill>
              </a:defRPr>
            </a:pPr>
            <a:r>
              <a:rPr sz="1500" b="1" i="0">
                <a:solidFill>
                  <a:srgbClr val="F7FBF8"/>
                </a:solidFill>
              </a:rPr>
              <a:t>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213F66-80A3-4302-BDD4-FE8CC6FCA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05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CONFIRM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06504A-1346-46B3-B963-12B4870A8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860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1786E"/>
                </a:solidFill>
              </a:defRPr>
            </a:pPr>
            <a:r>
              <a:rPr sz="1425" b="0" i="0">
                <a:solidFill>
                  <a:srgbClr val="61786E"/>
                </a:solidFill>
              </a:rPr>
              <a:t>Ask before booking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DD90F8-B1C6-4F70-82B9-662E0484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33750"/>
            <a:ext cx="2362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B9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215A71-D0BB-410F-AB75-D05E04908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669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EA639A-94E2-45E4-A79A-F505B2134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09825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7FBF8"/>
                </a:solidFill>
              </a:defRPr>
            </a:pPr>
            <a:r>
              <a:rPr sz="1500" b="1" i="0">
                <a:solidFill>
                  <a:srgbClr val="F7FBF8"/>
                </a:solidFill>
              </a:rPr>
              <a:t>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6FB109-AEB4-4725-B554-B8B4B553F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05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RECOVER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11C16D-E569-4D43-80BD-6848F663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860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1786E"/>
                </a:solidFill>
              </a:defRPr>
            </a:pPr>
            <a:r>
              <a:rPr sz="1425" b="0" i="0">
                <a:solidFill>
                  <a:srgbClr val="61786E"/>
                </a:solidFill>
              </a:rPr>
              <a:t>Handle tool timeout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1C8920-35FC-48D1-97D3-2E5D3B52E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33750"/>
            <a:ext cx="2362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30386D-37BA-49BB-9C21-DFA65A2E8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669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A9C8EB-02A0-4A7A-A0BA-F2E000E8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09825"/>
            <a:ext cx="55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7FBF8"/>
                </a:solidFill>
              </a:defRPr>
            </a:pPr>
            <a:r>
              <a:rPr sz="1500" b="1" i="0">
                <a:solidFill>
                  <a:srgbClr val="F7FBF8"/>
                </a:solidFill>
              </a:rPr>
              <a:t>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26A4D4-DEDA-4338-9DF5-93BD6042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05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63C2C"/>
                </a:solidFill>
              </a:defRPr>
            </a:pPr>
            <a:r>
              <a:rPr sz="1575" b="1" i="0">
                <a:solidFill>
                  <a:srgbClr val="163C2C"/>
                </a:solidFill>
              </a:rPr>
              <a:t>OBSERVE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B6F178-C0B9-4137-95EC-58E7A751A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686050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1786E"/>
                </a:solidFill>
              </a:defRPr>
            </a:pPr>
            <a:r>
              <a:rPr sz="1425" b="0" i="0">
                <a:solidFill>
                  <a:srgbClr val="61786E"/>
                </a:solidFill>
              </a:rPr>
              <a:t>Log final transcript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255454-6F80-4737-A85E-B0FC0C4D5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333750"/>
            <a:ext cx="2362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3B8E2D-CB84-4045-94B1-55A2563F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95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D05B65"/>
                </a:solidFill>
              </a:defRPr>
            </a:pPr>
            <a:r>
              <a:rPr sz="1200" b="1" i="0">
                <a:solidFill>
                  <a:srgbClr val="D05B65"/>
                </a:solidFill>
              </a:rPr>
              <a:t>TEST IT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3232A8-6B85-4D64-9E37-CFD9801EA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95800"/>
            <a:ext cx="790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63C2C"/>
                </a:solidFill>
              </a:defRPr>
            </a:pPr>
            <a:r>
              <a:rPr sz="2175" b="1" i="0">
                <a:solidFill>
                  <a:srgbClr val="163C2C"/>
                </a:solidFill>
              </a:rPr>
              <a:t>interrupt • change your mind • force a failure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06FE56-AE60-4245-B32F-A5B5D01E2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3812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ED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9244B4-6E66-4293-AF10-7C5BE28F6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2862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48B985"/>
                </a:solidFill>
              </a:defRPr>
            </a:pPr>
            <a:r>
              <a:rPr sz="2100" b="1" i="0">
                <a:solidFill>
                  <a:srgbClr val="48B985"/>
                </a:solidFill>
              </a:rPr>
              <a:t>6 minutes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486EA9-D192-41F0-982A-55BAB6C23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1786E"/>
                </a:solidFill>
              </a:defRPr>
            </a:pPr>
            <a:r>
              <a:rPr sz="1350" b="0" i="0">
                <a:solidFill>
                  <a:srgbClr val="61786E"/>
                </a:solidFill>
              </a:rPr>
              <a:t>then 2 demos</a:t>
            </a:r>
          </a:p>
        </p:txBody>
      </p:sp>
    </p:spTree>
    <p:extLst>
      <p:ext uri="{BB962C8B-B14F-4D97-AF65-F5344CB8AC3E}">
        <p14:creationId xmlns:p14="http://schemas.microsoft.com/office/powerpoint/2010/main" val="209010233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9364340-F95C-4B35-9ADC-8D49B687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762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8F2417-1311-46B6-A5A2-485753756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59A64"/>
                </a:solidFill>
              </a:defRPr>
            </a:pPr>
            <a:r>
              <a:rPr sz="1125" b="1" i="0">
                <a:solidFill>
                  <a:srgbClr val="159A64"/>
                </a:solidFill>
              </a:rPr>
              <a:t>WRAP-UP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8F146D-E718-4C0B-9FC9-03209251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63C2C"/>
                </a:solidFill>
              </a:defRPr>
            </a:pPr>
            <a:r>
              <a:rPr sz="3150" b="1" i="0">
                <a:solidFill>
                  <a:srgbClr val="163C2C"/>
                </a:solidFill>
              </a:rPr>
              <a:t>You now have the full conversation 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B34825-650E-4168-92DA-8BF56997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1786E"/>
                </a:solidFill>
              </a:defRPr>
            </a:pPr>
            <a:r>
              <a:rPr sz="1500" b="0" i="0">
                <a:solidFill>
                  <a:srgbClr val="61786E"/>
                </a:solidFill>
              </a:rPr>
              <a:t>Agent → tool → live audio → events → production behavior.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7630B8-01C0-446A-8409-DF52E80AA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48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317976-9BCA-4AAD-AD20-C05929573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VOICE AGENTS × GOOGLE ADK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92B13B-25E4-4B98-AD5E-F7DC58FF5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0557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 i="0">
                <a:solidFill>
                  <a:srgbClr val="7F9389"/>
                </a:solidFill>
              </a:defRPr>
            </a:pPr>
            <a:r>
              <a:rPr sz="900" b="1" i="0">
                <a:solidFill>
                  <a:srgbClr val="7F9389"/>
                </a:solidFill>
              </a:rPr>
              <a:t>18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3D373E-ABBC-4380-8725-5CFB4759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43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59A64"/>
                </a:solidFill>
              </a:defRPr>
            </a:pPr>
            <a:r>
              <a:rPr sz="1425" b="1" i="0">
                <a:solidFill>
                  <a:srgbClr val="159A64"/>
                </a:solidFill>
              </a:rPr>
              <a:t>BUILD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3D0F8E-DAAD-4934-8588-8B4E5ED1F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432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63C2C"/>
                </a:solidFill>
              </a:defRPr>
            </a:pPr>
            <a:r>
              <a:rPr sz="1875" b="1" i="0">
                <a:solidFill>
                  <a:srgbClr val="163C2C"/>
                </a:solidFill>
              </a:rPr>
              <a:t>small checkpoints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4BB56C-CE75-4135-A61E-36569A401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343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48B985"/>
                </a:solidFill>
              </a:defRPr>
            </a:pPr>
            <a:r>
              <a:rPr sz="1425" b="1" i="0">
                <a:solidFill>
                  <a:srgbClr val="48B985"/>
                </a:solidFill>
              </a:rPr>
              <a:t>TEST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3A5CA4-871A-4D0E-9857-3E99B0934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32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63C2C"/>
                </a:solidFill>
              </a:defRPr>
            </a:pPr>
            <a:r>
              <a:rPr sz="1875" b="1" i="0">
                <a:solidFill>
                  <a:srgbClr val="163C2C"/>
                </a:solidFill>
              </a:rPr>
              <a:t>interrupt + fail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A259B4-21BB-47F6-A3FE-795EBBDA4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43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7FA847"/>
                </a:solidFill>
              </a:defRPr>
            </a:pPr>
            <a:r>
              <a:rPr sz="1425" b="1" i="0">
                <a:solidFill>
                  <a:srgbClr val="7FA847"/>
                </a:solidFill>
              </a:rPr>
              <a:t>SHIP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055A3E-6940-4968-833F-1CDEFA84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432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63C2C"/>
                </a:solidFill>
              </a:defRPr>
            </a:pPr>
            <a:r>
              <a:rPr sz="1875" b="1" i="0">
                <a:solidFill>
                  <a:srgbClr val="163C2C"/>
                </a:solidFill>
              </a:rPr>
              <a:t>measure the loop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EFFCFA-9978-48C2-AB97-3CD87DED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90900"/>
            <a:ext cx="962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E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7EBF7C-5753-4CD3-8AED-1BB67ACA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448175"/>
            <a:ext cx="38100" cy="209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A5FEEE-B649-475F-B971-08F8245B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352925"/>
            <a:ext cx="381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7F65BA-F8FE-4693-A364-DD299050D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0052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7E400E-D824-4CD4-9A9E-1B76A2B8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057650"/>
            <a:ext cx="38100" cy="990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730665-9C25-48EA-B4B9-73B2B45BB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257675"/>
            <a:ext cx="381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9B5F97-22F3-40F2-B1E0-B93860E9A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91025"/>
            <a:ext cx="38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53BEE9-D9F5-47DC-9152-1D9F08806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114800"/>
            <a:ext cx="38100" cy="876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D7FC66-8529-4928-8CFB-E350D1C69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924300"/>
            <a:ext cx="3810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C8073D-9082-4C96-9D6D-8C112984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43375"/>
            <a:ext cx="38100" cy="819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4DDDBD-A82C-420B-9542-2F9C07D44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30530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63C1CB-80E0-4544-A078-F468B86EC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438650"/>
            <a:ext cx="381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E33844-00B5-4863-97ED-C224ABB7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238625"/>
            <a:ext cx="3810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B0924A-957B-4732-8A02-B185E89C2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019550"/>
            <a:ext cx="38100" cy="106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E2B56B-506B-4A15-81B2-F42277E41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200525"/>
            <a:ext cx="38100" cy="704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6F1318-9FD6-476F-9B3B-64CE91F85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381500"/>
            <a:ext cx="3810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B0E4C0-9867-4F3B-9EA6-2A6EB500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457700"/>
            <a:ext cx="381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510565-E703-4D75-95AF-719F9C965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0530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AFFA46-FEBF-4D07-93CC-22516582E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124325"/>
            <a:ext cx="38100" cy="857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A628A3-8843-4E99-A750-2672E093C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33875"/>
            <a:ext cx="381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E6C36CD-234D-44E5-B656-06CE75139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467225"/>
            <a:ext cx="3810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C39AE7B-1D40-40D2-9D7E-96B9B4012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91025"/>
            <a:ext cx="38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21CAAFE-EE76-4600-9C36-BD665C6D1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229100"/>
            <a:ext cx="38100" cy="647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C13C53-9D08-431A-ADF8-DAD865A0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105275"/>
            <a:ext cx="38100" cy="895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D98E0E6-4B93-4197-9315-9263FDF6C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305300"/>
            <a:ext cx="3810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52949D9-405D-4F3C-B54B-E8B6B9C1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438650"/>
            <a:ext cx="38100" cy="228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ED9B3E2-E5F8-4409-93E6-B3B53895D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476750"/>
            <a:ext cx="38100" cy="152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EC6BF72-AAB9-4896-94BA-D9808FFB3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33875"/>
            <a:ext cx="38100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0B864D7-0E95-495F-92C3-1D6F4DA26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162425"/>
            <a:ext cx="38100" cy="781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1F5C13F-827D-4EE0-A453-56B68D8A7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95775"/>
            <a:ext cx="381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12FCE1E-CC3C-455B-90F6-4FBB9215D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29125"/>
            <a:ext cx="38100" cy="247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9A6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CBB8EE-5467-4EC6-A77B-9B15369C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6735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48B985"/>
                </a:solidFill>
              </a:defRPr>
            </a:pPr>
            <a:r>
              <a:rPr sz="2100" b="1" i="0">
                <a:solidFill>
                  <a:srgbClr val="48B985"/>
                </a:solidFill>
              </a:rPr>
              <a:t>Next: replace the fake tool with one real workflow.</a:t>
            </a:r>
          </a:p>
        </p:txBody>
      </p:sp>
    </p:spTree>
    <p:extLst>
      <p:ext uri="{BB962C8B-B14F-4D97-AF65-F5344CB8AC3E}">
        <p14:creationId xmlns:p14="http://schemas.microsoft.com/office/powerpoint/2010/main" val="2879965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2026-08-21T11:30:50.3680000Z</dcterms:created>
  <dcterms:modified xsi:type="dcterms:W3CDTF">2026-08-21T11:30:50.3680000Z</dcterms:modified>
</coreProperties>
</file>