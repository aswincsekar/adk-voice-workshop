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a462750664028" /><Relationship Type="http://schemas.openxmlformats.org/officeDocument/2006/relationships/extended-properties" Target="/docProps/app.xml" Id="Rc464a30837454feb" /><Relationship Type="http://schemas.openxmlformats.org/officeDocument/2006/relationships/officeDocument" Target="/ppt/presentation.xml" Id="Rcecbe02f479e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d08fca3da482d"/>
  </p:sldMasterIdLst>
  <p:notesMasterIdLst>
    <p:notesMasterId xmlns:r="http://schemas.openxmlformats.org/officeDocument/2006/relationships" r:id="R7d25ae0086874995"/>
  </p:notesMasterIdLst>
  <p:sldIdLst>
    <p:sldId xmlns:r="http://schemas.openxmlformats.org/officeDocument/2006/relationships" id="256" r:id="R9698b42e9ad44810"/>
    <p:sldId xmlns:r="http://schemas.openxmlformats.org/officeDocument/2006/relationships" id="257" r:id="Rb635f51f8c6246a9"/>
    <p:sldId xmlns:r="http://schemas.openxmlformats.org/officeDocument/2006/relationships" id="258" r:id="Rd7e845d5d6864b32"/>
    <p:sldId xmlns:r="http://schemas.openxmlformats.org/officeDocument/2006/relationships" id="259" r:id="R94f3af1e0c5547b7"/>
    <p:sldId xmlns:r="http://schemas.openxmlformats.org/officeDocument/2006/relationships" id="260" r:id="R0f1a88f7cd7b4c16"/>
    <p:sldId xmlns:r="http://schemas.openxmlformats.org/officeDocument/2006/relationships" id="261" r:id="R75aa5bfad61c4aef"/>
    <p:sldId xmlns:r="http://schemas.openxmlformats.org/officeDocument/2006/relationships" id="262" r:id="R66a071bb6aee4dc0"/>
    <p:sldId xmlns:r="http://schemas.openxmlformats.org/officeDocument/2006/relationships" id="263" r:id="Rd30dc0e48e754129"/>
    <p:sldId xmlns:r="http://schemas.openxmlformats.org/officeDocument/2006/relationships" id="264" r:id="R03b9a69bc73e4a5a"/>
    <p:sldId xmlns:r="http://schemas.openxmlformats.org/officeDocument/2006/relationships" id="265" r:id="R3d019342b0244814"/>
    <p:sldId xmlns:r="http://schemas.openxmlformats.org/officeDocument/2006/relationships" id="266" r:id="Rf81d01f47f35416f"/>
    <p:sldId xmlns:r="http://schemas.openxmlformats.org/officeDocument/2006/relationships" id="267" r:id="Rfebe851030e94a86"/>
    <p:sldId xmlns:r="http://schemas.openxmlformats.org/officeDocument/2006/relationships" id="268" r:id="Rc39ec45841544373"/>
    <p:sldId xmlns:r="http://schemas.openxmlformats.org/officeDocument/2006/relationships" id="269" r:id="R46edadb1321e45de"/>
    <p:sldId xmlns:r="http://schemas.openxmlformats.org/officeDocument/2006/relationships" id="270" r:id="Ra77a19a685a7464a"/>
    <p:sldId xmlns:r="http://schemas.openxmlformats.org/officeDocument/2006/relationships" id="271" r:id="R9cfe373fc4b841f2"/>
    <p:sldId xmlns:r="http://schemas.openxmlformats.org/officeDocument/2006/relationships" id="272" r:id="Rd404adefae8b4f7e"/>
    <p:sldId xmlns:r="http://schemas.openxmlformats.org/officeDocument/2006/relationships" id="273" r:id="R6d826ef1bff040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d189269b5d4a3b" /><Relationship Type="http://schemas.openxmlformats.org/officeDocument/2006/relationships/slideMaster" Target="/ppt/slideMasters/slideMaster1.xml" Id="R2a4d08fca3da482d" /><Relationship Type="http://schemas.openxmlformats.org/officeDocument/2006/relationships/notesMaster" Target="/ppt/notesMasters/notesMaster1.xml" Id="R7d25ae0086874995" /><Relationship Type="http://schemas.openxmlformats.org/officeDocument/2006/relationships/presProps" Target="/ppt/presProps.xml" Id="Rf798a5f7389e4f50" /><Relationship Type="http://schemas.openxmlformats.org/officeDocument/2006/relationships/tableStyles" Target="/ppt/tableStyles.xml" Id="Rcb6bb975ff68485c" /><Relationship Type="http://schemas.openxmlformats.org/officeDocument/2006/relationships/slide" Target="/ppt/slides/slide1.xml" Id="R9698b42e9ad44810" /><Relationship Type="http://schemas.openxmlformats.org/officeDocument/2006/relationships/slide" Target="/ppt/slides/slide2.xml" Id="Rb635f51f8c6246a9" /><Relationship Type="http://schemas.openxmlformats.org/officeDocument/2006/relationships/slide" Target="/ppt/slides/slide3.xml" Id="Rd7e845d5d6864b32" /><Relationship Type="http://schemas.openxmlformats.org/officeDocument/2006/relationships/slide" Target="/ppt/slides/slide4.xml" Id="R94f3af1e0c5547b7" /><Relationship Type="http://schemas.openxmlformats.org/officeDocument/2006/relationships/slide" Target="/ppt/slides/slide5.xml" Id="R0f1a88f7cd7b4c16" /><Relationship Type="http://schemas.openxmlformats.org/officeDocument/2006/relationships/slide" Target="/ppt/slides/slide6.xml" Id="R75aa5bfad61c4aef" /><Relationship Type="http://schemas.openxmlformats.org/officeDocument/2006/relationships/slide" Target="/ppt/slides/slide7.xml" Id="R66a071bb6aee4dc0" /><Relationship Type="http://schemas.openxmlformats.org/officeDocument/2006/relationships/slide" Target="/ppt/slides/slide8.xml" Id="Rd30dc0e48e754129" /><Relationship Type="http://schemas.openxmlformats.org/officeDocument/2006/relationships/slide" Target="/ppt/slides/slide9.xml" Id="R03b9a69bc73e4a5a" /><Relationship Type="http://schemas.openxmlformats.org/officeDocument/2006/relationships/slide" Target="/ppt/slides/slide10.xml" Id="R3d019342b0244814" /><Relationship Type="http://schemas.openxmlformats.org/officeDocument/2006/relationships/slide" Target="/ppt/slides/slide11.xml" Id="Rf81d01f47f35416f" /><Relationship Type="http://schemas.openxmlformats.org/officeDocument/2006/relationships/slide" Target="/ppt/slides/slide12.xml" Id="Rfebe851030e94a86" /><Relationship Type="http://schemas.openxmlformats.org/officeDocument/2006/relationships/slide" Target="/ppt/slides/slide13.xml" Id="Rc39ec45841544373" /><Relationship Type="http://schemas.openxmlformats.org/officeDocument/2006/relationships/slide" Target="/ppt/slides/slide14.xml" Id="R46edadb1321e45de" /><Relationship Type="http://schemas.openxmlformats.org/officeDocument/2006/relationships/slide" Target="/ppt/slides/slide15.xml" Id="Ra77a19a685a7464a" /><Relationship Type="http://schemas.openxmlformats.org/officeDocument/2006/relationships/slide" Target="/ppt/slides/slide16.xml" Id="R9cfe373fc4b841f2" /><Relationship Type="http://schemas.openxmlformats.org/officeDocument/2006/relationships/slide" Target="/ppt/slides/slide17.xml" Id="Rd404adefae8b4f7e" /><Relationship Type="http://schemas.openxmlformats.org/officeDocument/2006/relationships/slide" Target="/ppt/slides/slide18.xml" Id="R6d826ef1bff040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12ae68991441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f1c97a8c8748fc" /><Relationship Type="http://schemas.openxmlformats.org/officeDocument/2006/relationships/notesMaster" Target="/ppt/notesMasters/notesMaster1.xml" Id="Rd844aeeda7d745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c69da7225b49aa" /><Relationship Type="http://schemas.openxmlformats.org/officeDocument/2006/relationships/notesMaster" Target="/ppt/notesMasters/notesMaster1.xml" Id="R83f881a2619949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7d8b246978460b" /><Relationship Type="http://schemas.openxmlformats.org/officeDocument/2006/relationships/notesMaster" Target="/ppt/notesMasters/notesMaster1.xml" Id="R69f5933e983d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10da425e7c49ef" /><Relationship Type="http://schemas.openxmlformats.org/officeDocument/2006/relationships/notesMaster" Target="/ppt/notesMasters/notesMaster1.xml" Id="R4b324345962346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e4e6e466a4458d" /><Relationship Type="http://schemas.openxmlformats.org/officeDocument/2006/relationships/notesMaster" Target="/ppt/notesMasters/notesMaster1.xml" Id="Rbdde0579b7e44c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15a9e9413c4259" /><Relationship Type="http://schemas.openxmlformats.org/officeDocument/2006/relationships/notesMaster" Target="/ppt/notesMasters/notesMaster1.xml" Id="Re0e95076ce0846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303bda2c6a45a7" /><Relationship Type="http://schemas.openxmlformats.org/officeDocument/2006/relationships/notesMaster" Target="/ppt/notesMasters/notesMaster1.xml" Id="Rea0e9f8a4cdd4d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e4e9c65e7d49b5" /><Relationship Type="http://schemas.openxmlformats.org/officeDocument/2006/relationships/notesMaster" Target="/ppt/notesMasters/notesMaster1.xml" Id="Rf43e0d03557748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12d3ade5504130" /><Relationship Type="http://schemas.openxmlformats.org/officeDocument/2006/relationships/notesMaster" Target="/ppt/notesMasters/notesMaster1.xml" Id="R28673eabfa3f44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041e4bae5b4a18" /><Relationship Type="http://schemas.openxmlformats.org/officeDocument/2006/relationships/notesMaster" Target="/ppt/notesMasters/notesMaster1.xml" Id="R1bb0294a26e34e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aaa98712f44d51" /><Relationship Type="http://schemas.openxmlformats.org/officeDocument/2006/relationships/notesMaster" Target="/ppt/notesMasters/notesMaster1.xml" Id="R4444faa82f6a48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f33f5c99304844" /><Relationship Type="http://schemas.openxmlformats.org/officeDocument/2006/relationships/notesMaster" Target="/ppt/notesMasters/notesMaster1.xml" Id="R50ce856c11af42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2cc86f443540ac" /><Relationship Type="http://schemas.openxmlformats.org/officeDocument/2006/relationships/notesMaster" Target="/ppt/notesMasters/notesMaster1.xml" Id="R33e97fa1f40a42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0e0faf725f4654" /><Relationship Type="http://schemas.openxmlformats.org/officeDocument/2006/relationships/notesMaster" Target="/ppt/notesMasters/notesMaster1.xml" Id="R529f6acf2dac4a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3255c2daaf4ef3" /><Relationship Type="http://schemas.openxmlformats.org/officeDocument/2006/relationships/notesMaster" Target="/ppt/notesMasters/notesMaster1.xml" Id="Rf5584aea071244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c2d46bdfb24e50" /><Relationship Type="http://schemas.openxmlformats.org/officeDocument/2006/relationships/notesMaster" Target="/ppt/notesMasters/notesMaster1.xml" Id="R1ed7fe70da0a49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8063b8fee84fb7" /><Relationship Type="http://schemas.openxmlformats.org/officeDocument/2006/relationships/notesMaster" Target="/ppt/notesMasters/notesMaster1.xml" Id="Raef4c4d2084845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75af55d38c483d" /><Relationship Type="http://schemas.openxmlformats.org/officeDocument/2006/relationships/notesMaster" Target="/ppt/notesMasters/notesMaster1.xml" Id="R7cdf5b1da69c49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energy. Tell participants: keep laptops closed for 90 seconds. Then immediately run the finished voice-agent demo. Target: 1 minute.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script: ask for a room; interrupt halfway through the agent’s clarification; let the fake booking tool complete. Point out the three beats: ask, interrupt, tool completes. Target: 3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guided hands-on, with optional stretch work. Point out that each checkpoint is runnable. Target: 2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presenting, replace the QR placeholder with the real repository QR and add the short URL beneath it. Ask helpers to resolve keys, microphones, and browser permissions. Target: 4–6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Prerequisites to include in the repo README: modern Chromium browser, headphones, working mic, prepared Python environment, workshop credential path, and checkpoint folders.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pacing. For a 45-minute slot, compress setup, narrate the architecture diagram, and make the mini challenge one modification rather than a full build. Target: 1 minute.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Live-code only the Agent constructor. Participants copy the starter or uncomment the prepared block, run it, and ask one text question. Target: 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https://google.github.io/agents-cli/guide/hands-on-tutorial/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a visible 3-minute timer. After 2 minutes, ask one person to read their instruction aloud. If participants are behind, direct them to checkpoint 01. Target: 4 minutes including debrief.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once with a vague docstring, then improve it. Ask participants to change one returned room or argument, run checkpoint 02, and verify the tool call in the trace. Target: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https://google.github.io/agents-cli/guide/hands-on-tutorial/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Participants run the prepared voice checkpoint and speak to their agent. Keep headphones on to avoid feedback. If a mic fails, pair participants—do not debug on the main stage. Target: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https://github.com/google/adk-docs/blob/main/docs/live/get-started/streaming-python.md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4 minutes. Ask participants to capture one awkward moment, not solve it yet. Use responses to transition into VAD and barge-in. Target: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Replay the interruption demo slowly. Point at the moment the user starts speaking. Explain VAD as activity detection and barge-in as the combined product behavior: detect, stop output, preserve the correction. Target: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https://adk.dev/streaming/dev-guide/part1/</a:t>
            </a:r>
          </a:p>
          <a:p xmlns:a="http://schemas.openxmlformats.org/drawingml/2006/main">
            <a:r>
              <a:t>- https://adk.dev/streaming/dev-guide/part2/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Stress that WebSocket is the app transport, LiveRequestQueue is the ordered per-session input channel, and run_live() produces downstream Events. Upstream and downstream run concurrently. Target: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https://adk.dev/streaming/dev-guide/part1/</a:t>
            </a:r>
          </a:p>
          <a:p xmlns:a="http://schemas.openxmlformats.org/drawingml/2006/main">
            <a:r>
              <a:t>- https://adk.dev/streaming/dev-guide/part2/</a:t>
            </a:r>
          </a:p>
          <a:p xmlns:a="http://schemas.openxmlformats.org/drawingml/2006/main">
            <a:r>
              <a:t>- https://adk.dev/streaming/dev-guide/part3/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event log next to the live UI. Point out partial versus final transcripts and explain why the client should update rather than append every fragment. Target: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https://adk.dev/streaming/dev-guide/part3/</a:t>
            </a:r>
          </a:p>
          <a:p xmlns:a="http://schemas.openxmlformats.org/drawingml/2006/main">
            <a:r>
              <a:t>- https://adk.dev/streaming/dev-guide/part1/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checkpoint 04 with an intentional sleep in the tool. First let it succeed slowly. Then trigger a timeout or failure. Ask the room what they inferred during the silence. Target: 4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propose the spoken recovery phrase before discussing implementation. Then reveal the three layers: acknowledgement, bound, recovery. Target: 3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practical: identify one metric and one guardrail for the room-booking agent. Mention that each streaming session needs isolated queue/config/state and that large media should not be treated like ordinary event payloads. Target: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https://adk.dev/streaming/dev-guide/part1/</a:t>
            </a:r>
          </a:p>
          <a:p xmlns:a="http://schemas.openxmlformats.org/drawingml/2006/main">
            <a:r>
              <a:t>- https://developers.googleblog.com/beyond-request-response-architecting-real-time-bidirectional-streaming-multi-agent-system/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a 6-minute timer. Invite two fast demos: 30 seconds each. If the slot is 45 minutes, reduce to 3 minutes and ask participants to choose option A only. Target: 7–8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demo: participants can now name what was happening under the hood. End with one concrete action—replace the fake tool with a safe, observable workflow. Leave the repo and QR on screen after the deck if possible. Target: 2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6249592964d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c24e4819e94ab8" /><Relationship Type="http://schemas.openxmlformats.org/officeDocument/2006/relationships/slideLayout" Target="/ppt/slideLayouts/slideLayout1.xml" Id="R6da366cce47d4d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a366cce47d4d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7e7c80c134a5f" /><Relationship Type="http://schemas.openxmlformats.org/officeDocument/2006/relationships/notesSlide" Target="/ppt/notesSlides/notesSlide1.xml" Id="R98800b2121254a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bf443fba24358" /><Relationship Type="http://schemas.openxmlformats.org/officeDocument/2006/relationships/notesSlide" Target="/ppt/notesSlides/notesSlide2.xml" Id="Rc6469c51bdc643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d3a0241454f40" /><Relationship Type="http://schemas.openxmlformats.org/officeDocument/2006/relationships/notesSlide" Target="/ppt/notesSlides/notesSlide3.xml" Id="R9e7d27e4bdec4f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111c511f4e33" /><Relationship Type="http://schemas.openxmlformats.org/officeDocument/2006/relationships/notesSlide" Target="/ppt/notesSlides/notesSlide4.xml" Id="R77c6be19df8848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104b73caf47f0" /><Relationship Type="http://schemas.openxmlformats.org/officeDocument/2006/relationships/notesSlide" Target="/ppt/notesSlides/notesSlide5.xml" Id="R4dbdce82c8c54c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38a2148a0469c" /><Relationship Type="http://schemas.openxmlformats.org/officeDocument/2006/relationships/notesSlide" Target="/ppt/notesSlides/notesSlide6.xml" Id="Rc1bfe4c182b444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d789f097f4812" /><Relationship Type="http://schemas.openxmlformats.org/officeDocument/2006/relationships/notesSlide" Target="/ppt/notesSlides/notesSlide7.xml" Id="Re456221ec221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ed900a73c47a3" /><Relationship Type="http://schemas.openxmlformats.org/officeDocument/2006/relationships/notesSlide" Target="/ppt/notesSlides/notesSlide8.xml" Id="R212a2eb0ffb24b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fd9f7a24d4b2e" /><Relationship Type="http://schemas.openxmlformats.org/officeDocument/2006/relationships/notesSlide" Target="/ppt/notesSlides/notesSlide9.xml" Id="R3c680b34781b4c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4e7c6c7ed466d" /><Relationship Type="http://schemas.openxmlformats.org/officeDocument/2006/relationships/notesSlide" Target="/ppt/notesSlides/notesSlide10.xml" Id="R218e991a025841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427751e3422e" /><Relationship Type="http://schemas.openxmlformats.org/officeDocument/2006/relationships/notesSlide" Target="/ppt/notesSlides/notesSlide11.xml" Id="R3d55afbce9e048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786d308d840b1" /><Relationship Type="http://schemas.openxmlformats.org/officeDocument/2006/relationships/notesSlide" Target="/ppt/notesSlides/notesSlide12.xml" Id="R30d820d508b243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7d6b1a29408e" /><Relationship Type="http://schemas.openxmlformats.org/officeDocument/2006/relationships/notesSlide" Target="/ppt/notesSlides/notesSlide13.xml" Id="Rb0d0997c4c164d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6ce017d9a4fea" /><Relationship Type="http://schemas.openxmlformats.org/officeDocument/2006/relationships/notesSlide" Target="/ppt/notesSlides/notesSlide14.xml" Id="R9695b024593142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69b58496c4e63" /><Relationship Type="http://schemas.openxmlformats.org/officeDocument/2006/relationships/notesSlide" Target="/ppt/notesSlides/notesSlide15.xml" Id="Ref3a3f00c05145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99af357c94969" /><Relationship Type="http://schemas.openxmlformats.org/officeDocument/2006/relationships/notesSlide" Target="/ppt/notesSlides/notesSlide16.xml" Id="R2d9bf6db024a41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293d912c34c80" /><Relationship Type="http://schemas.openxmlformats.org/officeDocument/2006/relationships/notesSlide" Target="/ppt/notesSlides/notesSlide17.xml" Id="Recd08602c67840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cb5979105499a" /><Relationship Type="http://schemas.openxmlformats.org/officeDocument/2006/relationships/notesSlide" Target="/ppt/notesSlides/notesSlide18.xml" Id="Ra530638d28c44f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2FD94-7BB1-4BA8-85CD-E58C5F9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70001-AA98-4CC0-9424-55D5094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8D9FF"/>
                </a:solidFill>
              </a:defRPr>
            </a:pPr>
            <a:r>
              <a:rPr sz="1200" b="1" i="0">
                <a:solidFill>
                  <a:srgbClr val="38D9FF"/>
                </a:solidFill>
              </a:rPr>
              <a:t>GUIDED HANDS-ON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4ED3C-32EB-492B-BC83-F1AFEADC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7810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EAF2FF"/>
                </a:solidFill>
              </a:defRPr>
            </a:pPr>
            <a:r>
              <a:rPr sz="4350" b="1" i="0">
                <a:solidFill>
                  <a:srgbClr val="EAF2FF"/>
                </a:solidFill>
              </a:rPr>
              <a:t>Building Voice Agents</a:t>
            </a:r>
          </a:p>
          <a:p xmlns:a="http://schemas.openxmlformats.org/drawingml/2006/main">
            <a:pPr algn="l">
              <a:defRPr sz="4350" b="1" i="0">
                <a:solidFill>
                  <a:srgbClr val="EAF2FF"/>
                </a:solidFill>
              </a:defRPr>
            </a:pPr>
            <a:r>
              <a:rPr sz="4350" b="1" i="0">
                <a:solidFill>
                  <a:srgbClr val="EAF2FF"/>
                </a:solidFill>
              </a:rPr>
              <a:t>with Google ADK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51A1C-27EB-4CD3-89C7-19201544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78F0B2"/>
                </a:solidFill>
              </a:defRPr>
            </a:pPr>
            <a:r>
              <a:rPr sz="1950" b="1" i="0">
                <a:solidFill>
                  <a:srgbClr val="78F0B2"/>
                </a:solidFill>
              </a:rPr>
              <a:t>From 10 lines of Python to 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E628F-7FFC-4D37-B740-F858FCB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Saturday session  •  45–60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F950C-7818-45BF-9943-0938E259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81050"/>
            <a:ext cx="2857500" cy="4762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D44FF-B50F-42DC-9FED-F455651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9072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262C2-C6F0-49B8-A404-49168257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95475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5FF9F-B2F8-43A3-A0E1-B8A5996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4307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576CC-F3B4-4C6B-973D-CAD13C25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00200"/>
            <a:ext cx="381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537B9-CD6B-4E52-9D6E-FCAAB817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0225"/>
            <a:ext cx="381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6EAFD-31C4-43B9-9DAB-5CB4E5C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3357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7EB09-6772-4D14-A530-3F8F2D9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57350"/>
            <a:ext cx="381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6F4A8-AA49-47CC-9F49-1C8EE5A8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466850"/>
            <a:ext cx="381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E8E7F-5577-4081-A471-672B4F0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85925"/>
            <a:ext cx="381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2DA10-8A0B-4627-8DED-BB2DF19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4785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C9B40-7B59-4212-9198-DE9DAC2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81200"/>
            <a:ext cx="38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11C52-40DA-4A91-8FC4-AEB6E94A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81175"/>
            <a:ext cx="381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9C687-69AE-42EB-BD02-4D537EB3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562100"/>
            <a:ext cx="381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9D498-1AB7-4458-85EC-DD840DD0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74307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06957-4063-4E37-980A-88BAD086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924050"/>
            <a:ext cx="38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B5757-6911-4F7F-97EF-79E24BB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00025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BF8C9-E080-4344-9ABC-D5DC7D1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3C244-4A81-4C7B-B20E-CC792F62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19475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8111D"/>
                </a:solidFill>
              </a:defRPr>
            </a:pPr>
            <a:r>
              <a:rPr sz="1800" b="1" i="0">
                <a:solidFill>
                  <a:srgbClr val="08111D"/>
                </a:solidFill>
              </a:rPr>
              <a:t>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8EE58-4DD2-4234-8E46-0D371B6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speak  •  interrupt  •  call tools</a:t>
            </a:r>
          </a:p>
        </p:txBody>
      </p:sp>
    </p:spTree>
    <p:extLst>
      <p:ext uri="{BB962C8B-B14F-4D97-AF65-F5344CB8AC3E}">
        <p14:creationId xmlns:p14="http://schemas.microsoft.com/office/powerpoint/2010/main" val="594192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BFBD2-847B-46B8-AF05-22860448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AAB32-D33A-4FA5-8B23-FE967CC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I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D7114-B999-428C-BBBB-BB8FA9AC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Watch three things happen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B991A-617B-4539-81C8-34892E24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Ask. Interrupt. See the tool 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A7B74-A61D-443C-9CEF-6E311AB4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9E6CA-3763-4C04-8234-CBB69653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7C6EF-4357-45A8-9514-E06AB60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0C830-B998-4A5B-8DFD-4F2705C2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AF2FF"/>
                </a:solidFill>
              </a:defRPr>
            </a:pPr>
            <a:r>
              <a:rPr sz="2550" b="1" i="0">
                <a:solidFill>
                  <a:srgbClr val="EAF2FF"/>
                </a:solidFill>
              </a:rPr>
              <a:t>1  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CC4CF-418E-4812-B68C-204F486B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9AAEC4"/>
                </a:solidFill>
              </a:defRPr>
            </a:pPr>
            <a:r>
              <a:rPr sz="1575" b="0" i="0">
                <a:solidFill>
                  <a:srgbClr val="9AAEC4"/>
                </a:solidFill>
              </a:rPr>
              <a:t>2  INTERRUPT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688D5-B92A-419D-BECB-36660DA2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8F0B2"/>
                </a:solidFill>
              </a:defRPr>
            </a:pPr>
            <a:r>
              <a:rPr sz="2550" b="1" i="0">
                <a:solidFill>
                  <a:srgbClr val="78F0B2"/>
                </a:solidFill>
              </a:rPr>
              <a:t>3  TOOL COMPLETES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680C9-9A02-4EF1-B1AC-A7F2F7D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80035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01173-337E-4045-BFEE-CD038A9D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76575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71DA9-1DEB-43EF-B53D-9CCA639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81325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794E7-BACC-42DF-92A9-8CD2DA1C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3D999-F3D0-41D2-BBA8-BDC3B84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00325"/>
            <a:ext cx="381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2D503-0663-4598-8950-BB634364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381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6FC4C-0BCF-4DC2-9F05-002FEF1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1942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4DECB-B393-4397-A7F3-9AE57EE6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43200"/>
            <a:ext cx="381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22F1F-C02E-46F1-A352-A2C33840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95550"/>
            <a:ext cx="381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091D0-69AA-49B7-AF28-2EAED72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14625"/>
            <a:ext cx="3810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0CB20-167D-4931-B95D-7EE58947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43225"/>
            <a:ext cx="38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36C6A-966C-4629-BAB2-578E707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966C3-BD50-4AC2-AA1A-6C99A58F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95600"/>
            <a:ext cx="381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399C8-A291-4FAE-9F6F-963E907F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381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3A8E7-4891-473A-BF08-73B3B1F5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28925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0A1AD5-947C-4FD4-8095-F510D74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1942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64F6B-795D-4338-B200-B2CBBAE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2190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3D62E9-4840-4D3D-888C-8758457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6B7A"/>
                </a:solidFill>
              </a:defRPr>
            </a:pPr>
            <a:r>
              <a:rPr sz="1350" b="1" i="0">
                <a:solidFill>
                  <a:srgbClr val="FF6B7A"/>
                </a:solidFill>
              </a:rPr>
              <a:t>interrupt here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A41E4-843E-4E0B-86CA-8F2C8882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8D9FF"/>
                </a:solidFill>
              </a:defRPr>
            </a:pPr>
            <a:r>
              <a:rPr sz="1200" b="1" i="0">
                <a:solidFill>
                  <a:srgbClr val="38D9FF"/>
                </a:solidFill>
              </a:rPr>
              <a:t>The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EB792-0F74-4722-B1F9-3DADDA7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AF2FF"/>
                </a:solidFill>
              </a:defRPr>
            </a:pPr>
            <a:r>
              <a:rPr sz="1575" b="0" i="0">
                <a:solidFill>
                  <a:srgbClr val="EAF2FF"/>
                </a:solidFill>
              </a:rPr>
              <a:t>The agent stops speaking and keeps your correction.</a:t>
            </a:r>
          </a:p>
        </p:txBody>
      </p:sp>
    </p:spTree>
    <p:extLst>
      <p:ext uri="{BB962C8B-B14F-4D97-AF65-F5344CB8AC3E}">
        <p14:creationId xmlns:p14="http://schemas.microsoft.com/office/powerpoint/2010/main" val="1007809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A132C-4EDF-449C-AC5B-8C2EC7D3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9FFCE-ACC7-4A8A-A45F-26374931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57"/>
                </a:solidFill>
              </a:defRPr>
            </a:pPr>
            <a:r>
              <a:rPr sz="1125" b="1" i="0">
                <a:solidFill>
                  <a:srgbClr val="FFC857"/>
                </a:solidFill>
              </a:rPr>
              <a:t>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4E0DD-F66D-4F60-B452-D59F39A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By the end, your agent will talk 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A9AA1-08E7-443D-A692-326CDE83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We will build in checkpoints, so nobody gets stranded.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FC3FF-90DE-4034-8F83-07B498BE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F3023-740C-4882-82A6-DF5CF96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79595-9442-4B8B-A3E5-E3CE8E4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55D07-2617-465E-A37B-86C5F57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0C0BC-34EC-427E-A03B-E4CB95A5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955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9525">
            <a:solidFill>
              <a:srgbClr val="38D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2CF76-E026-4676-8A99-497F7A1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669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11D"/>
                </a:solidFill>
              </a:defRPr>
            </a:pPr>
            <a:r>
              <a:rPr sz="1350" b="1" i="0">
                <a:solidFill>
                  <a:srgbClr val="0811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4D31F-5B0A-4C6A-AB48-77531A4C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907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4966C-7F05-4526-BD0D-E491EBA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955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9525">
            <a:solidFill>
              <a:srgbClr val="78F0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2224D-4810-4D94-A515-6CD7B24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669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11D"/>
                </a:solidFill>
              </a:defRPr>
            </a:pPr>
            <a:r>
              <a:rPr sz="1350" b="1" i="0">
                <a:solidFill>
                  <a:srgbClr val="0811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83DBB-C699-4A8B-8E95-3460519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907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AABAD-0816-4B33-A3D9-561A139A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955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E9B5E-77C4-410C-AB43-DAFBBFA8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669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11D"/>
                </a:solidFill>
              </a:defRPr>
            </a:pPr>
            <a:r>
              <a:rPr sz="1350" b="1" i="0">
                <a:solidFill>
                  <a:srgbClr val="0811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FC6D2-57CA-44AC-8A30-F8830F7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9077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DABD2-DAE1-4FCE-9AB3-B6F7AE63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955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76473-398F-4C66-B2B3-B0F895EF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669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11D"/>
                </a:solidFill>
              </a:defRPr>
            </a:pPr>
            <a:r>
              <a:rPr sz="1350" b="1" i="0">
                <a:solidFill>
                  <a:srgbClr val="0811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E4B0C-38A4-4572-BCB4-075290B2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3907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8E2DB-DFA3-4615-8C2C-ACC8795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Basic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1A15C-DEEC-4C3D-88CD-839CDAAE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62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4DFFE-C689-4FE9-B952-4ED5575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62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Live audio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6E063-0F73-46BD-9EB0-4DCC931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62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Latency +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26A28D-872A-4B01-A834-CDC95AB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8F0B2"/>
                </a:solidFill>
              </a:defRPr>
            </a:pPr>
            <a:r>
              <a:rPr sz="2100" b="1" i="0">
                <a:solidFill>
                  <a:srgbClr val="78F0B2"/>
                </a:solidFill>
              </a:rPr>
              <a:t>You type only the pieces that teach the idea. Checkpoints carry the rest.</a:t>
            </a:r>
          </a:p>
        </p:txBody>
      </p:sp>
    </p:spTree>
    <p:extLst>
      <p:ext uri="{BB962C8B-B14F-4D97-AF65-F5344CB8AC3E}">
        <p14:creationId xmlns:p14="http://schemas.microsoft.com/office/powerpoint/2010/main" val="768436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E049F8-EE0A-40AE-8105-8C8F381E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23F53-6BF0-44D0-9BDE-15DBD151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F0B2"/>
                </a:solidFill>
              </a:defRPr>
            </a:pPr>
            <a:r>
              <a:rPr sz="1125" b="1" i="0">
                <a:solidFill>
                  <a:srgbClr val="78F0B2"/>
                </a:solidFill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5A6B4-BDDC-4E41-998B-62FF153A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Get to a green check before we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85DB1-AE0A-4DC9-B70B-A342CBB0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Scan the repo, open the starter, and run the preflight.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9AFF-044B-4F03-9792-9D314ED6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97565-32E6-475D-AD2B-A7E54289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83BA-BD25-4CC7-8455-41E6BE28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5ABF7-6319-41F8-8C06-FC7E49F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628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6F34F-6704-40F4-901B-920D927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6BEAE-47E9-423D-822B-E60813E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8FCD0-2292-4E58-B14B-37B774BD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0E4DB-B394-40DD-AA07-AA38427B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A84B9-FCAB-4AFD-A818-7C6F48BE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C773B-B19B-490C-A5D6-3A5CA7C5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87C96-35B5-42BD-A61D-E82E5133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52C2E-DB56-4649-A4D9-475821D4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A1047-9BC5-4792-8968-257350D8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D59F4-E500-463C-915D-DE9EB183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63083-04BF-4F49-ADF9-953D016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C1F8C-D301-4293-900E-A743D31D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560F4-5BB9-4069-B80F-B57618A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D3DDD-7FE7-4537-A0BB-DE7C94F2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A8A96-2238-4835-B81E-4095076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F282F-663D-47FF-AF44-E179323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4C938-88A9-424F-98AC-69FCBD81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32385-F0CA-4FBC-8841-31A1D033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7E73A-8114-4478-A82C-87BE1869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7AF66-4746-4470-BD63-38F36FF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91D43-DA09-4A2E-AFFC-9E014EA1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C2A0D-3D94-4F0C-9EB6-2B678B2F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4CAF66-AC3F-471D-8B31-C3F0B051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DA0850-313A-401B-96EC-B131F933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C63C1-A04B-4F46-9F3D-BC9B3E7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50A41F-419F-4727-89C5-9D705887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1636D3-D2A8-4D9B-8D34-0AD9DF4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237D3-5302-4D31-AB8A-D973FC38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7E561-C57A-45DE-B5C1-9B71A9D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29335B-A52B-4636-B5A9-6C0AB753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305C5A-758D-4F4A-A864-AB36429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95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55E2A9-E89E-41E2-8842-9E492C27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657570-45D3-4571-8E8B-426BFAD9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95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FD47DB-90AB-4A66-AF0D-0B47D8C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95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BE60D5-DDF4-4ACD-8C27-D6E05B2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C48EA7-0DE1-42EA-B6D6-D58FEBF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3C9346-DB4A-48C3-996E-7CF39B81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ED9133-FA25-499C-BAF1-FC8AFA50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9D88A3-32C2-4BFF-9ED2-8792B340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A86B6D-1844-471D-8922-22047D6F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A17D69-6C5F-46E3-9D1F-C046765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52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2F672F-A95F-4A97-94D6-2C385AA9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52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C73DB5-9386-4BA7-83B7-7371554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52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E8F751-0998-48C0-B8D1-4A52207D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52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F79BF4-FB1D-439C-A064-BFD09578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C857"/>
                </a:solidFill>
              </a:defRPr>
            </a:pPr>
            <a:r>
              <a:rPr sz="1050" b="1" i="0">
                <a:solidFill>
                  <a:srgbClr val="FFC857"/>
                </a:solidFill>
              </a:rPr>
              <a:t>REPLACE WITH REPO QR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EA9721-3FA8-4D9C-9486-2773AEA5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8D9FF"/>
                </a:solidFill>
              </a:defRPr>
            </a:pPr>
            <a:r>
              <a:rPr sz="2250" b="1" i="0">
                <a:solidFill>
                  <a:srgbClr val="38D9FF"/>
                </a:solidFill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046DDC-7200-4225-9C3D-86E93A8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Open the workshop repo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22BD67-1C5C-4D8D-B571-6505949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86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8D9FF"/>
                </a:solidFill>
              </a:defRPr>
            </a:pPr>
            <a:r>
              <a:rPr sz="2250" b="1" i="0">
                <a:solidFill>
                  <a:srgbClr val="38D9FF"/>
                </a:solidFill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E778F8-0220-4FEE-840C-D3ECB24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24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Use the prepared environment + API key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2F5078-00D7-4B3E-90C7-6C346020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05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8D9FF"/>
                </a:solidFill>
              </a:defRPr>
            </a:pPr>
            <a:r>
              <a:rPr sz="2250" b="1" i="0">
                <a:solidFill>
                  <a:srgbClr val="38D9FF"/>
                </a:solidFill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E5C7AA-EF73-4108-B8E4-23D9E40B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Run the preflight → see ✓ READY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5D43E5-8E99-4C41-B1C3-4A06A94B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62500"/>
            <a:ext cx="6629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46D27B-4425-456E-942C-7B2055EB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611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8F0B2"/>
                </a:solidFill>
              </a:defRPr>
            </a:pPr>
            <a:r>
              <a:rPr sz="1500" b="1" i="0">
                <a:solidFill>
                  <a:srgbClr val="78F0B2"/>
                </a:solidFill>
              </a:rPr>
              <a:t>Stuck? Jump to the next checkpoint folder and keep moving.</a:t>
            </a:r>
          </a:p>
        </p:txBody>
      </p:sp>
    </p:spTree>
    <p:extLst>
      <p:ext uri="{BB962C8B-B14F-4D97-AF65-F5344CB8AC3E}">
        <p14:creationId xmlns:p14="http://schemas.microsoft.com/office/powerpoint/2010/main" val="416739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0A5AB-F346-4AF8-988F-1AA473B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2885A-9C81-4F07-AF6B-DAF47441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57"/>
                </a:solidFill>
              </a:defRPr>
            </a:pPr>
            <a:r>
              <a:rPr sz="1125" b="1" i="0">
                <a:solidFill>
                  <a:srgbClr val="FFC857"/>
                </a:solidFill>
              </a:rPr>
              <a:t>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E389E-E153-41B5-AD2C-904ACE5F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Build first. Explain the machinery second.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4BE1B-F018-4FFA-B631-5B141BE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The workshop alternates short demos with immediate practice.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9158C-422F-451B-9CA2-934E4CE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641B2-BD95-4BDB-B86F-F13BA4FD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86F8E-58CF-4017-A936-7B4CF46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CD9EE-28C0-4419-B3B0-9DCEFF93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38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D05A5-B866-4E04-9B84-6F40EA5B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C25A9-99C5-4777-89F8-1B842E83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11D"/>
                </a:solidFill>
              </a:defRPr>
            </a:pPr>
            <a:r>
              <a:rPr sz="1200" b="1" i="0">
                <a:solidFill>
                  <a:srgbClr val="0811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4D198-9D40-4292-AC72-6257F4D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AF2FF"/>
                </a:solidFill>
              </a:defRPr>
            </a:pPr>
            <a:r>
              <a:rPr sz="1275" b="1" i="0">
                <a:solidFill>
                  <a:srgbClr val="EAF2FF"/>
                </a:solidFill>
              </a:rPr>
              <a:t>HOOK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58095-FEAA-4E40-9CFD-C4E975EE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EC4"/>
                </a:solidFill>
              </a:defRPr>
            </a:pPr>
            <a:r>
              <a:rPr sz="1125" b="0" i="0">
                <a:solidFill>
                  <a:srgbClr val="9AAEC4"/>
                </a:solidFill>
              </a:rPr>
              <a:t>0–5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66034-8C53-4139-80B4-927F4CA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B9071-A133-4E7E-800A-3085506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38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11D"/>
                </a:solidFill>
              </a:defRPr>
            </a:pPr>
            <a:r>
              <a:rPr sz="1200" b="1" i="0">
                <a:solidFill>
                  <a:srgbClr val="08111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0F4F2-B899-4164-B96F-963644D5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385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AF2FF"/>
                </a:solidFill>
              </a:defRPr>
            </a:pPr>
            <a:r>
              <a:rPr sz="1275" b="1" i="0">
                <a:solidFill>
                  <a:srgbClr val="EAF2FF"/>
                </a:solidFill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4FBD0-B21B-4C0E-BC1F-F562FCFC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EC4"/>
                </a:solidFill>
              </a:defRPr>
            </a:pPr>
            <a:r>
              <a:rPr sz="1125" b="0" i="0">
                <a:solidFill>
                  <a:srgbClr val="9AAEC4"/>
                </a:solidFill>
              </a:rPr>
              <a:t>5–15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84B40-FCC8-4886-8110-ACDDD7F7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0895C-7EE5-42B4-A403-2233603C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11D"/>
                </a:solidFill>
              </a:defRPr>
            </a:pPr>
            <a:r>
              <a:rPr sz="1200" b="1" i="0">
                <a:solidFill>
                  <a:srgbClr val="08111D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10035-4E28-407C-B051-75908DEA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385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AF2FF"/>
                </a:solidFill>
              </a:defRPr>
            </a:pPr>
            <a:r>
              <a:rPr sz="1275" b="1" i="0">
                <a:solidFill>
                  <a:srgbClr val="EAF2FF"/>
                </a:solidFill>
              </a:rPr>
              <a:t>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26CD1-7090-451F-A7FA-61BC06F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43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EC4"/>
                </a:solidFill>
              </a:defRPr>
            </a:pPr>
            <a:r>
              <a:rPr sz="1125" b="0" i="0">
                <a:solidFill>
                  <a:srgbClr val="9AAEC4"/>
                </a:solidFill>
              </a:rPr>
              <a:t>15–24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FC9BF-2648-4052-8889-8366743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694A3-C42A-45CE-AED1-6578DC1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11D"/>
                </a:solidFill>
              </a:defRPr>
            </a:pPr>
            <a:r>
              <a:rPr sz="1200" b="1" i="0">
                <a:solidFill>
                  <a:srgbClr val="08111D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3F569-203A-40A7-802B-BE194A0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AF2FF"/>
                </a:solidFill>
              </a:defRPr>
            </a:pPr>
            <a:r>
              <a:rPr sz="1275" b="1" i="0">
                <a:solidFill>
                  <a:srgbClr val="EAF2FF"/>
                </a:solidFill>
              </a:rPr>
              <a:t>VOICE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9A0BC-16EE-4AA4-AB0E-43C15CBC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43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EC4"/>
                </a:solidFill>
              </a:defRPr>
            </a:pPr>
            <a:r>
              <a:rPr sz="1125" b="0" i="0">
                <a:solidFill>
                  <a:srgbClr val="9AAEC4"/>
                </a:solidFill>
              </a:rPr>
              <a:t>24–35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74DFF-FF9C-4828-B138-0D49452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DF334-BBB0-48FB-B0D4-D4735323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11D"/>
                </a:solidFill>
              </a:defRPr>
            </a:pPr>
            <a:r>
              <a:rPr sz="1200" b="1" i="0">
                <a:solidFill>
                  <a:srgbClr val="08111D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021AC-7954-491A-A22B-237421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AF2FF"/>
                </a:solidFill>
              </a:defRPr>
            </a:pPr>
            <a:r>
              <a:rPr sz="1275" b="1" i="0">
                <a:solidFill>
                  <a:srgbClr val="EAF2FF"/>
                </a:solidFill>
              </a:rPr>
              <a:t>BREAK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77E7F-8DBA-4DD5-A24C-91E2FDEF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EC4"/>
                </a:solidFill>
              </a:defRPr>
            </a:pPr>
            <a:r>
              <a:rPr sz="1125" b="0" i="0">
                <a:solidFill>
                  <a:srgbClr val="9AAEC4"/>
                </a:solidFill>
              </a:rPr>
              <a:t>35–46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AE189A-82D5-45C4-B4C5-C273EE1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43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4C5BA-B850-4416-8716-4C8CF0CD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3847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111D"/>
                </a:solidFill>
              </a:defRPr>
            </a:pPr>
            <a:r>
              <a:rPr sz="1200" b="1" i="0">
                <a:solidFill>
                  <a:srgbClr val="08111D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8E3E-8D54-44B2-8D90-8FD8488D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AF2FF"/>
                </a:solidFill>
              </a:defRPr>
            </a:pPr>
            <a:r>
              <a:rPr sz="1275" b="1" i="0">
                <a:solidFill>
                  <a:srgbClr val="EAF2FF"/>
                </a:solidFill>
              </a:rPr>
              <a:t>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E21A4-7CE8-4641-BBAA-9B5FE108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433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EC4"/>
                </a:solidFill>
              </a:defRPr>
            </a:pPr>
            <a:r>
              <a:rPr sz="1125" b="0" i="0">
                <a:solidFill>
                  <a:srgbClr val="9AAEC4"/>
                </a:solidFill>
              </a:rPr>
              <a:t>46–58 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CCA4C9-1C2E-4709-BFDD-B253F5AB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956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8F0B2"/>
                </a:solidFill>
              </a:defRPr>
            </a:pPr>
            <a:r>
              <a:rPr sz="1800" b="1" i="0">
                <a:solidFill>
                  <a:srgbClr val="78F0B2"/>
                </a:solidFill>
              </a:rPr>
              <a:t>If time is tight: skip the custom WebSocket code walkthrough, not the hands-on voice test.</a:t>
            </a:r>
          </a:p>
        </p:txBody>
      </p:sp>
    </p:spTree>
    <p:extLst>
      <p:ext uri="{BB962C8B-B14F-4D97-AF65-F5344CB8AC3E}">
        <p14:creationId xmlns:p14="http://schemas.microsoft.com/office/powerpoint/2010/main" val="546225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3DC7C-B054-4B76-A949-BB917E77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DECDC-07C9-4675-9BA5-32C9F4C9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57"/>
                </a:solidFill>
              </a:defRPr>
            </a:pPr>
            <a:r>
              <a:rPr sz="1125" b="1" i="0">
                <a:solidFill>
                  <a:srgbClr val="FFC857"/>
                </a:solidFill>
              </a:rPr>
              <a:t>I SHOW → 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5EB91-F13A-43E3-80B7-11B75A6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An agent is a model with a job and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6280D-4673-4D01-95E6-24A5A443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Start with the smallest thing that can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FE61E-84E3-4F1C-8E0A-F7C139DB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FDB4F-F376-45B3-AF0A-3AC944C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90CB3-493B-4A1E-8DBC-7D9701A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C92AC-C279-4716-A8E5-2423F8A9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5341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68D42-DBDB-4B55-90B1-72476671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6675" cy="3371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20754-FADC-4C15-98A3-D440051B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1CEF7-E842-4DAC-BE86-8AE6F667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3C155-2343-4709-A2C1-3A781FC8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42255-0D9D-4BD5-B963-5FA3B2A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60579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from google.adk.agents import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root_agent = Agent(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name="room_agent",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model=LIVE_MODEL,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instruction="Help people find a room.",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4EF0B-46CE-4F26-A29C-6F7F9E99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8D9FF"/>
                </a:solidFill>
              </a:defRPr>
            </a:pPr>
            <a:r>
              <a:rPr sz="1800" b="1" i="0">
                <a:solidFill>
                  <a:srgbClr val="38D9FF"/>
                </a:solidFill>
              </a:rPr>
              <a:t>Three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D609E-CA4F-445B-ABA0-0430580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D5E47-6113-4B8C-A540-15AAA7C4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identity in the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77859-5AE9-412E-92BE-FA95A8A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98DE8-6864-4A9F-A3D6-1790D1C4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Live API capable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B9E46-4BBD-4583-9868-EC49257A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EC4"/>
                </a:solidFill>
              </a:defRPr>
            </a:pPr>
            <a:r>
              <a:rPr sz="1275" b="0" i="0">
                <a:solidFill>
                  <a:srgbClr val="9AAEC4"/>
                </a:solidFill>
              </a:rPr>
              <a:t>instruction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DD364-491D-4F43-8711-D574C15A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AF2FF"/>
                </a:solidFill>
              </a:defRPr>
            </a:pPr>
            <a:r>
              <a:rPr sz="1425" b="0" i="0">
                <a:solidFill>
                  <a:srgbClr val="EAF2FF"/>
                </a:solidFill>
              </a:rPr>
              <a:t>behavior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79CBE-CAD1-482C-80C7-0AADB329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38ACE-8ECD-41FB-BAAF-C45AD35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F0B2"/>
                </a:solidFill>
              </a:defRPr>
            </a:pPr>
            <a:r>
              <a:rPr sz="1275" b="1" i="0">
                <a:solidFill>
                  <a:srgbClr val="78F0B2"/>
                </a:solidFill>
              </a:rPr>
              <a:t>Run checkpoint 01. Ask one question.</a:t>
            </a:r>
          </a:p>
        </p:txBody>
      </p:sp>
    </p:spTree>
    <p:extLst>
      <p:ext uri="{BB962C8B-B14F-4D97-AF65-F5344CB8AC3E}">
        <p14:creationId xmlns:p14="http://schemas.microsoft.com/office/powerpoint/2010/main" val="364043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32166-36BA-4796-9A36-123C55F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B4D0C-FF44-4117-B592-F1BDFA24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F0B2"/>
                </a:solidFill>
              </a:defRPr>
            </a:pPr>
            <a:r>
              <a:rPr sz="1125" b="1" i="0">
                <a:solidFill>
                  <a:srgbClr val="78F0B2"/>
                </a:solidFill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64247-3811-4BC1-A7E6-108C664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Make the instruction observable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85BD5-9497-461B-A738-AD092A8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Change one behavior, then prove it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0E4F3-0295-4795-A50F-575DC2DC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8E9A6-04AE-4B8F-89A8-A2115AB4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4D674-F500-4C31-8072-340C7FBF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A42B6-863D-4B71-A7DD-9C8FBB38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8F0B2"/>
                </a:solidFill>
              </a:defRPr>
            </a:pPr>
            <a:r>
              <a:rPr sz="1200" b="1" i="0">
                <a:solidFill>
                  <a:srgbClr val="78F0B2"/>
                </a:solidFill>
              </a:rPr>
              <a:t>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D3872-A2E5-4AE2-82B7-0D79657B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AF2FF"/>
                </a:solidFill>
              </a:defRPr>
            </a:pPr>
            <a:r>
              <a:rPr sz="2250" b="1" i="0">
                <a:solidFill>
                  <a:srgbClr val="EAF2FF"/>
                </a:solidFill>
              </a:rPr>
              <a:t>Ask exactly one follow-up before recommending a room.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A14A6-2D6F-4209-BE23-3A7FB1A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8D9FF"/>
                </a:solidFill>
              </a:defRPr>
            </a:pPr>
            <a:r>
              <a:rPr sz="1200" b="1" i="0">
                <a:solidFill>
                  <a:srgbClr val="38D9FF"/>
                </a:solidFill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BE229-BECE-4F1F-B4E4-4CDB959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38D9FF"/>
                </a:solidFill>
              </a:defRPr>
            </a:pPr>
            <a:r>
              <a:rPr sz="2025" b="0" i="1">
                <a:solidFill>
                  <a:srgbClr val="38D9FF"/>
                </a:solidFill>
              </a:rPr>
              <a:t>“Find me a room tomorrow.”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1142D-2858-4B87-AE47-E51A7E00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3147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A6A87-C794-4071-AF81-5F48A600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C857"/>
                </a:solidFill>
              </a:defRPr>
            </a:pPr>
            <a:r>
              <a:rPr sz="1200" b="1" i="0">
                <a:solidFill>
                  <a:srgbClr val="FFC857"/>
                </a:solidFill>
              </a:rPr>
              <a:t>DONE WHEN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F1401-CA82-441C-B582-FD530F48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8F0B2"/>
                </a:solidFill>
              </a:defRPr>
            </a:pPr>
            <a:r>
              <a:rPr sz="2100" b="1" i="0">
                <a:solidFill>
                  <a:srgbClr val="78F0B2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A1520-23C6-42DE-9228-63B6C08F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It asks before acting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4051-5C6E-40AC-81CE-A656BC2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8F0B2"/>
                </a:solidFill>
              </a:defRPr>
            </a:pPr>
            <a:r>
              <a:rPr sz="2100" b="1" i="0">
                <a:solidFill>
                  <a:srgbClr val="78F0B2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2461F-7526-4871-8CF0-7E5BF05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The response stays short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79C77-FDE4-4475-9730-FBF16CD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AEC4"/>
                </a:solidFill>
              </a:defRPr>
            </a:pPr>
            <a:r>
              <a:rPr sz="1500" b="1" i="0">
                <a:solidFill>
                  <a:srgbClr val="9AAEC4"/>
                </a:solidFill>
              </a:rPr>
              <a:t>3 minutes</a:t>
            </a:r>
          </a:p>
        </p:txBody>
      </p:sp>
    </p:spTree>
    <p:extLst>
      <p:ext uri="{BB962C8B-B14F-4D97-AF65-F5344CB8AC3E}">
        <p14:creationId xmlns:p14="http://schemas.microsoft.com/office/powerpoint/2010/main" val="1213311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BA0D3-14CB-40FC-8FBD-C3452E00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BF1ED-DF4A-4F3D-BB88-B1AD0BF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57"/>
                </a:solidFill>
              </a:defRPr>
            </a:pPr>
            <a:r>
              <a:rPr sz="1125" b="1" i="0">
                <a:solidFill>
                  <a:srgbClr val="FFC857"/>
                </a:solidFill>
              </a:rPr>
              <a:t>I SHOW → 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74B75-9CB0-4CB7-A089-DADAD7E9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A clear function becomes an agent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4AAB9-27BC-4044-A887-76C857C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The signature constrains inputs; the docstring teaches intent.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DA408-CE06-4EF5-9625-D318471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E30AF-57E6-41EF-ADD6-3D242406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8AB7C-BAC7-4CCF-B8DC-8BE686FB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498F5-BC62-402F-A503-645F72D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1056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6A7D1-986B-431B-8375-64874DC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" cy="3524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3F62E-13C0-482E-94DE-0B3B148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CCE43-5B6E-43A1-A243-9542900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382BD-25B6-407E-990A-E0019F6F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FD397-F709-47BC-A8A1-A332B2B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66294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def find_rooms(after_hour: int) -&gt; list[str]: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"""Return rooms free after the given hour."""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return ["Orchid · 3:30", "Atlas · 4:00"]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root_agent = Agent(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...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tools=[find_rooms],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A8037-5B79-450C-90B1-7E21AD0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8F0B2"/>
                </a:solidFill>
              </a:defRPr>
            </a:pPr>
            <a:r>
              <a:rPr sz="1800" b="1" i="0">
                <a:solidFill>
                  <a:srgbClr val="78F0B2"/>
                </a:solidFill>
              </a:rPr>
              <a:t>Watch the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BBC9C-8389-4A15-8387-254CA10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EC4"/>
                </a:solidFill>
              </a:defRPr>
            </a:pPr>
            <a:r>
              <a:rPr sz="1425" b="0" i="0">
                <a:solidFill>
                  <a:srgbClr val="9AAEC4"/>
                </a:solidFill>
              </a:rPr>
              <a:t>user intent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57142-D431-41B8-BA45-0CFF5DC3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8F0B2"/>
                </a:solidFill>
              </a:defRPr>
            </a:pPr>
            <a:r>
              <a:rPr sz="1800" b="0" i="0">
                <a:solidFill>
                  <a:srgbClr val="78F0B2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5F9AF-7244-402B-8551-C8F64BD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AF2FF"/>
                </a:solidFill>
              </a:defRPr>
            </a:pPr>
            <a:r>
              <a:rPr sz="1425" b="1" i="0">
                <a:solidFill>
                  <a:srgbClr val="EAF2FF"/>
                </a:solidFill>
              </a:rPr>
              <a:t>tool arguments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DBD54-51C1-4924-B443-AFA83C24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8F0B2"/>
                </a:solidFill>
              </a:defRPr>
            </a:pPr>
            <a:r>
              <a:rPr sz="1800" b="0" i="0">
                <a:solidFill>
                  <a:srgbClr val="78F0B2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E7FD2-20D3-4D74-90D0-653DE5C7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AF2FF"/>
                </a:solidFill>
              </a:defRPr>
            </a:pPr>
            <a:r>
              <a:rPr sz="1425" b="1" i="0">
                <a:solidFill>
                  <a:srgbClr val="EAF2FF"/>
                </a:solidFill>
              </a:rPr>
              <a:t>tool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321EF-8A48-463E-8357-161389BA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78F0B2"/>
                </a:solidFill>
              </a:defRPr>
            </a:pPr>
            <a:r>
              <a:rPr sz="1800" b="0" i="0">
                <a:solidFill>
                  <a:srgbClr val="78F0B2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41723-51BD-44F6-B51F-2BA721D0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8D9FF"/>
                </a:solidFill>
              </a:defRPr>
            </a:pPr>
            <a:r>
              <a:rPr sz="1425" b="1" i="0">
                <a:solidFill>
                  <a:srgbClr val="38D9FF"/>
                </a:solidFill>
              </a:rPr>
              <a:t>spoken answer</a:t>
            </a:r>
          </a:p>
        </p:txBody>
      </p:sp>
    </p:spTree>
    <p:extLst>
      <p:ext uri="{BB962C8B-B14F-4D97-AF65-F5344CB8AC3E}">
        <p14:creationId xmlns:p14="http://schemas.microsoft.com/office/powerpoint/2010/main" val="507602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37DE8F-700E-4F85-949D-584B7C2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9CA57-4FDA-47CB-9A7A-0AA456E3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F0B2"/>
                </a:solidFill>
              </a:defRPr>
            </a:pPr>
            <a:r>
              <a:rPr sz="1125" b="1" i="0">
                <a:solidFill>
                  <a:srgbClr val="78F0B2"/>
                </a:solidFill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9F965-2D6B-4117-8410-230CF7EC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Voice is a streaming session, not a TTS toggle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EB43D-A8EE-4FC4-8489-E018A1AB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Use the prepared playground first; custom plumbing comes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BA144-244E-41AE-87B0-0E1DCED1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2B45F-F2C5-48A3-9242-5BA2C6FD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FE812-F681-49A2-9CDC-3A9A42BB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CF5EE-5F5B-4971-8AAA-3E4E996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953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C437A-A3C0-4A93-8696-8822D2A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78BFA"/>
                </a:solidFill>
              </a:defRPr>
            </a:pPr>
            <a:r>
              <a:rPr sz="1200" b="1" i="0">
                <a:solidFill>
                  <a:srgbClr val="A78BFA"/>
                </a:solidFill>
              </a:rPr>
              <a:t>CHECKPOINT 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D7233-316F-4B55-9E9A-3A6B9CFA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AF2FF"/>
                </a:solidFill>
              </a:defRPr>
            </a:pPr>
            <a:r>
              <a:rPr sz="1725" b="0" i="0">
                <a:solidFill>
                  <a:srgbClr val="EAF2FF"/>
                </a:solidFill>
              </a:rPr>
              <a:t>1. Start the dev UI</a:t>
            </a:r>
          </a:p>
          <a:p xmlns:a="http://schemas.openxmlformats.org/drawingml/2006/main">
            <a:pPr algn="l">
              <a:defRPr sz="1725" b="0" i="0">
                <a:solidFill>
                  <a:srgbClr val="EAF2FF"/>
                </a:solidFill>
              </a:defRPr>
            </a:pPr>
            <a:r>
              <a:rPr sz="1725" b="0" i="0">
                <a:solidFill>
                  <a:srgbClr val="EAF2FF"/>
                </a:solidFill>
              </a:rPr>
              <a:t>2. Select the agent</a:t>
            </a:r>
          </a:p>
          <a:p xmlns:a="http://schemas.openxmlformats.org/drawingml/2006/main">
            <a:pPr algn="l">
              <a:defRPr sz="1725" b="0" i="0">
                <a:solidFill>
                  <a:srgbClr val="EAF2FF"/>
                </a:solidFill>
              </a:defRPr>
            </a:pPr>
            <a:r>
              <a:rPr sz="1725" b="0" i="0">
                <a:solidFill>
                  <a:srgbClr val="EAF2FF"/>
                </a:solidFill>
              </a:rPr>
              <a:t>3. Allow microphone access</a:t>
            </a:r>
          </a:p>
          <a:p xmlns:a="http://schemas.openxmlformats.org/drawingml/2006/main">
            <a:pPr algn="l">
              <a:defRPr sz="1725" b="0" i="0">
                <a:solidFill>
                  <a:srgbClr val="EAF2FF"/>
                </a:solidFill>
              </a:defRPr>
            </a:pPr>
            <a:r>
              <a:rPr sz="1725" b="0" i="0">
                <a:solidFill>
                  <a:srgbClr val="EAF2FF"/>
                </a:solidFill>
              </a:rPr>
              <a:t>4. Ask for a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9B783-77A1-4F65-B801-94F9464B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1D8D9-3848-43E7-AB14-D11128E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111D"/>
                </a:solidFill>
              </a:defRPr>
            </a:pPr>
            <a:r>
              <a:rPr sz="2250" b="1" i="0">
                <a:solidFill>
                  <a:srgbClr val="08111D"/>
                </a:solidFill>
              </a:rPr>
              <a:t>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69C7F-D62C-4F93-8613-622154EF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06564-2A14-40C9-A04A-2F51CFA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6C3B7-9ADB-47F6-9F0B-4045D53B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2437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45E7-3F14-46C7-810D-8EF14939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381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01487-0538-42FC-AF9A-1B4F2C3E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81525"/>
            <a:ext cx="381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6A376-37D0-427B-899E-74C3C80B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1487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F8B6E-8B7F-4412-893B-22D15A49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381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EEF40-CF9F-4D77-AD1B-36166F9B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381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3AAB5-9FEF-4E8D-A071-01A6E06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7225"/>
            <a:ext cx="381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09C49-4C98-4B49-8188-001EF626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2915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27A6B-805D-4D46-82B5-34B523B0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8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496EE-64AD-4A35-999B-B20450B1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381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235F2-8DE5-4D3D-8097-0BFE559A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81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40E3A-BFF9-4D50-9BF1-F67A1EA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2437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40B0F-B6D9-42A9-AEC4-7BCA4A02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38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41752-175A-4FE7-8FC0-D56AA32C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8155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96FCC-CEBD-4065-B164-AF1E90B7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CA1C7-841B-42AD-B3A9-1AB569F3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48175"/>
            <a:ext cx="381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D97D03-11BD-4C37-BA22-66BB032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57725"/>
            <a:ext cx="38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692D69-13B7-49BC-BC53-9B3EEC04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91075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C4F37-66A8-499A-96BC-35CD67A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721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Say: “Find a room after three.”</a:t>
            </a:r>
          </a:p>
        </p:txBody>
      </p:sp>
    </p:spTree>
    <p:extLst>
      <p:ext uri="{BB962C8B-B14F-4D97-AF65-F5344CB8AC3E}">
        <p14:creationId xmlns:p14="http://schemas.microsoft.com/office/powerpoint/2010/main" val="851368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4C8D9-F39C-4C2A-B1C7-3611FD31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A08F7-99CA-43A5-8345-ABDC087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F0B2"/>
                </a:solidFill>
              </a:defRPr>
            </a:pPr>
            <a:r>
              <a:rPr sz="1125" b="1" i="0">
                <a:solidFill>
                  <a:srgbClr val="78F0B2"/>
                </a:solidFill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1CD10-E93F-4E34-8FD4-266E8770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Test beyond the happy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4EAE3-C306-4B2E-BA1C-1F00952B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Voice quality emerges from timing, turn-taking, and recovery.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59DF3-83F7-41B6-A3B8-28823191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98FAF-ADDC-46AC-BF00-AC722FD2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1480A-39AC-46B2-B1C7-7C15A151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87BE6-131E-4986-B09F-A658F77C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8D9FF"/>
                </a:solidFill>
              </a:defRPr>
            </a:pPr>
            <a:r>
              <a:rPr sz="1350" b="1" i="0">
                <a:solidFill>
                  <a:srgbClr val="38D9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30CE1-2D12-4D1B-BB0E-9D9DD3C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Normal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63180-C1EA-4F5A-B45B-6CE9B49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Ask once; let it finish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EC9F8-24C4-4024-AC2F-836380AA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15144-D0AD-4D3C-BBF4-6D963884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7A"/>
                </a:solidFill>
              </a:defRPr>
            </a:pPr>
            <a:r>
              <a:rPr sz="1350" b="1" i="0">
                <a:solidFill>
                  <a:srgbClr val="FF6B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465FC-F250-4599-9212-7438F6F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Interrupt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8F5E0-E631-4B5E-B5BF-6A2A0786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Speak over the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9553-653F-4963-A8CE-89BBDD58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A2CE9-6756-4537-9119-2156368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C857"/>
                </a:solidFill>
              </a:defRPr>
            </a:pPr>
            <a:r>
              <a:rPr sz="135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14FE5-9D13-4821-B5A1-F64C6F77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Pause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CE235-B47F-4421-BA37-CED8C57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147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Stop mid-sentence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E26CF-3778-406F-A033-D8E32697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DB8E4-FB63-4695-9060-D6BED18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F0B2"/>
                </a:solidFill>
              </a:defRPr>
            </a:pPr>
            <a:r>
              <a:rPr sz="1350" b="1" i="0">
                <a:solidFill>
                  <a:srgbClr val="78F0B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1C24A-2D3A-4BB2-BB85-BC96ECA2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AF2FF"/>
                </a:solidFill>
              </a:defRPr>
            </a:pPr>
            <a:r>
              <a:rPr sz="1800" b="1" i="0">
                <a:solidFill>
                  <a:srgbClr val="EAF2FF"/>
                </a:solidFill>
              </a:rPr>
              <a:t>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05D7D-C387-4C30-8A2B-97B18CE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Change ‘two’ to ‘three’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B8823-6589-4E07-9C1B-DC2DA905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B3B8F-9D34-45EB-AF3D-AF08C2E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76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8F0B2"/>
                </a:solidFill>
              </a:defRPr>
            </a:pPr>
            <a:r>
              <a:rPr sz="1875" b="1" i="0">
                <a:solidFill>
                  <a:srgbClr val="78F0B2"/>
                </a:solidFill>
              </a:rPr>
              <a:t>Write down the first moment that feels awkward.</a:t>
            </a:r>
          </a:p>
        </p:txBody>
      </p:sp>
    </p:spTree>
    <p:extLst>
      <p:ext uri="{BB962C8B-B14F-4D97-AF65-F5344CB8AC3E}">
        <p14:creationId xmlns:p14="http://schemas.microsoft.com/office/powerpoint/2010/main" val="234330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1D5F2B-2429-4EE0-BE96-1710DCF0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88532-00D6-4EE1-B492-7870B72A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I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A02A7-C11A-44AF-92C7-9622034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Barge-in is a race between two audio streams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02A6C-A159-40CE-B68D-06D73BB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VAD decides activity; cancellation decides whether the agent yields.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3CD40-E601-4836-897A-999902B9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3FC11-6811-4034-806E-7D437CCB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0F6EA-B479-4EE9-95C1-93BCB69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D188D-F9D3-4A68-8EAC-BF6C9BFE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F0B2"/>
                </a:solidFill>
              </a:defRPr>
            </a:pPr>
            <a:r>
              <a:rPr sz="1350" b="1" i="0">
                <a:solidFill>
                  <a:srgbClr val="78F0B2"/>
                </a:solidFill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09954-948B-498C-AD7B-9A3766E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28875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C686B-450E-4645-B305-AD61B1F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5267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779D2-C5E0-4CB4-8242-46C5C716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19325"/>
            <a:ext cx="381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A052F-3B4F-45F4-B031-11BD0EE4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381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46FAF-4F64-4240-9CC4-45E5468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38375"/>
            <a:ext cx="381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7B31D-1B47-42F5-85FE-50BBC5B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03DF6-7EFE-4FCE-AF6F-4A698F1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6217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1AB1F-B46C-4A02-8F8C-137A33D6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381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5CBDF-4693-4B0D-B96D-A4BF764C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38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C5AA4-D58B-4861-AE5B-64342AA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95525"/>
            <a:ext cx="38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8EF1F-137B-41CB-A610-DE59CA0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1935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14550-8588-4C46-AAFD-A135C3C0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14575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42296-DAD0-414D-BD61-6EB81B07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81225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9B15C-C3EA-4364-BBD9-02BEF9B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8D9FF"/>
                </a:solidFill>
              </a:defRPr>
            </a:pPr>
            <a:r>
              <a:rPr sz="1350" b="1" i="0">
                <a:solidFill>
                  <a:srgbClr val="38D9FF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638C6-A843-4299-8B49-03A4F0B8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671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23569-ED71-4528-9CBF-50026324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644EB-ED07-4F3E-BE42-BBA7393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381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5FED2-8D2F-4430-A97C-86F4040E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09925"/>
            <a:ext cx="381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2E1FC-B52C-4C04-8444-B8F6AD48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19475"/>
            <a:ext cx="381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D4484-A8C7-433E-8C68-65182ABE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381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81C42E-8094-4D6B-85B0-081DF112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24225"/>
            <a:ext cx="3810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DA638-CD99-4AB0-A549-820752E8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381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5DDAF-2CFF-4CD7-B9AD-7CA65384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0425"/>
            <a:ext cx="381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70D85-AD2E-46A0-8BD7-149F4454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81400"/>
            <a:ext cx="38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C42BDA-7E00-43E8-ADF5-7DC0562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8617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8DFD2-C79D-4984-B582-FCAE469D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33775"/>
            <a:ext cx="381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A9E908-FC25-41D6-9C02-A9487EC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52800"/>
            <a:ext cx="381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E7AB89-34A6-485D-A6AB-A6656975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381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DD0A83-518F-404E-AE54-6260D0C8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671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A711C9-E7B8-4A9F-8A13-79A8F50C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05225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2E551D-C0C9-4881-9BD5-2277C6E5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90925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ED291C-25DA-44E2-B6C5-57B9CB92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5BD4EE-C7E3-48DD-A9F2-872E7FB8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571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FDE8A8-CE7B-479E-B802-740EAC9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43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6B7A"/>
                </a:solidFill>
              </a:defRPr>
            </a:pPr>
            <a:r>
              <a:rPr sz="1275" b="1" i="0">
                <a:solidFill>
                  <a:srgbClr val="FF6B7A"/>
                </a:solidFill>
              </a:rPr>
              <a:t>speech starts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5C0F57-0D02-4EC5-B839-04C0267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47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C857"/>
                </a:solidFill>
              </a:defRPr>
            </a:pPr>
            <a:r>
              <a:rPr sz="1500" b="1" i="0">
                <a:solidFill>
                  <a:srgbClr val="FFC857"/>
                </a:solidFill>
              </a:rPr>
              <a:t>VAD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322C8F-5A92-4A50-9F6F-84A8040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detect activity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ABCFE0-39C1-45FE-86EE-AD78994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6B7A"/>
                </a:solidFill>
              </a:defRPr>
            </a:pPr>
            <a:r>
              <a:rPr sz="1500" b="1" i="0">
                <a:solidFill>
                  <a:srgbClr val="FF6B7A"/>
                </a:solidFill>
              </a:rPr>
              <a:t>CANCEL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D39C50-E04F-44D5-9CFB-ED4BCC0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stop output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8E2EC5-DFEF-4039-998B-1489DCAE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338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8F0B2"/>
                </a:solidFill>
              </a:defRPr>
            </a:pPr>
            <a:r>
              <a:rPr sz="1500" b="1" i="0">
                <a:solidFill>
                  <a:srgbClr val="78F0B2"/>
                </a:solidFill>
              </a:rPr>
              <a:t>RESUME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D7C570-CB20-4441-BA59-A125A5D5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keep context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930FBD-6E68-4E99-8531-0EFB110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8F0B2"/>
                </a:solidFill>
              </a:defRPr>
            </a:pPr>
            <a:r>
              <a:rPr sz="1725" b="1" i="0">
                <a:solidFill>
                  <a:srgbClr val="78F0B2"/>
                </a:solidFill>
              </a:rPr>
              <a:t>Good barge-in: no overlap, no forgotten correction.</a:t>
            </a:r>
          </a:p>
        </p:txBody>
      </p:sp>
    </p:spTree>
    <p:extLst>
      <p:ext uri="{BB962C8B-B14F-4D97-AF65-F5344CB8AC3E}">
        <p14:creationId xmlns:p14="http://schemas.microsoft.com/office/powerpoint/2010/main" val="18257862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3FD1D-DF7D-4A8D-9EED-BF41F414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68E30-D75A-407A-A49C-81DCE3D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I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468C9-4A23-44B1-945F-198F2FA7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Two concurrent loops make the conversation feel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21956-79C0-4394-9067-8A1FF62B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The browser sends chunks while ADK yields events 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DAF68-87D2-4E49-86F3-C5B4387A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CA985-E0CF-49B3-BF17-E8FD219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131E7-305B-42FD-BA75-6868962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EBDAC-A8EF-4CA6-8A63-DB67146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657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BEBC-83E8-480F-B6EF-C0F4D0C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90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8F0B2"/>
                </a:solidFill>
              </a:defRPr>
            </a:pPr>
            <a:r>
              <a:rPr sz="1350" b="1" i="0">
                <a:solidFill>
                  <a:srgbClr val="78F0B2"/>
                </a:solidFill>
              </a:rPr>
              <a:t>audio chunks 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1A4F-0109-4D85-9F11-B9391D26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91000"/>
            <a:ext cx="6572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9134F-1C6C-41B0-9C67-7AE0DBF4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05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8D9FF"/>
                </a:solidFill>
              </a:defRPr>
            </a:pPr>
            <a:r>
              <a:rPr sz="1350" b="1" i="0">
                <a:solidFill>
                  <a:srgbClr val="38D9FF"/>
                </a:solidFill>
              </a:rPr>
              <a:t>←  audio · transcript · tool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373C1-FC66-4339-9EBE-0ADC7892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095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EEE69-C465-47A0-AE84-23BE3355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6ED69-5D6C-47FC-82E0-AB29DB06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mic + playback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53BEF-0313-4AAA-B31D-FBE90160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38450"/>
            <a:ext cx="2400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3C932-6E53-4B06-B416-6CE9375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WEBSOCKET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00D01-6EAD-4955-BC92-39AC62C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session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BFA6D-68F6-41F0-97F4-48F9C343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2400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DFC25-CD5C-4EB7-B9B2-DC1D8580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8F0B2"/>
                </a:solidFill>
              </a:defRPr>
            </a:pPr>
            <a:r>
              <a:rPr sz="1575" b="1" i="0">
                <a:solidFill>
                  <a:srgbClr val="78F0B2"/>
                </a:solidFill>
              </a:rPr>
              <a:t>LIVE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8C529-F1AE-401B-9996-4415597C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ordered inputs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FD638-493B-4AE1-AFA5-0EC6D54A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38450"/>
            <a:ext cx="1962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0DA1F-3DE0-4A17-96C7-778BA4D6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8D9FF"/>
                </a:solidFill>
              </a:defRPr>
            </a:pPr>
            <a:r>
              <a:rPr sz="1575" b="1" i="0">
                <a:solidFill>
                  <a:srgbClr val="38D9FF"/>
                </a:solidFill>
              </a:rPr>
              <a:t>run_live()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9442C-8B18-4111-8330-14982604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Event stream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24938-A552-4AF6-A198-2E7FF25D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6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8F0B2"/>
                </a:solidFill>
              </a:defRPr>
            </a:pPr>
            <a:r>
              <a:rPr sz="1350" b="1" i="0">
                <a:solidFill>
                  <a:srgbClr val="78F0B2"/>
                </a:solidFill>
              </a:rPr>
              <a:t>upstream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B886A-2AAE-4F90-A9C0-B3072B9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9AAEC4"/>
                </a:solidFill>
              </a:defRPr>
            </a:pPr>
            <a:r>
              <a:rPr sz="1650" b="1" i="0">
                <a:solidFill>
                  <a:srgbClr val="9AAEC4"/>
                </a:solidFill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9C5CC-B8B1-4902-B9FC-AE83FA0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8D9FF"/>
                </a:solidFill>
              </a:defRPr>
            </a:pPr>
            <a:r>
              <a:rPr sz="1350" b="1" i="0">
                <a:solidFill>
                  <a:srgbClr val="38D9FF"/>
                </a:solidFill>
              </a:rPr>
              <a:t>downstream task</a:t>
            </a:r>
          </a:p>
        </p:txBody>
      </p:sp>
    </p:spTree>
    <p:extLst>
      <p:ext uri="{BB962C8B-B14F-4D97-AF65-F5344CB8AC3E}">
        <p14:creationId xmlns:p14="http://schemas.microsoft.com/office/powerpoint/2010/main" val="993941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CA02B-4A74-400B-A644-4E075265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D4AA6-A36F-4E02-BB69-1D47962D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I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B69A8-67DC-4375-B4ED-43442C5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Treat every response as an event, not a final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52528-F9F1-43A7-9B74-409FA2B2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Transcription turns an audio experience into something debuggable.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1CDFD-D663-47BE-923C-2C785757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0723E-1539-40CE-914A-D720D7C5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8067F-E32D-474D-BCE3-0DF5EF0C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80CEB-E0ED-4D10-9911-6344550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2674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50A10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102FF-7FF3-4D6F-8A98-E5165F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6675" cy="3371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488E4-93D3-471F-AA42-8B9AC457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518F4-5865-4C92-90E2-DB03D512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38976-0498-4C21-947A-96DDD00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CBABB-D06C-482F-AC71-030B3863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57912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async for event in runner.run_live(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user_id=user_id,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session_id=session_id,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live_request_queue=queue,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run_config=run_config,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):</a:t>
            </a:r>
          </a:p>
          <a:p xmlns:a="http://schemas.openxmlformats.org/drawingml/2006/main">
            <a:pPr algn="l">
              <a:defRPr sz="1200" b="0" i="0">
                <a:solidFill>
                  <a:srgbClr val="EAF2FF"/>
                </a:solidFill>
              </a:defRPr>
            </a:pPr>
            <a:r>
              <a:rPr sz="1200" b="0" i="0">
                <a:solidFill>
                  <a:srgbClr val="EAF2FF"/>
                </a:solidFill>
              </a:rPr>
              <a:t>    await websocket.send_json(to_client(event))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975FA-8749-4678-8080-4CC57E2C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8D9FF"/>
                </a:solidFill>
              </a:defRPr>
            </a:pPr>
            <a:r>
              <a:rPr sz="1275" b="1" i="0">
                <a:solidFill>
                  <a:srgbClr val="38D9FF"/>
                </a:solidFill>
              </a:rPr>
              <a:t>AUDIO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556F0-FF66-48CA-B2E6-3A29E85A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play immediately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A1053-25B9-4B4E-9EC6-BA7474A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48AEC-F046-42C5-B864-B3AC457A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F0B2"/>
                </a:solidFill>
              </a:defRPr>
            </a:pPr>
            <a:r>
              <a:rPr sz="1275" b="1" i="0">
                <a:solidFill>
                  <a:srgbClr val="78F0B2"/>
                </a:solidFill>
              </a:rPr>
              <a:t>TRANSCRIPT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DAD35-9471-4B66-AFC2-E78EC7BA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render +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E8164-91FA-4B06-B3B0-4B3B3074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6710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C1B9C-8BE2-42DA-B666-C299F604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71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857"/>
                </a:solidFill>
              </a:defRPr>
            </a:pPr>
            <a:r>
              <a:rPr sz="1275" b="1" i="0">
                <a:solidFill>
                  <a:srgbClr val="FFC857"/>
                </a:solidFill>
              </a:rPr>
              <a:t>TOOL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FF316-DD4C-4B65-A9D0-1794A54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show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7C31A-A7DB-4DDD-8511-0E14697F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74127-837D-4F04-9B1E-D964C16E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6B7A"/>
                </a:solidFill>
              </a:defRPr>
            </a:pPr>
            <a:r>
              <a:rPr sz="1275" b="1" i="0">
                <a:solidFill>
                  <a:srgbClr val="FF6B7A"/>
                </a:solidFill>
              </a:rPr>
              <a:t>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B4568-DEC5-4ABE-9E98-AF999139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AF2FF"/>
                </a:solidFill>
              </a:defRPr>
            </a:pPr>
            <a:r>
              <a:rPr sz="1500" b="0" i="0">
                <a:solidFill>
                  <a:srgbClr val="EAF2FF"/>
                </a:solidFill>
              </a:rPr>
              <a:t>recover visibly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F2A9D-0ED5-4925-AB41-84AF596F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91100"/>
            <a:ext cx="344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1BD78-81B5-469E-A4C6-BF5F4C79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91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8F0B2"/>
                </a:solidFill>
              </a:defRPr>
            </a:pPr>
            <a:r>
              <a:rPr sz="1575" b="1" i="0">
                <a:solidFill>
                  <a:srgbClr val="78F0B2"/>
                </a:solidFill>
              </a:rPr>
              <a:t>Partial ≠ final</a:t>
            </a:r>
          </a:p>
        </p:txBody>
      </p:sp>
    </p:spTree>
    <p:extLst>
      <p:ext uri="{BB962C8B-B14F-4D97-AF65-F5344CB8AC3E}">
        <p14:creationId xmlns:p14="http://schemas.microsoft.com/office/powerpoint/2010/main" val="444589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182E3-5617-42D3-84DD-86E2E940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ACD02-0343-4A7F-96F4-EFADF9F2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I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092BD-2111-4C8A-8804-FA70096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A slow tool makes voice feel broken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98BFA-CF6F-41BD-B018-3E04D0C4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Silence is ambiguous: thinking, frozen, or failed?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7144A-76FD-4BEB-975C-AF2AF5B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33FBD-452D-473B-9D3F-AA669EC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14F45-84B5-46E3-AB97-705949E2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5E7F1-0F80-43AB-A71A-BE38A39C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929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E9440-15EB-4124-B3B0-D6ECFDA7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6848-08BE-4702-A6E9-C4EBC66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8F0B2"/>
                </a:solidFill>
              </a:defRPr>
            </a:pPr>
            <a:r>
              <a:rPr sz="1350" b="1" i="0">
                <a:solidFill>
                  <a:srgbClr val="78F0B2"/>
                </a:solidFill>
              </a:rPr>
              <a:t>0.0s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53B5D-043F-4BA1-9C7C-A2398B4A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AF2FF"/>
                </a:solidFill>
              </a:defRPr>
            </a:pPr>
            <a:r>
              <a:rPr sz="1200" b="1" i="0">
                <a:solidFill>
                  <a:srgbClr val="EAF2FF"/>
                </a:solidFill>
              </a:rPr>
              <a:t>USER ENDS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6211E-5E27-47D5-92E4-11454BBF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637E1-E456-4B93-A6BB-90F82090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C857"/>
                </a:solidFill>
              </a:defRPr>
            </a:pPr>
            <a:r>
              <a:rPr sz="1350" b="1" i="0">
                <a:solidFill>
                  <a:srgbClr val="FFC857"/>
                </a:solidFill>
              </a:rPr>
              <a:t>0.3s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B11BD-EBA0-457F-BF98-4801BBE3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AF2FF"/>
                </a:solidFill>
              </a:defRPr>
            </a:pPr>
            <a:r>
              <a:rPr sz="1200" b="1" i="0">
                <a:solidFill>
                  <a:srgbClr val="EAF2FF"/>
                </a:solidFill>
              </a:rPr>
              <a:t>TOOL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381BD-70FC-4FD6-8A18-51C4CD9A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12CD3-3D1D-4935-A3CD-6D4F5BF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6B7A"/>
                </a:solidFill>
              </a:defRPr>
            </a:pPr>
            <a:r>
              <a:rPr sz="1350" b="1" i="0">
                <a:solidFill>
                  <a:srgbClr val="FF6B7A"/>
                </a:solidFill>
              </a:rPr>
              <a:t>5.3s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D86CB-13F6-4297-A082-F779BC89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AF2FF"/>
                </a:solidFill>
              </a:defRPr>
            </a:pPr>
            <a:r>
              <a:rPr sz="1200" b="1" i="0">
                <a:solidFill>
                  <a:srgbClr val="EAF2FF"/>
                </a:solidFill>
              </a:rPr>
              <a:t>TOOL RETURNS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D8217-3EAE-4290-A93E-D133A66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5DB66-102E-4FFF-8F3D-96CC05DB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8D9FF"/>
                </a:solidFill>
              </a:defRPr>
            </a:pPr>
            <a:r>
              <a:rPr sz="1350" b="1" i="0">
                <a:solidFill>
                  <a:srgbClr val="38D9FF"/>
                </a:solidFill>
              </a:rPr>
              <a:t>5.6s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97E8F-670D-4A92-B97D-DCFC8ADE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AF2FF"/>
                </a:solidFill>
              </a:defRPr>
            </a:pPr>
            <a:r>
              <a:rPr sz="1200" b="1" i="0">
                <a:solidFill>
                  <a:srgbClr val="EAF2FF"/>
                </a:solidFill>
              </a:rPr>
              <a:t>AUDIO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7E501-D690-426F-B1ED-5D5C3F26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3390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BD5D9-E5FB-4AED-87D4-7DEA9C9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765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111D"/>
                </a:solidFill>
              </a:defRPr>
            </a:pPr>
            <a:r>
              <a:rPr sz="1650" b="1" i="0">
                <a:solidFill>
                  <a:srgbClr val="08111D"/>
                </a:solidFill>
              </a:rPr>
              <a:t>5 seconds of silence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481BA-77A9-4371-84DF-259A157C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53000"/>
            <a:ext cx="788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6B7A"/>
                </a:solidFill>
              </a:defRPr>
            </a:pPr>
            <a:r>
              <a:rPr sz="1950" b="1" i="0">
                <a:solidFill>
                  <a:srgbClr val="FF6B7A"/>
                </a:solidFill>
              </a:rPr>
              <a:t>Then fail it: timeout → raw exception → dead air</a:t>
            </a:r>
          </a:p>
        </p:txBody>
      </p:sp>
    </p:spTree>
    <p:extLst>
      <p:ext uri="{BB962C8B-B14F-4D97-AF65-F5344CB8AC3E}">
        <p14:creationId xmlns:p14="http://schemas.microsoft.com/office/powerpoint/2010/main" val="16714776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3C3BE-2A76-4038-8555-3F21D983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B76CD-82D6-41DE-B85C-330102EC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57"/>
                </a:solidFill>
              </a:defRPr>
            </a:pPr>
            <a:r>
              <a:rPr sz="1125" b="1" i="0">
                <a:solidFill>
                  <a:srgbClr val="FFC857"/>
                </a:solidFill>
              </a:rPr>
              <a:t>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B6B0A-BF3B-4467-9F5D-5EBC863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Design a spoken recovery before adding retries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B0AB2-521C-4D7E-8537-12038514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The user needs acknowledgement, bounded waiting, and a next move.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7736E-58D6-43EE-939A-87A5F37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AC4FE-774F-4EB4-A857-94A7E12D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F5B7D-C720-4E81-877B-B20C7F5D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7D5A4-1459-427F-8CB8-2B07DD2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8D9FF"/>
                </a:solidFill>
              </a:defRPr>
            </a:pPr>
            <a:r>
              <a:rPr sz="1275" b="1" i="0">
                <a:solidFill>
                  <a:srgbClr val="38D9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5A875-DFF6-4860-A8B9-57D1DDB5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AF2FF"/>
                </a:solidFill>
              </a:defRPr>
            </a:pPr>
            <a:r>
              <a:rPr sz="1725" b="1" i="0">
                <a:solidFill>
                  <a:srgbClr val="EAF2FF"/>
                </a:solidFill>
              </a:rPr>
              <a:t>ACKNOWLEDGE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2BE73-C692-4970-BC8C-F1C8A43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065FE-557E-4026-8FB2-E4543386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“I’m checking that now.”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B0004-1E06-47D1-B6EF-349BD41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857"/>
                </a:solidFill>
              </a:defRPr>
            </a:pPr>
            <a:r>
              <a:rPr sz="1275" b="1" i="0">
                <a:solidFill>
                  <a:srgbClr val="FFC857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B73BB-5A9D-47FB-9D96-CCCB5373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AF2FF"/>
                </a:solidFill>
              </a:defRPr>
            </a:pPr>
            <a:r>
              <a:rPr sz="1725" b="1" i="0">
                <a:solidFill>
                  <a:srgbClr val="EAF2FF"/>
                </a:solidFill>
              </a:rPr>
              <a:t>BOUND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732C9-A0CC-4F65-8C80-CE57A132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341F3-1318-4015-829C-D5117B0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433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timeout + one retry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ECDAA-DCC7-427C-8A23-1C6E98B7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F0B2"/>
                </a:solidFill>
              </a:defRPr>
            </a:pPr>
            <a:r>
              <a:rPr sz="1275" b="1" i="0">
                <a:solidFill>
                  <a:srgbClr val="78F0B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9CFC1-3F9C-49C7-A4D5-59B4B071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AF2FF"/>
                </a:solidFill>
              </a:defRPr>
            </a:pPr>
            <a:r>
              <a:rPr sz="1725" b="1" i="0">
                <a:solidFill>
                  <a:srgbClr val="EAF2FF"/>
                </a:solidFill>
              </a:rPr>
              <a:t>RECOVER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4B12D-B45B-4F6A-B666-FD23419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D8F2A-7868-47AC-BAA3-FEC5231B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AAEC4"/>
                </a:solidFill>
              </a:defRPr>
            </a:pPr>
            <a:r>
              <a:rPr sz="1650" b="0" i="0">
                <a:solidFill>
                  <a:srgbClr val="9AAEC4"/>
                </a:solidFill>
              </a:rPr>
              <a:t>offer another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FAA6E-F4A8-4C58-8E8D-CCE46FAE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8724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00C51-7EE0-4BBE-B4FF-DE586DD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673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8F0B2"/>
                </a:solidFill>
              </a:defRPr>
            </a:pPr>
            <a:r>
              <a:rPr sz="1500" b="1" i="0">
                <a:solidFill>
                  <a:srgbClr val="78F0B2"/>
                </a:solidFill>
              </a:rPr>
              <a:t>Instrument: time to first audio • tool latency • cancel success • error outcome</a:t>
            </a:r>
          </a:p>
        </p:txBody>
      </p:sp>
    </p:spTree>
    <p:extLst>
      <p:ext uri="{BB962C8B-B14F-4D97-AF65-F5344CB8AC3E}">
        <p14:creationId xmlns:p14="http://schemas.microsoft.com/office/powerpoint/2010/main" val="4857376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10CC9-63D6-4CD5-95E1-F403F8E5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3937F-BF72-4882-B771-E8E40F0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I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133DC-BBB7-4AE6-A333-35C9F5CE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Production lives around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8B90B-D23C-477A-99C3-22975075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Optimize the whole conversation loop—not one API 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6F5C6-2A79-493E-97A5-FC388E6E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E18D2-BD7B-4A81-9CFD-4ECED4D1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C80DC-A057-4101-8A03-D0F7F2A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9D826-164B-4B1D-911C-910D4C25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8D9FF"/>
                </a:solidFill>
              </a:defRPr>
            </a:pPr>
            <a:r>
              <a:rPr sz="1275" b="1" i="0">
                <a:solidFill>
                  <a:srgbClr val="38D9FF"/>
                </a:solidFill>
              </a:rPr>
              <a:t>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E5446-2FB8-4758-9C90-4D567BA3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1B720-85AB-4878-B6AF-ABA8E28E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AF2FF"/>
                </a:solidFill>
              </a:defRPr>
            </a:pPr>
            <a:r>
              <a:rPr sz="1650" b="0" i="0">
                <a:solidFill>
                  <a:srgbClr val="EAF2FF"/>
                </a:solidFill>
              </a:rPr>
              <a:t>first audio · turn gap · tool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17840-86E2-4489-A24C-3ECD08A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8BFA"/>
                </a:solidFill>
              </a:defRPr>
            </a:pPr>
            <a:r>
              <a:rPr sz="1275" b="1" i="0">
                <a:solidFill>
                  <a:srgbClr val="A78BFA"/>
                </a:solidFill>
              </a:rPr>
              <a:t>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2E0A1-4853-449D-8D00-FBB19EFA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637F8-56A4-4F3C-9A0A-F2ED855C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AF2FF"/>
                </a:solidFill>
              </a:defRPr>
            </a:pPr>
            <a:r>
              <a:rPr sz="1650" b="0" i="0">
                <a:solidFill>
                  <a:srgbClr val="EAF2FF"/>
                </a:solidFill>
              </a:rPr>
              <a:t>one queue/session · durable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D2B07-FB8D-440C-8024-4C69D08F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6B7A"/>
                </a:solidFill>
              </a:defRPr>
            </a:pPr>
            <a:r>
              <a:rPr sz="1275" b="1" i="0">
                <a:solidFill>
                  <a:srgbClr val="FF6B7A"/>
                </a:solidFill>
              </a:rPr>
              <a:t>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32E6A-F8C6-44D8-8B27-6C5AE83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861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2E31D-F772-4ACF-8C55-6842575E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433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AF2FF"/>
                </a:solidFill>
              </a:defRPr>
            </a:pPr>
            <a:r>
              <a:rPr sz="1650" b="0" i="0">
                <a:solidFill>
                  <a:srgbClr val="EAF2FF"/>
                </a:solidFill>
              </a:rPr>
              <a:t>confirm consequential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3AF13-BEF2-4C6D-9060-2305C82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F0B2"/>
                </a:solidFill>
              </a:defRPr>
            </a:pPr>
            <a:r>
              <a:rPr sz="1275" b="1" i="0">
                <a:solidFill>
                  <a:srgbClr val="78F0B2"/>
                </a:solidFill>
              </a:rPr>
              <a:t>MONITORING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CB52A-3117-4EBE-843F-D5EE4C2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5DA44-59D5-4B6C-A273-5FC10DF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481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AF2FF"/>
                </a:solidFill>
              </a:defRPr>
            </a:pPr>
            <a:r>
              <a:rPr sz="1650" b="0" i="0">
                <a:solidFill>
                  <a:srgbClr val="EAF2FF"/>
                </a:solidFill>
              </a:rPr>
              <a:t>events · transcripts · outcomes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77D6D-EC80-4D78-85CF-3064F8B3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C857"/>
                </a:solidFill>
              </a:defRPr>
            </a:pPr>
            <a:r>
              <a:rPr sz="1275" b="1" i="0">
                <a:solidFill>
                  <a:srgbClr val="FFC857"/>
                </a:solidFill>
              </a:rPr>
              <a:t>RESILIENCE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FD1B3-AAE6-40A5-B9AA-C8A4C556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C90AD-4D40-4A00-A6C7-B49870C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53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AF2FF"/>
                </a:solidFill>
              </a:defRPr>
            </a:pPr>
            <a:r>
              <a:rPr sz="1650" b="0" i="0">
                <a:solidFill>
                  <a:srgbClr val="EAF2FF"/>
                </a:solidFill>
              </a:rPr>
              <a:t>timeouts · cancellation · 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3B80D-34CB-4FE3-B435-2B7819C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91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8F0B2"/>
                </a:solidFill>
              </a:defRPr>
            </a:pPr>
            <a:r>
              <a:rPr sz="1875" b="1" i="0">
                <a:solidFill>
                  <a:srgbClr val="78F0B2"/>
                </a:solidFill>
              </a:rPr>
              <a:t>Ship only when you can replay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20995690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271388-B4B6-418E-963A-828A6AA0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63BB0-79CF-495B-8B46-02863464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8F0B2"/>
                </a:solidFill>
              </a:defRPr>
            </a:pPr>
            <a:r>
              <a:rPr sz="1125" b="1" i="0">
                <a:solidFill>
                  <a:srgbClr val="78F0B2"/>
                </a:solidFill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713A4-E970-4556-BF37-C0F1EF89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Mini challenge: make the agent production-friendlier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CC01B-4F03-4C58-AB16-02E840E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Choose one improvement. Prove it with one adversarial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9FA0-D3AA-4DE0-8F88-0A7ACC2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2F428-2139-47B6-A38A-45BD785B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FD95C-91D2-4F64-84AA-CD41B9F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2008F-AFC6-4429-B3C0-EF533468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DAAED-63F6-41D8-A8F9-0DB0E43C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D"/>
                </a:solidFill>
              </a:defRPr>
            </a:pPr>
            <a:r>
              <a:rPr sz="1500" b="1" i="0">
                <a:solidFill>
                  <a:srgbClr val="08111D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41780-7A6B-4399-9709-E05E1C43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CONFIRM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E8DCA-017B-4D5C-84C2-3359B007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EC4"/>
                </a:solidFill>
              </a:defRPr>
            </a:pPr>
            <a:r>
              <a:rPr sz="1425" b="0" i="0">
                <a:solidFill>
                  <a:srgbClr val="9AAEC4"/>
                </a:solidFill>
              </a:rPr>
              <a:t>Ask before booking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82D4E-53DB-4718-A4C7-FAD5E3D8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F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A1693-5A40-4E12-B55E-B29B9512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6BFD8-D814-4C46-8779-CA36E3F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98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D"/>
                </a:solidFill>
              </a:defRPr>
            </a:pPr>
            <a:r>
              <a:rPr sz="1500" b="1" i="0">
                <a:solidFill>
                  <a:srgbClr val="08111D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D1470-D019-4018-A90D-95C1D253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RECOVER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6C58C-AF04-4CB4-81B3-A765D44E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EC4"/>
                </a:solidFill>
              </a:defRPr>
            </a:pPr>
            <a:r>
              <a:rPr sz="1425" b="0" i="0">
                <a:solidFill>
                  <a:srgbClr val="9AAEC4"/>
                </a:solidFill>
              </a:rPr>
              <a:t>Handle tool timeout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76D3E-AA48-4065-A654-7B10F4C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91A7E-D24D-4926-BA8E-1DB4AD0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36295-0AC8-4513-8DA7-7A0B5968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98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D"/>
                </a:solidFill>
              </a:defRPr>
            </a:pPr>
            <a:r>
              <a:rPr sz="1500" b="1" i="0">
                <a:solidFill>
                  <a:srgbClr val="08111D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32D73-52D9-4550-A35E-10A77DA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AF2FF"/>
                </a:solidFill>
              </a:defRPr>
            </a:pPr>
            <a:r>
              <a:rPr sz="1575" b="1" i="0">
                <a:solidFill>
                  <a:srgbClr val="EAF2FF"/>
                </a:solidFill>
              </a:rPr>
              <a:t>OBSERVE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EAC0D-5C22-4E11-AD55-70E64E8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EC4"/>
                </a:solidFill>
              </a:defRPr>
            </a:pPr>
            <a:r>
              <a:rPr sz="1425" b="0" i="0">
                <a:solidFill>
                  <a:srgbClr val="9AAEC4"/>
                </a:solidFill>
              </a:rPr>
              <a:t>Log final transcript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30BFB-AEDF-4169-A33F-21B5F742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2FFE5-E236-4790-9963-24B23C39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6B7A"/>
                </a:solidFill>
              </a:defRPr>
            </a:pPr>
            <a:r>
              <a:rPr sz="1200" b="1" i="0">
                <a:solidFill>
                  <a:srgbClr val="FF6B7A"/>
                </a:solidFill>
              </a:rPr>
              <a:t>TEST 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AF3C8-4EE7-48AF-8A9F-01D7DD7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EAF2FF"/>
                </a:solidFill>
              </a:defRPr>
            </a:pPr>
            <a:r>
              <a:rPr sz="2175" b="1" i="0">
                <a:solidFill>
                  <a:srgbClr val="EAF2FF"/>
                </a:solidFill>
              </a:rPr>
              <a:t>interrupt • change your mind • force a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B759C-5F39-4582-A296-54F8BBA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1C2B"/>
          </a:solidFill>
          <a:ln xmlns:a="http://schemas.openxmlformats.org/drawingml/2006/main" w="9525">
            <a:solidFill>
              <a:srgbClr val="27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A2880-171D-4F5D-81B2-7AF4243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8F0B2"/>
                </a:solidFill>
              </a:defRPr>
            </a:pPr>
            <a:r>
              <a:rPr sz="2100" b="1" i="0">
                <a:solidFill>
                  <a:srgbClr val="78F0B2"/>
                </a:solidFill>
              </a:rPr>
              <a:t>6 minutes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1BDBA-6F70-4E40-9382-FE3A555E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AAEC4"/>
                </a:solidFill>
              </a:defRPr>
            </a:pPr>
            <a:r>
              <a:rPr sz="1350" b="0" i="0">
                <a:solidFill>
                  <a:srgbClr val="9AAEC4"/>
                </a:solidFill>
              </a:rPr>
              <a:t>then 2 demos</a:t>
            </a:r>
          </a:p>
        </p:txBody>
      </p:sp>
    </p:spTree>
    <p:extLst>
      <p:ext uri="{BB962C8B-B14F-4D97-AF65-F5344CB8AC3E}">
        <p14:creationId xmlns:p14="http://schemas.microsoft.com/office/powerpoint/2010/main" val="8592682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30836D-87AB-4BB1-83CD-593219FA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B23F3-FE73-4CEA-AEBC-332553C8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8D9FF"/>
                </a:solidFill>
              </a:defRPr>
            </a:pPr>
            <a:r>
              <a:rPr sz="1125" b="1" i="0">
                <a:solidFill>
                  <a:srgbClr val="38D9FF"/>
                </a:solidFill>
              </a:rPr>
              <a:t>WRAP-UP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40214-6006-490F-B433-D4F12123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AF2FF"/>
                </a:solidFill>
              </a:defRPr>
            </a:pPr>
            <a:r>
              <a:rPr sz="3150" b="1" i="0">
                <a:solidFill>
                  <a:srgbClr val="EAF2FF"/>
                </a:solidFill>
              </a:rPr>
              <a:t>You now have the full conversation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A4496-991F-40C8-A733-4C6F559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EC4"/>
                </a:solidFill>
              </a:defRPr>
            </a:pPr>
            <a:r>
              <a:rPr sz="1500" b="0" i="0">
                <a:solidFill>
                  <a:srgbClr val="9AAEC4"/>
                </a:solidFill>
              </a:rPr>
              <a:t>Agent → tool → live audio → events → production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9F676-002F-4DE4-95F9-970D801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D733-5A08-4112-945B-D817364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VOICE AGENTS × GOOGLE ADK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388D6-1FA0-4268-91F5-3AC6B77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3768B"/>
                </a:solidFill>
              </a:defRPr>
            </a:pPr>
            <a:r>
              <a:rPr sz="900" b="1" i="0">
                <a:solidFill>
                  <a:srgbClr val="63768B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086D4-5C95-42A7-A988-3B5921BE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8D9FF"/>
                </a:solidFill>
              </a:defRPr>
            </a:pPr>
            <a:r>
              <a:rPr sz="1425" b="1" i="0">
                <a:solidFill>
                  <a:srgbClr val="38D9FF"/>
                </a:solidFill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F464A-5D11-4768-B285-1DA8BA4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AF2FF"/>
                </a:solidFill>
              </a:defRPr>
            </a:pPr>
            <a:r>
              <a:rPr sz="1875" b="1" i="0">
                <a:solidFill>
                  <a:srgbClr val="EAF2FF"/>
                </a:solidFill>
              </a:rPr>
              <a:t>small checkpoints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AFE4-7341-42D0-BC23-65D409C3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8F0B2"/>
                </a:solidFill>
              </a:defRPr>
            </a:pPr>
            <a:r>
              <a:rPr sz="1425" b="1" i="0">
                <a:solidFill>
                  <a:srgbClr val="78F0B2"/>
                </a:solidFill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335DD-6B36-4337-8A8A-F2829F9A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AF2FF"/>
                </a:solidFill>
              </a:defRPr>
            </a:pPr>
            <a:r>
              <a:rPr sz="1875" b="1" i="0">
                <a:solidFill>
                  <a:srgbClr val="EAF2FF"/>
                </a:solidFill>
              </a:rPr>
              <a:t>interrupt + fail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9D4A2-3C9C-4603-8403-0A4E39AB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C857"/>
                </a:solidFill>
              </a:defRPr>
            </a:pPr>
            <a:r>
              <a:rPr sz="1425" b="1" i="0">
                <a:solidFill>
                  <a:srgbClr val="FFC857"/>
                </a:solidFill>
              </a:rPr>
              <a:t>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66E3F-E2D1-4554-96D7-F3350D6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AF2FF"/>
                </a:solidFill>
              </a:defRPr>
            </a:pPr>
            <a:r>
              <a:rPr sz="1875" b="1" i="0">
                <a:solidFill>
                  <a:srgbClr val="EAF2FF"/>
                </a:solidFill>
              </a:rPr>
              <a:t>measure the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C3C7A-4C08-46A6-849F-C815000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4A3AE-7066-449B-978D-AD3DB788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4817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A3080-2A6E-46B3-92AF-DC8EF4B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52925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795F5-5345-4E57-A261-BC4D59C7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0052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7EE67-F0B3-4345-A92F-ED5A57E5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381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E039A-F5DF-4A76-A168-36AB0995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381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2D05F-34AB-45BF-A92C-DB6AF23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9102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6E7B5-A72C-4BE7-9A55-11EEC456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381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854A9-B10B-4390-8D82-062EFDEE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81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4C079-078C-4D1D-AAEE-A8A0C358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43375"/>
            <a:ext cx="381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4D137-1153-4B2D-A9A5-6C140B80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0530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77061-6ACF-42AC-B219-F9F0BFDD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38650"/>
            <a:ext cx="38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875A7-6BC2-4A5B-9373-DFFD2932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38625"/>
            <a:ext cx="381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E7924-4112-4574-A6A1-810344B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19550"/>
            <a:ext cx="381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E4DED-6140-4A5F-9292-8D59CA2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00525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23C16-1E5D-46B7-90B3-014F985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81500"/>
            <a:ext cx="38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08156-58EE-4749-B2F4-779889F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FE9A3-A08E-475D-9DD1-61559FC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750F3-33B8-4F51-BCDB-B635B5F7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24325"/>
            <a:ext cx="381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40CD4-87A2-4DCC-8186-ECD6A835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38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E59EC9-68CB-4A52-8AEB-A437B4A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67225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814E6-9FF5-44E8-86B0-D8171E23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9102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AB872-A124-4EB9-8DA9-6D09E5D5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381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503C69-42D1-4EBA-8B95-68F69FAD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05275"/>
            <a:ext cx="3810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50E20B-F6B6-48BA-AD17-37E5509B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38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CEF353-23DD-4271-BA75-BF81473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38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15630-CAD8-4549-B9EF-31A621F1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76750"/>
            <a:ext cx="381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FCD962-1FFE-4813-B299-1244247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33875"/>
            <a:ext cx="38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CBAEC8-5A95-470E-BB9D-47684B60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62425"/>
            <a:ext cx="381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1FBE60-FC75-4033-A482-12773DDD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95775"/>
            <a:ext cx="381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328D8E-2532-4E3F-B37B-3BF863C6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291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68AC21-60FE-4F08-9196-CAC2A91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8F0B2"/>
                </a:solidFill>
              </a:defRPr>
            </a:pPr>
            <a:r>
              <a:rPr sz="2100" b="1" i="0">
                <a:solidFill>
                  <a:srgbClr val="78F0B2"/>
                </a:solidFill>
              </a:rPr>
              <a:t>Next: replace the fake tool with one real workflow.</a:t>
            </a:r>
          </a:p>
        </p:txBody>
      </p:sp>
    </p:spTree>
    <p:extLst>
      <p:ext uri="{BB962C8B-B14F-4D97-AF65-F5344CB8AC3E}">
        <p14:creationId xmlns:p14="http://schemas.microsoft.com/office/powerpoint/2010/main" val="2004731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2026-08-21T09:37:52.9580000Z</dcterms:created>
  <dcterms:modified xsi:type="dcterms:W3CDTF">2026-08-21T09:37:52.9580000Z</dcterms:modified>
</coreProperties>
</file>